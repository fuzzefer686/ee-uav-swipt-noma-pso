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44df0335fb4412" /><Relationship Type="http://schemas.openxmlformats.org/officeDocument/2006/relationships/extended-properties" Target="/docProps/app.xml" Id="R1523d4a38e544ba2" /><Relationship Type="http://schemas.openxmlformats.org/officeDocument/2006/relationships/officeDocument" Target="/ppt/presentation.xml" Id="Rc4bbcdfc9ae34a2b" /></Relationships>
</file>

<file path=ppt/presentation.xml><?xml version="1.0" encoding="utf-8"?>
<p:presentation xmlns:p="http://schemas.openxmlformats.org/presentationml/2006/main">
  <p:sldMasterIdLst>
    <p:sldMasterId xmlns:r="http://schemas.openxmlformats.org/officeDocument/2006/relationships" id="2147483648" r:id="R5d1ffbd6c1af4898"/>
  </p:sldMasterIdLst>
  <p:notesMasterIdLst>
    <p:notesMasterId xmlns:r="http://schemas.openxmlformats.org/officeDocument/2006/relationships" r:id="R8ece4b86b0914121"/>
  </p:notesMasterIdLst>
  <p:sldIdLst>
    <p:sldId xmlns:r="http://schemas.openxmlformats.org/officeDocument/2006/relationships" id="256" r:id="Rd9e262b87ef54be7"/>
    <p:sldId xmlns:r="http://schemas.openxmlformats.org/officeDocument/2006/relationships" id="257" r:id="R45d35af7ac914952"/>
    <p:sldId xmlns:r="http://schemas.openxmlformats.org/officeDocument/2006/relationships" id="258" r:id="Rf8041ff657dd4964"/>
    <p:sldId xmlns:r="http://schemas.openxmlformats.org/officeDocument/2006/relationships" id="259" r:id="Rfd9309cb235e4150"/>
    <p:sldId xmlns:r="http://schemas.openxmlformats.org/officeDocument/2006/relationships" id="260" r:id="R2856f55cb19d488d"/>
    <p:sldId xmlns:r="http://schemas.openxmlformats.org/officeDocument/2006/relationships" id="261" r:id="Rb620c0c3fec848c5"/>
    <p:sldId xmlns:r="http://schemas.openxmlformats.org/officeDocument/2006/relationships" id="262" r:id="R98f5b5c66e084414"/>
    <p:sldId xmlns:r="http://schemas.openxmlformats.org/officeDocument/2006/relationships" id="263" r:id="R83bc88add3a541e7"/>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7abc73ef68c450d" /><Relationship Type="http://schemas.openxmlformats.org/officeDocument/2006/relationships/slideMaster" Target="/ppt/slideMasters/slideMaster1.xml" Id="R5d1ffbd6c1af4898" /><Relationship Type="http://schemas.openxmlformats.org/officeDocument/2006/relationships/notesMaster" Target="/ppt/notesMasters/notesMaster1.xml" Id="R8ece4b86b0914121" /><Relationship Type="http://schemas.openxmlformats.org/officeDocument/2006/relationships/presProps" Target="/ppt/presProps.xml" Id="R157298ad51a247ba" /><Relationship Type="http://schemas.openxmlformats.org/officeDocument/2006/relationships/viewProps" Target="/ppt/viewProps.xml" Id="Rc7554473479547d9" /><Relationship Type="http://schemas.openxmlformats.org/officeDocument/2006/relationships/tableStyles" Target="/ppt/tableStyles.xml" Id="R5b1ffbb87c10403e" /><Relationship Type="http://schemas.openxmlformats.org/officeDocument/2006/relationships/slide" Target="/ppt/slides/slide1.xml" Id="Rd9e262b87ef54be7" /><Relationship Type="http://schemas.openxmlformats.org/officeDocument/2006/relationships/slide" Target="/ppt/slides/slide2.xml" Id="R45d35af7ac914952" /><Relationship Type="http://schemas.openxmlformats.org/officeDocument/2006/relationships/slide" Target="/ppt/slides/slide3.xml" Id="Rf8041ff657dd4964" /><Relationship Type="http://schemas.openxmlformats.org/officeDocument/2006/relationships/slide" Target="/ppt/slides/slide4.xml" Id="Rfd9309cb235e4150" /><Relationship Type="http://schemas.openxmlformats.org/officeDocument/2006/relationships/slide" Target="/ppt/slides/slide5.xml" Id="R2856f55cb19d488d" /><Relationship Type="http://schemas.openxmlformats.org/officeDocument/2006/relationships/slide" Target="/ppt/slides/slide6.xml" Id="Rb620c0c3fec848c5" /><Relationship Type="http://schemas.openxmlformats.org/officeDocument/2006/relationships/slide" Target="/ppt/slides/slide7.xml" Id="R98f5b5c66e084414" /><Relationship Type="http://schemas.openxmlformats.org/officeDocument/2006/relationships/slide" Target="/ppt/slides/slide8.xml" Id="R83bc88add3a5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312cc8d7af4c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8709cdbe6741b3" /><Relationship Type="http://schemas.openxmlformats.org/officeDocument/2006/relationships/notesMaster" Target="/ppt/notesMasters/notesMaster1.xml" Id="Rfd7e973bb95e4e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fced9c72364ef1" /><Relationship Type="http://schemas.openxmlformats.org/officeDocument/2006/relationships/notesMaster" Target="/ppt/notesMasters/notesMaster1.xml" Id="Rbde812d0a8114b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2c19993a234320" /><Relationship Type="http://schemas.openxmlformats.org/officeDocument/2006/relationships/notesMaster" Target="/ppt/notesMasters/notesMaster1.xml" Id="R49f4a724a45543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fbe5c3cb7e4263" /><Relationship Type="http://schemas.openxmlformats.org/officeDocument/2006/relationships/notesMaster" Target="/ppt/notesMasters/notesMaster1.xml" Id="R2e7366937fc140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6a5f1533d84b51" /><Relationship Type="http://schemas.openxmlformats.org/officeDocument/2006/relationships/notesMaster" Target="/ppt/notesMasters/notesMaster1.xml" Id="Ree40f08f1b304c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1157e5d3e94712" /><Relationship Type="http://schemas.openxmlformats.org/officeDocument/2006/relationships/notesMaster" Target="/ppt/notesMasters/notesMaster1.xml" Id="R7b6d25fc0c4740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21eda42baa45e7" /><Relationship Type="http://schemas.openxmlformats.org/officeDocument/2006/relationships/notesMaster" Target="/ppt/notesMasters/notesMaster1.xml" Id="R75abc190593241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50b26622dd4c8e" /><Relationship Type="http://schemas.openxmlformats.org/officeDocument/2006/relationships/notesMaster" Target="/ppt/notesMasters/notesMaster1.xml" Id="Rd5b222b7063c4f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chứng minh: docs/EE_RF_DIAGNOSIS_SEED2026.md mục 2–3, docs/EE_RESEARCH_CONTEXT.md mục 12 và 16. Biểu thức đúng với mọi P&gt;0, noise&gt;0, không dùng xấp xỉ low-SNR. α giảm dần và tổng 1 nên tail S_i không vượt (N-i+1)/N. Chia đều đạt mọi cận của tail đồng thời, vì vậy tối ưu sum-rate ở từng slot và EE của toàn mission khi hình học cố định. Nếu kênh bằng nhau có thể có nhiều nghiệm đồng tối ưu, không khẳng định duy nhất. Đây là hệ quả của mục tiêu sum-rate/EE cùng ordering hiện hành, không phải kết luận cho mọi bài toán NOMA hoặc mục tiêu min-rate V8. Phạm vi slide là L=0. polishAlphaAllSteps_JointBS.m thử equal alpha đầu tiên và chỉ nhận candidate tăng fitness toàn mission. Main chỉ polish Full PSO và Full IPSO, không polish Joint PSO.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f1cb3b10164fe7" /><Relationship Type="http://schemas.openxmlformats.org/officeDocument/2006/relationships/image" Target="/ppt/media/image2.png" Id="R900099f032e144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c438b7f19b4f15" /><Relationship Type="http://schemas.openxmlformats.org/officeDocument/2006/relationships/image" Target="/ppt/media/image3.png" Id="Ra1aed6230d954f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e309390ff04c32" /><Relationship Type="http://schemas.openxmlformats.org/officeDocument/2006/relationships/image" Target="/ppt/media/image4.png" Id="Re87f3ac7051c4d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a7f771819c42a7" /><Relationship Type="http://schemas.openxmlformats.org/officeDocument/2006/relationships/image" Target="/ppt/media/image5.png" Id="R605f9768055246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9afe1db4474e9a" /><Relationship Type="http://schemas.openxmlformats.org/officeDocument/2006/relationships/image" Target="/ppt/media/image6.png" Id="R6b65208cdd8549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4f63b1cea04ca9" /><Relationship Type="http://schemas.openxmlformats.org/officeDocument/2006/relationships/image" Target="/ppt/media/image7.png" Id="Rebfc8a74f86e40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be43e3ca9d54907" /><Relationship Type="http://schemas.openxmlformats.org/officeDocument/2006/relationships/image" Target="/ppt/media/image8.png" Id="R1aacf92ba56c47e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937e5c276a64c59" /><Relationship Type="http://schemas.openxmlformats.org/officeDocument/2006/relationships/image" Target="/ppt/media/image9.png" Id="R4de65b7148b24c1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1f8cc0ab35b4b40" /><Relationship Type="http://schemas.openxmlformats.org/officeDocument/2006/relationships/image" Target="/ppt/media/image10.png" Id="R578dc95625ef4f9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092715bebf14459" /><Relationship Type="http://schemas.openxmlformats.org/officeDocument/2006/relationships/image" Target="/ppt/media/image11.png" Id="R07e8b69ce13c4a8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c54a58e6d9c4c5c" /><Relationship Type="http://schemas.openxmlformats.org/officeDocument/2006/relationships/image" Target="/ppt/media/image12.png" Id="Re79a894ae8104aa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c3e66c299d74c4d" /><Relationship Type="http://schemas.openxmlformats.org/officeDocument/2006/relationships/image" Target="/ppt/media/image11.png" Id="R81cafae358e844d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042e6aa32244658" /><Relationship Type="http://schemas.openxmlformats.org/officeDocument/2006/relationships/image" Target="/ppt/media/image9.png" Id="Rfc72462815564549" /></Relationships>
</file>

<file path=ppt/slideLayouts/slideLayout1.xml><?xml version="1.0" encoding="utf-8"?>
<p:sldLayout xmlns:p="http://schemas.openxmlformats.org/presentationml/2006/main" userDrawn="1">
  <p:cSld name="Custom Layout">
    <p:bg>
      <p:bgPr>
        <a:blipFill xmlns:a="http://schemas.openxmlformats.org/drawingml/2006/main" rotWithShape="1">
          <a:blip xmlns:r="http://schemas.openxmlformats.org/officeDocument/2006/relationships" r:embed="R900099f032e14439">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1_Title Slide">
    <p:bg>
      <p:bgPr>
        <a:blipFill xmlns:a="http://schemas.openxmlformats.org/drawingml/2006/main" rotWithShape="1">
          <a:blip xmlns:r="http://schemas.openxmlformats.org/officeDocument/2006/relationships" r:embed="Ra1aed6230d954f06">
            <a:lum/>
          </a:blip>
          <a:srcRect l="0" t="0" r="0" b="0"/>
          <a:stretch>
            <a:fillRect l="0" t="0" r="0" b="0"/>
          </a:stretch>
        </a:blipFill>
      </p:bgPr>
    </p:bg>
    <p:spTree>
      <p:nvGrpSpPr>
        <p:cNvPr id="1" name=""/>
        <p:cNvGrpSpPr/>
        <p:nvPr/>
      </p:nvGrpSpPr>
      <p:grpSpPr>
        <a:xfrm xmlns:a="http://schemas.openxmlformats.org/drawingml/2006/main"/>
      </p:grpSpPr>
      <p:sp>
        <p:nvSpPr>
          <p:cNvPr id="3" name="Title 6">
            <a:extLst xmlns:a="http://schemas.openxmlformats.org/drawingml/2006/main">
              <a:ext uri="{FF2B5EF4-FFF2-40B4-BE49-F238E27FC236}">
                <a16:creationId xmlns:a16="http://schemas.microsoft.com/office/drawing/2014/main" id="{C5DD3B49-F775-49FC-ACAD-45B074D1C945}"/>
              </a:ext>
            </a:extLst>
          </p:cNvPr>
          <p:cNvSpPr>
            <a:spLocks xmlns:a="http://schemas.openxmlformats.org/drawingml/2006/main" noGrp="1"/>
          </p:cNvSpPr>
          <p:nvPr>
            <p:ph type="title" idx="0" hasCustomPrompt="1"/>
          </p:nvPr>
        </p:nvSpPr>
        <p:spPr>
          <a:xfrm xmlns:a="http://schemas.openxmlformats.org/drawingml/2006/main">
            <a:off x="2380488" y="2365248"/>
            <a:ext cx="4383024" cy="2127504"/>
          </a:xfrm>
          <a:prstGeom xmlns:a="http://schemas.openxmlformats.org/drawingml/2006/main" prst="rect">
            <a:avLst/>
          </a:prstGeom>
        </p:spPr>
        <p:txBody>
          <a:bodyPr xmlns:a="http://schemas.openxmlformats.org/drawingml/2006/main"/>
          <a:lstStyle xmlns:a="http://schemas.openxmlformats.org/drawingml/2006/main">
            <a:lvl1pPr algn="ctr">
              <a:buNone/>
              <a:defRPr sz="4800" b="1">
                <a:solidFill>
                  <a:schemeClr val="bg1"/>
                </a:solidFill>
                <a:latin typeface="Lato"/>
                <a:ea typeface="Lato"/>
                <a:cs typeface="Lato"/>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userDrawn="1">
  <p:cSld name="1_Title and Content">
    <p:bg>
      <p:bgPr>
        <a:blipFill xmlns:a="http://schemas.openxmlformats.org/drawingml/2006/main" rotWithShape="1">
          <a:blip xmlns:r="http://schemas.openxmlformats.org/officeDocument/2006/relationships" r:embed="Re87f3ac7051c4dbf">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userDrawn="1">
  <p:cSld name="1_Section Header">
    <p:bg>
      <p:bgPr>
        <a:blipFill xmlns:a="http://schemas.openxmlformats.org/drawingml/2006/main" rotWithShape="1">
          <a:blip xmlns:r="http://schemas.openxmlformats.org/officeDocument/2006/relationships" r:embed="R605f97680552463d">
            <a:lum/>
          </a:blip>
          <a:srcRect l="0" t="0" r="0" b="0"/>
          <a:stretch>
            <a:fillRect l="0" t="0" r="0" b="0"/>
          </a:stretch>
        </a:blipFill>
      </p:bgPr>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B30FC03-A82E-4B34-AE4B-8AC40A0CD5B2}"/>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5" name="Footer Placeholder 4">
            <a:extLst xmlns:a="http://schemas.openxmlformats.org/drawingml/2006/main">
              <a:ext uri="{FF2B5EF4-FFF2-40B4-BE49-F238E27FC236}">
                <a16:creationId xmlns:a16="http://schemas.microsoft.com/office/drawing/2014/main" id="{D149FB7E-C73B-452D-861A-6C73FF59EC9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5733BD-32DD-483E-A597-B70529CBDA53}"/>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0" name="Title 6">
            <a:extLst xmlns:a="http://schemas.openxmlformats.org/drawingml/2006/main">
              <a:ext uri="{FF2B5EF4-FFF2-40B4-BE49-F238E27FC236}">
                <a16:creationId xmlns:a16="http://schemas.microsoft.com/office/drawing/2014/main" id="{44DCE4FD-DEE1-4DE9-A40E-616ACEB2FECC}"/>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1: ………………………………………</a:t>
            </a:r>
          </a:p>
        </p:txBody>
      </p:sp>
      <p:sp>
        <p:nvSpPr>
          <p:cNvPr id="11" name="Content Placeholder 8">
            <a:extLst xmlns:a="http://schemas.openxmlformats.org/drawingml/2006/main">
              <a:ext uri="{FF2B5EF4-FFF2-40B4-BE49-F238E27FC236}">
                <a16:creationId xmlns:a16="http://schemas.microsoft.com/office/drawing/2014/main" id="{90DFCEB3-810D-48E5-B7BA-1A6C924A64A4}"/>
              </a:ext>
            </a:extLst>
          </p:cNvPr>
          <p:cNvSpPr>
            <a:spLocks xmlns:a="http://schemas.openxmlformats.org/drawingml/2006/main" noGrp="1"/>
          </p:cNvSpPr>
          <p:nvPr>
            <p:ph idx="13"/>
          </p:nvPr>
        </p:nvSpPr>
        <p:spPr>
          <a:xfrm xmlns:a="http://schemas.openxmlformats.org/drawingml/2006/main">
            <a:off x="235077" y="841247"/>
            <a:ext cx="8674100" cy="5303393"/>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xml><?xml version="1.0" encoding="utf-8"?>
<p:sldLayout xmlns:p="http://schemas.openxmlformats.org/presentationml/2006/main" userDrawn="1">
  <p:cSld name="1_Two Content">
    <p:bg>
      <p:bgPr>
        <a:blipFill xmlns:a="http://schemas.openxmlformats.org/drawingml/2006/main" rotWithShape="1">
          <a:blip xmlns:r="http://schemas.openxmlformats.org/officeDocument/2006/relationships" r:embed="R6b65208cdd8549d2">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2: ………………………………………</a:t>
            </a:r>
          </a:p>
        </p:txBody>
      </p:sp>
    </p:spTree>
  </p:cSld>
</p:sldLayout>
</file>

<file path=ppt/slideLayouts/slideLayout6.xml><?xml version="1.0" encoding="utf-8"?>
<p:sldLayout xmlns:p="http://schemas.openxmlformats.org/presentationml/2006/main" userDrawn="1">
  <p:cSld name="1_Comparison">
    <p:bg>
      <p:bgPr>
        <a:blipFill xmlns:a="http://schemas.openxmlformats.org/drawingml/2006/main" rotWithShape="1">
          <a:blip xmlns:r="http://schemas.openxmlformats.org/officeDocument/2006/relationships" r:embed="Rebfc8a74f86e407c">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3: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963168"/>
            <a:ext cx="8674100" cy="513283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xml><?xml version="1.0" encoding="utf-8"?>
<p:sldLayout xmlns:p="http://schemas.openxmlformats.org/presentationml/2006/main" preserve="1" userDrawn="1">
  <p:cSld name="2_Two Content">
    <p:bg>
      <p:bgPr>
        <a:blipFill xmlns:a="http://schemas.openxmlformats.org/drawingml/2006/main" rotWithShape="1">
          <a:blip xmlns:r="http://schemas.openxmlformats.org/officeDocument/2006/relationships" r:embed="R1aacf92ba56c47e3">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4: ………………………………………</a:t>
            </a:r>
          </a:p>
        </p:txBody>
      </p:sp>
    </p:spTree>
  </p:cSld>
</p:sldLayout>
</file>

<file path=ppt/slideLayouts/slideLayout8.xml><?xml version="1.0" encoding="utf-8"?>
<p:sldLayout xmlns:p="http://schemas.openxmlformats.org/presentationml/2006/main" userDrawn="1">
  <p:cSld name="1_Title Only">
    <p:bg>
      <p:bgPr>
        <a:blipFill xmlns:a="http://schemas.openxmlformats.org/drawingml/2006/main" rotWithShape="1">
          <a:blip xmlns:r="http://schemas.openxmlformats.org/officeDocument/2006/relationships" r:embed="R4de65b7148b24c13">
            <a:lum/>
          </a:blip>
          <a:srcRect l="0" t="0" r="0" b="0"/>
          <a:stretch>
            <a:fillRect l="0" t="0" r="0" b="0"/>
          </a:stretch>
        </a:blipFill>
      </p:bgPr>
    </p:bg>
    <p:spTree>
      <p:nvGrpSpPr>
        <p:cNvPr id="1" name=""/>
        <p:cNvGrpSpPr/>
        <p:nvPr/>
      </p:nvGrpSpPr>
      <p:grpSpPr>
        <a:xfrm xmlns:a="http://schemas.openxmlformats.org/drawingml/2006/main"/>
      </p:grpSpPr>
      <p:sp>
        <p:nvSpPr>
          <p:cNvPr id="11" name="Title 6">
            <a:extLst xmlns:a="http://schemas.openxmlformats.org/drawingml/2006/main">
              <a:ext uri="{FF2B5EF4-FFF2-40B4-BE49-F238E27FC236}">
                <a16:creationId xmlns:a16="http://schemas.microsoft.com/office/drawing/2014/main" id="{689FBFE6-E7AD-40DE-88B8-794C73F956C5}"/>
              </a:ext>
            </a:extLst>
          </p:cNvPr>
          <p:cNvSpPr>
            <a:spLocks xmlns:a="http://schemas.openxmlformats.org/drawingml/2006/main" noGrp="1"/>
          </p:cNvSpPr>
          <p:nvPr>
            <p:ph type="title" idx="0" hasCustomPrompt="1"/>
          </p:nvPr>
        </p:nvSpPr>
        <p:spPr>
          <a:xfrm xmlns:a="http://schemas.openxmlformats.org/drawingml/2006/main">
            <a:off x="3511295" y="224917"/>
            <a:ext cx="5397627"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tx1"/>
                </a:solidFill>
                <a:latin typeface="Lato"/>
                <a:ea typeface="Lato"/>
                <a:cs typeface="Lato"/>
              </a:defRPr>
            </a:lvl1pPr>
          </a:lstStyle>
          <a:p xmlns:a="http://schemas.openxmlformats.org/drawingml/2006/main">
            <a:r>
              <a:t>Title 5: ……………………………………</a:t>
            </a:r>
          </a:p>
        </p:txBody>
      </p:sp>
      <p:sp>
        <p:nvSpPr>
          <p:cNvPr id="12" name="Text Placeholder 7">
            <a:extLst xmlns:a="http://schemas.openxmlformats.org/drawingml/2006/main">
              <a:ext uri="{FF2B5EF4-FFF2-40B4-BE49-F238E27FC236}">
                <a16:creationId xmlns:a16="http://schemas.microsoft.com/office/drawing/2014/main" id="{1C2ED7A5-CBB5-4B5C-BD2A-3596087A71FA}"/>
              </a:ext>
            </a:extLst>
          </p:cNvPr>
          <p:cNvSpPr>
            <a:spLocks xmlns:a="http://schemas.openxmlformats.org/drawingml/2006/main" noGrp="1"/>
          </p:cNvSpPr>
          <p:nvPr>
            <p:ph type="body" idx="13"/>
          </p:nvPr>
        </p:nvSpPr>
        <p:spPr>
          <a:xfrm xmlns:a="http://schemas.openxmlformats.org/drawingml/2006/main">
            <a:off x="3524251" y="1011238"/>
            <a:ext cx="5384672" cy="552926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Date Placeholder 3">
            <a:extLst xmlns:a="http://schemas.openxmlformats.org/drawingml/2006/main">
              <a:ext uri="{FF2B5EF4-FFF2-40B4-BE49-F238E27FC236}">
                <a16:creationId xmlns:a16="http://schemas.microsoft.com/office/drawing/2014/main" id="{E21F2271-B488-4DC9-A50E-592D82F22CE9}"/>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4" name="Footer Placeholder 4">
            <a:extLst xmlns:a="http://schemas.openxmlformats.org/drawingml/2006/main">
              <a:ext uri="{FF2B5EF4-FFF2-40B4-BE49-F238E27FC236}">
                <a16:creationId xmlns:a16="http://schemas.microsoft.com/office/drawing/2014/main" id="{706E966D-F219-41DE-82BF-3F3121B7DCCC}"/>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5" name="Slide Number Placeholder 5">
            <a:extLst xmlns:a="http://schemas.openxmlformats.org/drawingml/2006/main">
              <a:ext uri="{FF2B5EF4-FFF2-40B4-BE49-F238E27FC236}">
                <a16:creationId xmlns:a16="http://schemas.microsoft.com/office/drawing/2014/main" id="{AF61A491-C108-489A-B2EA-9FC27DAD4D2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9.xml><?xml version="1.0" encoding="utf-8"?>
<p:sldLayout xmlns:p="http://schemas.openxmlformats.org/presentationml/2006/main" preserve="1" userDrawn="1">
  <p:cSld name="2_Blank">
    <p:bg>
      <p:bgPr>
        <a:blipFill xmlns:a="http://schemas.openxmlformats.org/drawingml/2006/main" rotWithShape="1">
          <a:blip xmlns:r="http://schemas.openxmlformats.org/officeDocument/2006/relationships" r:embed="R578dc95625ef4f9e">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6: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accent1">
                    <a:lumMod val="50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chemeClr val="accent1">
                    <a:lumMod val="50000"/>
                  </a:schemeClr>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chemeClr val="accent1">
                    <a:lumMod val="50000"/>
                  </a:schemeClr>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0.xml><?xml version="1.0" encoding="utf-8"?>
<p:sldLayout xmlns:p="http://schemas.openxmlformats.org/presentationml/2006/main" preserve="1" userDrawn="1">
  <p:cSld name="2_Comparison">
    <p:bg>
      <p:bgPr>
        <a:blipFill xmlns:a="http://schemas.openxmlformats.org/drawingml/2006/main" rotWithShape="1">
          <a:blip xmlns:r="http://schemas.openxmlformats.org/officeDocument/2006/relationships" r:embed="R07e8b69ce13c4a84">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7: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227550"/>
            <a:ext cx="8674100" cy="486844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1.xml><?xml version="1.0" encoding="utf-8"?>
<p:sldLayout xmlns:p="http://schemas.openxmlformats.org/presentationml/2006/main" preserve="1" userDrawn="1">
  <p:cSld name="3_Blank">
    <p:bg>
      <p:bgPr>
        <a:blipFill xmlns:a="http://schemas.openxmlformats.org/drawingml/2006/main" rotWithShape="1">
          <a:blip xmlns:r="http://schemas.openxmlformats.org/officeDocument/2006/relationships" r:embed="Re79a894ae8104aa4">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8: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2.xml><?xml version="1.0" encoding="utf-8"?>
<p:sldLayout xmlns:p="http://schemas.openxmlformats.org/presentationml/2006/main" preserve="1" userDrawn="1">
  <p:cSld name="3_Comparison">
    <p:bg>
      <p:bgPr>
        <a:blipFill xmlns:a="http://schemas.openxmlformats.org/drawingml/2006/main" rotWithShape="1">
          <a:blip xmlns:r="http://schemas.openxmlformats.org/officeDocument/2006/relationships" r:embed="R81cafae358e844d2">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9: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164920"/>
            <a:ext cx="8674100" cy="493107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3.xml><?xml version="1.0" encoding="utf-8"?>
<p:sldLayout xmlns:p="http://schemas.openxmlformats.org/presentationml/2006/main" userDrawn="1">
  <p:cSld name="1_Content with Caption">
    <p:bg>
      <p:bgPr>
        <a:blipFill xmlns:a="http://schemas.openxmlformats.org/drawingml/2006/main" rotWithShape="1">
          <a:blip xmlns:r="http://schemas.openxmlformats.org/officeDocument/2006/relationships" r:embed="Rfc72462815564549">
            <a:lum/>
          </a:blip>
          <a:srcRect l="0" t="0" r="0" b="0"/>
          <a:stretch>
            <a:fillRect l="0" t="0" r="0" b="0"/>
          </a:stretch>
        </a:blipFill>
      </p:bgPr>
    </p:bg>
    <p:spTree>
      <p:nvGrpSpPr>
        <p:cNvPr id="1" name=""/>
        <p:cNvGrpSpPr/>
        <p:nvPr/>
      </p:nvGrpSpPr>
      <p:grpSpPr>
        <a:xfrm xmlns:a="http://schemas.openxmlformats.org/drawingml/2006/main"/>
      </p:grpSpPr>
      <p:sp>
        <p:nvSpPr>
          <p:cNvPr id="5" name="Date Placeholder 3">
            <a:extLst xmlns:a="http://schemas.openxmlformats.org/drawingml/2006/main">
              <a:ext uri="{FF2B5EF4-FFF2-40B4-BE49-F238E27FC236}">
                <a16:creationId xmlns:a16="http://schemas.microsoft.com/office/drawing/2014/main" id="{76EAE966-F590-4BAF-A55B-75735FCC661F}"/>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6" name="Footer Placeholder 4">
            <a:extLst xmlns:a="http://schemas.openxmlformats.org/drawingml/2006/main">
              <a:ext uri="{FF2B5EF4-FFF2-40B4-BE49-F238E27FC236}">
                <a16:creationId xmlns:a16="http://schemas.microsoft.com/office/drawing/2014/main" id="{C330CA1C-4366-43E8-9DC8-B360FC115AE4}"/>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72DB13F6-9193-4FE2-AE85-5B96248CC0EA}"/>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7536bdb77294c72" /><Relationship Type="http://schemas.openxmlformats.org/officeDocument/2006/relationships/theme" Target="/ppt/slideMasters/theme/theme2.xml" Id="Rb062bd15383d4e92" /><Relationship Type="http://schemas.openxmlformats.org/officeDocument/2006/relationships/slideLayout" Target="/ppt/slideLayouts/slideLayout1.xml" Id="Rb7179e8df49a481e" /><Relationship Type="http://schemas.openxmlformats.org/officeDocument/2006/relationships/slideLayout" Target="/ppt/slideLayouts/slideLayout2.xml" Id="R28e666c7ab444526" /><Relationship Type="http://schemas.openxmlformats.org/officeDocument/2006/relationships/slideLayout" Target="/ppt/slideLayouts/slideLayout3.xml" Id="R2b0bf34c068f4ffa" /><Relationship Type="http://schemas.openxmlformats.org/officeDocument/2006/relationships/slideLayout" Target="/ppt/slideLayouts/slideLayout4.xml" Id="R59d51e336597475b" /><Relationship Type="http://schemas.openxmlformats.org/officeDocument/2006/relationships/slideLayout" Target="/ppt/slideLayouts/slideLayout5.xml" Id="Rba5a49690fae4e70" /><Relationship Type="http://schemas.openxmlformats.org/officeDocument/2006/relationships/slideLayout" Target="/ppt/slideLayouts/slideLayout6.xml" Id="Ree2f3c9f22094a34" /><Relationship Type="http://schemas.openxmlformats.org/officeDocument/2006/relationships/slideLayout" Target="/ppt/slideLayouts/slideLayout7.xml" Id="R8d2567b4a107463f" /><Relationship Type="http://schemas.openxmlformats.org/officeDocument/2006/relationships/slideLayout" Target="/ppt/slideLayouts/slideLayout8.xml" Id="Rb41c052ca1a84eeb" /><Relationship Type="http://schemas.openxmlformats.org/officeDocument/2006/relationships/slideLayout" Target="/ppt/slideLayouts/slideLayout9.xml" Id="Rbb0c9b01ac344da8" /><Relationship Type="http://schemas.openxmlformats.org/officeDocument/2006/relationships/slideLayout" Target="/ppt/slideLayouts/slideLayout10.xml" Id="R148a94c5851a4baa" /><Relationship Type="http://schemas.openxmlformats.org/officeDocument/2006/relationships/slideLayout" Target="/ppt/slideLayouts/slideLayout11.xml" Id="R9c2cddca1e5548dc" /><Relationship Type="http://schemas.openxmlformats.org/officeDocument/2006/relationships/slideLayout" Target="/ppt/slideLayouts/slideLayout12.xml" Id="R5d6d1718082c46e6" /><Relationship Type="http://schemas.openxmlformats.org/officeDocument/2006/relationships/slideLayout" Target="/ppt/slideLayouts/slideLayout13.xml" Id="Rcfe495ab4dd74ece"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47536bdb77294c72">
            <a:lum/>
          </a:blip>
          <a:srcRect l="0" t="0" r="0" b="0"/>
          <a:stretch>
            <a:fillRect l="0" t="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179e8df49a481e"/>
    <p:sldLayoutId xmlns:r="http://schemas.openxmlformats.org/officeDocument/2006/relationships" id="2147483650" r:id="R28e666c7ab444526"/>
    <p:sldLayoutId xmlns:r="http://schemas.openxmlformats.org/officeDocument/2006/relationships" id="2147483651" r:id="R2b0bf34c068f4ffa"/>
    <p:sldLayoutId xmlns:r="http://schemas.openxmlformats.org/officeDocument/2006/relationships" id="2147483652" r:id="R59d51e336597475b"/>
    <p:sldLayoutId xmlns:r="http://schemas.openxmlformats.org/officeDocument/2006/relationships" id="2147483653" r:id="Rba5a49690fae4e70"/>
    <p:sldLayoutId xmlns:r="http://schemas.openxmlformats.org/officeDocument/2006/relationships" id="2147483654" r:id="Ree2f3c9f22094a34"/>
    <p:sldLayoutId xmlns:r="http://schemas.openxmlformats.org/officeDocument/2006/relationships" id="2147483655" r:id="R8d2567b4a107463f"/>
    <p:sldLayoutId xmlns:r="http://schemas.openxmlformats.org/officeDocument/2006/relationships" id="2147483656" r:id="Rb41c052ca1a84eeb"/>
    <p:sldLayoutId xmlns:r="http://schemas.openxmlformats.org/officeDocument/2006/relationships" id="2147483657" r:id="Rbb0c9b01ac344da8"/>
    <p:sldLayoutId xmlns:r="http://schemas.openxmlformats.org/officeDocument/2006/relationships" id="2147483658" r:id="R148a94c5851a4baa"/>
    <p:sldLayoutId xmlns:r="http://schemas.openxmlformats.org/officeDocument/2006/relationships" id="2147483659" r:id="R9c2cddca1e5548dc"/>
    <p:sldLayoutId xmlns:r="http://schemas.openxmlformats.org/officeDocument/2006/relationships" id="2147483660" r:id="R5d6d1718082c46e6"/>
    <p:sldLayoutId xmlns:r="http://schemas.openxmlformats.org/officeDocument/2006/relationships" id="2147483661" r:id="Rcfe495ab4dd74ece"/>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dc0f1defb4e842cb" /><Relationship Type="http://schemas.openxmlformats.org/officeDocument/2006/relationships/image" Target="/ppt/media/image13.png" Id="R4d791aaccc1b46ea" /><Relationship Type="http://schemas.openxmlformats.org/officeDocument/2006/relationships/notesSlide" Target="/ppt/notesSlides/notesSlide1.xml" Id="R8ef791e6cc904d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1e8c22f5940a41db" /><Relationship Type="http://schemas.openxmlformats.org/officeDocument/2006/relationships/image" Target="/ppt/media/image14.png" Id="R4576b093d472434d" /><Relationship Type="http://schemas.openxmlformats.org/officeDocument/2006/relationships/image" Target="/ppt/media/image15.png" Id="Ra7a734f69fbd434c" /><Relationship Type="http://schemas.openxmlformats.org/officeDocument/2006/relationships/notesSlide" Target="/ppt/notesSlides/notesSlide2.xml" Id="R200eef26a9e048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f2f9bef6729542ea" /><Relationship Type="http://schemas.openxmlformats.org/officeDocument/2006/relationships/image" Target="/ppt/media/image16.png" Id="R540637c68b204ccc" /><Relationship Type="http://schemas.openxmlformats.org/officeDocument/2006/relationships/image" Target="/ppt/media/image17.png" Id="R8a879111218e420a" /><Relationship Type="http://schemas.openxmlformats.org/officeDocument/2006/relationships/image" Target="/ppt/media/image18.png" Id="Re64319f9b3554b04" /><Relationship Type="http://schemas.openxmlformats.org/officeDocument/2006/relationships/image" Target="/ppt/media/image19.png" Id="Rb2583471310f491e" /><Relationship Type="http://schemas.openxmlformats.org/officeDocument/2006/relationships/image" Target="/ppt/media/image20.png" Id="R09d0e785811341e6" /><Relationship Type="http://schemas.openxmlformats.org/officeDocument/2006/relationships/notesSlide" Target="/ppt/notesSlides/notesSlide3.xml" Id="Rec2b3d0f3f9b47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139a5618b8744433" /><Relationship Type="http://schemas.openxmlformats.org/officeDocument/2006/relationships/image" Target="/ppt/media/image21.png" Id="R61e1fe8c16bb407a" /><Relationship Type="http://schemas.openxmlformats.org/officeDocument/2006/relationships/image" Target="/ppt/media/image22.png" Id="R2b9fa7f73ff64d2e" /><Relationship Type="http://schemas.openxmlformats.org/officeDocument/2006/relationships/image" Target="/ppt/media/image23.png" Id="Rd4779a39b9e24542" /><Relationship Type="http://schemas.openxmlformats.org/officeDocument/2006/relationships/notesSlide" Target="/ppt/notesSlides/notesSlide4.xml" Id="R8615a59b55f44e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ef4fc06bc4ff40b2" /><Relationship Type="http://schemas.openxmlformats.org/officeDocument/2006/relationships/image" Target="/ppt/media/image24.png" Id="R3030cda030464882" /><Relationship Type="http://schemas.openxmlformats.org/officeDocument/2006/relationships/notesSlide" Target="/ppt/notesSlides/notesSlide5.xml" Id="Rb5ca92ba12eb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5c0682ceb2ca4ec6" /><Relationship Type="http://schemas.openxmlformats.org/officeDocument/2006/relationships/image" Target="/ppt/media/image25.png" Id="R5ca45a8d27a7422d" /><Relationship Type="http://schemas.openxmlformats.org/officeDocument/2006/relationships/image" Target="/ppt/media/image26.png" Id="R9469e748fd034ed4" /><Relationship Type="http://schemas.openxmlformats.org/officeDocument/2006/relationships/notesSlide" Target="/ppt/notesSlides/notesSlide6.xml" Id="Raaad961149804a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cacf62c03eaa4027" /><Relationship Type="http://schemas.openxmlformats.org/officeDocument/2006/relationships/notesSlide" Target="/ppt/notesSlides/notesSlide7.xml" Id="Ra70e3d3ab29547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8a2a037f4b044fd3" /><Relationship Type="http://schemas.openxmlformats.org/officeDocument/2006/relationships/notesSlide" Target="/ppt/notesSlides/notesSlide8.xml" Id="R59b3cd9e503e47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7957608C-2CAC-4706-8971-1C24A9D32C03}"/>
              </a:ext>
            </a:extLst>
          </p:cNvPr>
          <p:cNvPicPr>
            <a:picLocks xmlns:a="http://schemas.openxmlformats.org/drawingml/2006/main" noChangeAspect="1"/>
          </p:cNvPicPr>
          <p:nvPr/>
        </p:nvPicPr>
        <p:blipFill>
          <a:blip xmlns:r="http://schemas.openxmlformats.org/officeDocument/2006/relationships" xmlns:a="http://schemas.openxmlformats.org/drawingml/2006/main" r:embed="R4d791aaccc1b46ea"/>
          <a:srcRect xmlns:a="http://schemas.openxmlformats.org/drawingml/2006/main" l="0" t="0" r="0" b="0"/>
          <a:stretch xmlns:a="http://schemas.openxmlformats.org/drawingml/2006/main"/>
        </p:blipFill>
        <p:spPr>
          <a:xfrm xmlns:a="http://schemas.openxmlformats.org/drawingml/2006/main">
            <a:off x="413012" y="398419"/>
            <a:ext cx="2037225" cy="611594"/>
          </a:xfrm>
          <a:prstGeom xmlns:a="http://schemas.openxmlformats.org/drawingml/2006/main" prst="rect">
            <a:avLst/>
          </a:prstGeom>
        </p:spPr>
      </p:pic>
      <p:sp>
        <p:nvSpPr>
          <p:cNvPr id="11" name="Title 6">
            <a:extLst xmlns:a="http://schemas.openxmlformats.org/drawingml/2006/main">
              <a:ext uri="{FF2B5EF4-FFF2-40B4-BE49-F238E27FC236}">
                <a16:creationId xmlns:a16="http://schemas.microsoft.com/office/drawing/2014/main" id="{FF8BDF70-CFA6-4031-86B7-31F910D8115D}"/>
              </a:ext>
            </a:extLst>
          </p:cNvPr>
          <p:cNvSpPr>
            <a:spLocks xmlns:a="http://schemas.openxmlformats.org/drawingml/2006/main" noGrp="1"/>
          </p:cNvSpPr>
          <p:nvPr/>
        </p:nvSpPr>
        <p:spPr>
          <a:xfrm xmlns:a="http://schemas.openxmlformats.org/drawingml/2006/main">
            <a:off x="409575" y="2400300"/>
            <a:ext cx="7096125" cy="138112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HỆ SỐ α VÀ</a:t>
            </a:r>
          </a:p>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RÀNG BUỘC DỮ LIỆU L</a:t>
            </a:r>
          </a:p>
        </p:txBody>
      </p:sp>
      <p:sp>
        <p:nvSpPr>
          <p:cNvPr id="12" name="Title 6">
            <a:extLst xmlns:a="http://schemas.openxmlformats.org/drawingml/2006/main">
              <a:ext uri="{FF2B5EF4-FFF2-40B4-BE49-F238E27FC236}">
                <a16:creationId xmlns:a16="http://schemas.microsoft.com/office/drawing/2014/main" id="{A4ACF486-B7D8-4A5A-B633-83527A2F99E2}"/>
              </a:ext>
            </a:extLst>
          </p:cNvPr>
          <p:cNvSpPr>
            <a:spLocks xmlns:a="http://schemas.openxmlformats.org/drawingml/2006/main" noGrp="1"/>
          </p:cNvSpPr>
          <p:nvPr/>
        </p:nvSpPr>
        <p:spPr>
          <a:xfrm xmlns:a="http://schemas.openxmlformats.org/drawingml/2006/main">
            <a:off x="409575" y="3924300"/>
            <a:ext cx="6477000" cy="8763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xmlns:a="http://schemas.openxmlformats.org/drawingml/2006/main">
            <a:pPr>
              <a:defRPr sz="2025">
                <a:solidFill>
                  <a:srgbClr val="C00000"/>
                </a:solidFill>
                <a:latin typeface="Lato"/>
                <a:ea typeface="Lato"/>
                <a:cs typeface="Lato"/>
              </a:defRPr>
            </a:pPr>
            <a:r>
              <a:rPr sz="2025" b="0">
                <a:solidFill>
                  <a:srgbClr val="C00000"/>
                </a:solidFill>
                <a:latin typeface="Lato"/>
                <a:ea typeface="Lato"/>
                <a:cs typeface="Lato"/>
              </a:rPr>
              <a:t>Phân tích EE RF trong hệ UAV–SWIPT–NOMA</a:t>
            </a:r>
          </a:p>
        </p:txBody>
      </p:sp>
    </p:spTree>
    <p:extLst>
      <p:ext uri="{BB962C8B-B14F-4D97-AF65-F5344CB8AC3E}">
        <p14:creationId xmlns:p14="http://schemas.microsoft.com/office/powerpoint/2010/main" val="7431729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scenario">
            <a:extLst xmlns:a="http://schemas.openxmlformats.org/drawingml/2006/main">
              <a:ext uri="{FF2B5EF4-FFF2-40B4-BE49-F238E27FC236}">
                <a16:creationId xmlns:a16="http://schemas.microsoft.com/office/drawing/2014/main" id="{78740EE9-A31C-4520-800E-D3787C00B432}"/>
              </a:ext>
            </a:extLst>
          </p:cNvPr>
          <p:cNvSpPr>
            <a:spLocks xmlns:a="http://schemas.openxmlformats.org/drawingml/2006/main" noGrp="1"/>
          </p:cNvSpPr>
          <p:nvPr/>
        </p:nvSpPr>
        <p:spPr>
          <a:xfrm xmlns:a="http://schemas.openxmlformats.org/drawingml/2006/main">
            <a:off x="533400" y="981075"/>
            <a:ext cx="807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2222"/>
                </a:solidFill>
                <a:latin typeface="Lato"/>
                <a:ea typeface="Lato"/>
                <a:cs typeface="Lato"/>
              </a:defRPr>
            </a:defPPr>
            <a:lvl1pPr algn="l">
              <a:defRPr sz="2175" b="1">
                <a:solidFill>
                  <a:srgbClr val="222222"/>
                </a:solidFill>
                <a:latin typeface="Lato"/>
                <a:ea typeface="Lato"/>
                <a:cs typeface="Lato"/>
              </a:defRPr>
            </a:lvl1pPr>
            <a:lvl2pPr algn="l">
              <a:defRPr sz="2175" b="1">
                <a:solidFill>
                  <a:srgbClr val="222222"/>
                </a:solidFill>
                <a:latin typeface="Lato"/>
                <a:ea typeface="Lato"/>
                <a:cs typeface="Lato"/>
              </a:defRPr>
            </a:lvl2pPr>
            <a:lvl3pPr algn="l">
              <a:defRPr sz="2175" b="1">
                <a:solidFill>
                  <a:srgbClr val="222222"/>
                </a:solidFill>
                <a:latin typeface="Lato"/>
                <a:ea typeface="Lato"/>
                <a:cs typeface="Lato"/>
              </a:defRPr>
            </a:lvl3pPr>
            <a:lvl4pPr algn="l">
              <a:defRPr sz="2175" b="1">
                <a:solidFill>
                  <a:srgbClr val="222222"/>
                </a:solidFill>
                <a:latin typeface="Lato"/>
                <a:ea typeface="Lato"/>
                <a:cs typeface="Lato"/>
              </a:defRPr>
            </a:lvl4pPr>
            <a:lvl5pPr algn="l">
              <a:defRPr sz="2175" b="1">
                <a:solidFill>
                  <a:srgbClr val="222222"/>
                </a:solidFill>
                <a:latin typeface="Lato"/>
                <a:ea typeface="Lato"/>
                <a:cs typeface="Lato"/>
              </a:defRPr>
            </a:lvl5pPr>
            <a:lvl6pPr algn="l">
              <a:defRPr sz="2175" b="1">
                <a:solidFill>
                  <a:srgbClr val="222222"/>
                </a:solidFill>
                <a:latin typeface="Lato"/>
                <a:ea typeface="Lato"/>
                <a:cs typeface="Lato"/>
              </a:defRPr>
            </a:lvl6pPr>
            <a:lvl7pPr algn="l">
              <a:defRPr sz="2175" b="1">
                <a:solidFill>
                  <a:srgbClr val="222222"/>
                </a:solidFill>
                <a:latin typeface="Lato"/>
                <a:ea typeface="Lato"/>
                <a:cs typeface="Lato"/>
              </a:defRPr>
            </a:lvl7pPr>
            <a:lvl8pPr algn="l">
              <a:defRPr sz="2175" b="1">
                <a:solidFill>
                  <a:srgbClr val="222222"/>
                </a:solidFill>
                <a:latin typeface="Lato"/>
                <a:ea typeface="Lato"/>
                <a:cs typeface="Lato"/>
              </a:defRPr>
            </a:lvl8pPr>
            <a:lvl9pPr algn="l">
              <a:defRPr sz="2175" b="1">
                <a:solidFill>
                  <a:srgbClr val="222222"/>
                </a:solidFill>
                <a:latin typeface="Lato"/>
                <a:ea typeface="Lato"/>
                <a:cs typeface="Lato"/>
              </a:defRPr>
            </a:lvl9pPr>
          </a:lstStyle>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5 user, 3 BS, 20 slot trong 20 giây</a:t>
            </a:r>
          </a:p>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Mỗi slot gồm 0,5 s UL và 0,5 s DL</a:t>
            </a:r>
          </a:p>
        </p:txBody>
      </p:sp>
      <p:sp>
        <p:nvSpPr>
          <p:cNvPr id="6" name="metric-label">
            <a:extLst xmlns:a="http://schemas.openxmlformats.org/drawingml/2006/main">
              <a:ext uri="{FF2B5EF4-FFF2-40B4-BE49-F238E27FC236}">
                <a16:creationId xmlns:a16="http://schemas.microsoft.com/office/drawing/2014/main" id="{322DAD2B-171F-45CB-9EF6-726D69EEDFBE}"/>
              </a:ext>
            </a:extLst>
          </p:cNvPr>
          <p:cNvSpPr>
            <a:spLocks xmlns:a="http://schemas.openxmlformats.org/drawingml/2006/main" noGrp="1"/>
          </p:cNvSpPr>
          <p:nvPr/>
        </p:nvSpPr>
        <p:spPr>
          <a:xfrm xmlns:a="http://schemas.openxmlformats.org/drawingml/2006/main">
            <a:off x="533400" y="197167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
            <a:extLst xmlns:a="http://schemas.openxmlformats.org/drawingml/2006/main">
              <a:ext uri="{FF2B5EF4-FFF2-40B4-BE49-F238E27FC236}">
                <a16:creationId xmlns:a16="http://schemas.microsoft.com/office/drawing/2014/main" id="{B1E168E5-F6F1-4257-A6BA-234A77848559}"/>
              </a:ext>
            </a:extLst>
          </p:cNvPr>
          <p:cNvPicPr>
            <a:picLocks xmlns:a="http://schemas.openxmlformats.org/drawingml/2006/main" noChangeAspect="1"/>
          </p:cNvPicPr>
          <p:nvPr/>
        </p:nvPicPr>
        <p:blipFill>
          <a:blip xmlns:r="http://schemas.openxmlformats.org/officeDocument/2006/relationships" xmlns:a="http://schemas.openxmlformats.org/drawingml/2006/main" r:embed="R4576b093d472434d"/>
          <a:stretch xmlns:a="http://schemas.openxmlformats.org/drawingml/2006/main"/>
        </p:blipFill>
        <p:spPr>
          <a:xfrm xmlns:a="http://schemas.openxmlformats.org/drawingml/2006/main">
            <a:off x="533400" y="2343150"/>
            <a:ext cx="4979789" cy="666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B490A67-B360-430C-92D6-D6989828FF8C}"/>
              </a:ext>
            </a:extLst>
          </p:cNvPr>
          <p:cNvPicPr>
            <a:picLocks xmlns:a="http://schemas.openxmlformats.org/drawingml/2006/main" noChangeAspect="1"/>
          </p:cNvPicPr>
          <p:nvPr/>
        </p:nvPicPr>
        <p:blipFill>
          <a:blip xmlns:r="http://schemas.openxmlformats.org/officeDocument/2006/relationships" xmlns:a="http://schemas.openxmlformats.org/drawingml/2006/main" r:embed="Ra7a734f69fbd434c"/>
          <a:stretch xmlns:a="http://schemas.openxmlformats.org/drawingml/2006/main"/>
        </p:blipFill>
        <p:spPr>
          <a:xfrm xmlns:a="http://schemas.openxmlformats.org/drawingml/2006/main">
            <a:off x="533400" y="3067050"/>
            <a:ext cx="3814368" cy="1047750"/>
          </a:xfrm>
          <a:prstGeom xmlns:a="http://schemas.openxmlformats.org/drawingml/2006/main" prst="rect">
            <a:avLst/>
          </a:prstGeom>
        </p:spPr>
      </p:pic>
      <p:sp>
        <p:nvSpPr>
          <p:cNvPr id="9" name="algorithms">
            <a:extLst xmlns:a="http://schemas.openxmlformats.org/drawingml/2006/main">
              <a:ext uri="{FF2B5EF4-FFF2-40B4-BE49-F238E27FC236}">
                <a16:creationId xmlns:a16="http://schemas.microsoft.com/office/drawing/2014/main" id="{343CB2D3-7CD7-4C70-B08A-C9A9D6CAB2D4}"/>
              </a:ext>
            </a:extLst>
          </p:cNvPr>
          <p:cNvSpPr>
            <a:spLocks xmlns:a="http://schemas.openxmlformats.org/drawingml/2006/main" noGrp="1"/>
          </p:cNvSpPr>
          <p:nvPr/>
        </p:nvSpPr>
        <p:spPr>
          <a:xfrm xmlns:a="http://schemas.openxmlformats.org/drawingml/2006/main">
            <a:off x="533400" y="4238625"/>
            <a:ext cx="807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Joint PSO: tối ưu quỹ đạo và α, giữ BS cố định</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Full PSO / Full IPSO: tối ưu thêm vị trí BS</a:t>
            </a:r>
          </a:p>
        </p:txBody>
      </p:sp>
      <p:sp>
        <p:nvSpPr>
          <p:cNvPr id="10" name="initial-problem">
            <a:extLst xmlns:a="http://schemas.openxmlformats.org/drawingml/2006/main">
              <a:ext uri="{FF2B5EF4-FFF2-40B4-BE49-F238E27FC236}">
                <a16:creationId xmlns:a16="http://schemas.microsoft.com/office/drawing/2014/main" id="{4E3654AE-0455-4B84-8106-9F3C5B9D2E74}"/>
              </a:ext>
            </a:extLst>
          </p:cNvPr>
          <p:cNvSpPr>
            <a:spLocks xmlns:a="http://schemas.openxmlformats.org/drawingml/2006/main" noGrp="1"/>
          </p:cNvSpPr>
          <p:nvPr/>
        </p:nvSpPr>
        <p:spPr>
          <a:xfrm xmlns:a="http://schemas.openxmlformats.org/drawingml/2006/main">
            <a:off x="533400" y="526732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C00000"/>
                </a:solidFill>
                <a:latin typeface="Lato"/>
                <a:ea typeface="Lato"/>
                <a:cs typeface="Lato"/>
              </a:defRPr>
            </a:defPPr>
            <a:lvl1pPr algn="l">
              <a:defRPr sz="1800">
                <a:solidFill>
                  <a:srgbClr val="C00000"/>
                </a:solidFill>
                <a:latin typeface="Lato"/>
                <a:ea typeface="Lato"/>
                <a:cs typeface="Lato"/>
              </a:defRPr>
            </a:lvl1pPr>
            <a:lvl2pPr algn="l">
              <a:defRPr sz="1800">
                <a:solidFill>
                  <a:srgbClr val="C00000"/>
                </a:solidFill>
                <a:latin typeface="Lato"/>
                <a:ea typeface="Lato"/>
                <a:cs typeface="Lato"/>
              </a:defRPr>
            </a:lvl2pPr>
            <a:lvl3pPr algn="l">
              <a:defRPr sz="1800">
                <a:solidFill>
                  <a:srgbClr val="C00000"/>
                </a:solidFill>
                <a:latin typeface="Lato"/>
                <a:ea typeface="Lato"/>
                <a:cs typeface="Lato"/>
              </a:defRPr>
            </a:lvl3pPr>
            <a:lvl4pPr algn="l">
              <a:defRPr sz="1800">
                <a:solidFill>
                  <a:srgbClr val="C00000"/>
                </a:solidFill>
                <a:latin typeface="Lato"/>
                <a:ea typeface="Lato"/>
                <a:cs typeface="Lato"/>
              </a:defRPr>
            </a:lvl4pPr>
            <a:lvl5pPr algn="l">
              <a:defRPr sz="1800">
                <a:solidFill>
                  <a:srgbClr val="C00000"/>
                </a:solidFill>
                <a:latin typeface="Lato"/>
                <a:ea typeface="Lato"/>
                <a:cs typeface="Lato"/>
              </a:defRPr>
            </a:lvl5pPr>
            <a:lvl6pPr algn="l">
              <a:defRPr sz="1800">
                <a:solidFill>
                  <a:srgbClr val="C00000"/>
                </a:solidFill>
                <a:latin typeface="Lato"/>
                <a:ea typeface="Lato"/>
                <a:cs typeface="Lato"/>
              </a:defRPr>
            </a:lvl6pPr>
            <a:lvl7pPr algn="l">
              <a:defRPr sz="1800">
                <a:solidFill>
                  <a:srgbClr val="C00000"/>
                </a:solidFill>
                <a:latin typeface="Lato"/>
                <a:ea typeface="Lato"/>
                <a:cs typeface="Lato"/>
              </a:defRPr>
            </a:lvl7pPr>
            <a:lvl8pPr algn="l">
              <a:defRPr sz="1800">
                <a:solidFill>
                  <a:srgbClr val="C00000"/>
                </a:solidFill>
                <a:latin typeface="Lato"/>
                <a:ea typeface="Lato"/>
                <a:cs typeface="Lato"/>
              </a:defRPr>
            </a:lvl8pPr>
            <a:lvl9pPr algn="l">
              <a:defRPr sz="1800">
                <a:solidFill>
                  <a:srgbClr val="C00000"/>
                </a:solidFill>
                <a:latin typeface="Lato"/>
                <a:ea typeface="Lato"/>
                <a:cs typeface="Lato"/>
              </a:defRPr>
            </a:lvl9pPr>
          </a:lstStyle>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Khi L = 0, mục tiêu chỉ xét tổng bit trên năng lượng RF.</a:t>
            </a:r>
          </a:p>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Chưa yêu cầu mỗi user phải nhận đủ một lượng dữ liệu.</a:t>
            </a:r>
          </a:p>
        </p:txBody>
      </p:sp>
      <p:sp>
        <p:nvSpPr>
          <p:cNvPr id="11" name="energy-scope">
            <a:extLst xmlns:a="http://schemas.openxmlformats.org/drawingml/2006/main">
              <a:ext uri="{FF2B5EF4-FFF2-40B4-BE49-F238E27FC236}">
                <a16:creationId xmlns:a16="http://schemas.microsoft.com/office/drawing/2014/main" id="{447ADA30-18C4-46BF-B2AD-DBB6185E04B2}"/>
              </a:ext>
            </a:extLst>
          </p:cNvPr>
          <p:cNvSpPr>
            <a:spLocks xmlns:a="http://schemas.openxmlformats.org/drawingml/2006/main" noGrp="1"/>
          </p:cNvSpPr>
          <p:nvPr/>
        </p:nvSpPr>
        <p:spPr>
          <a:xfrm xmlns:a="http://schemas.openxmlformats.org/drawingml/2006/main">
            <a:off x="533400" y="6019800"/>
            <a:ext cx="807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Chỉ tính RF phát xuống của UAV, chưa gồm năng lượng bay và mạch.</a:t>
            </a:r>
          </a:p>
        </p:txBody>
      </p:sp>
    </p:spTree>
    <p:extLst>
      <p:ext uri="{BB962C8B-B14F-4D97-AF65-F5344CB8AC3E}">
        <p14:creationId xmlns:p14="http://schemas.microsoft.com/office/powerpoint/2010/main" val="292364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Công thức SWIPT và NOMA</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h-label">
            <a:extLst xmlns:a="http://schemas.openxmlformats.org/drawingml/2006/main">
              <a:ext uri="{FF2B5EF4-FFF2-40B4-BE49-F238E27FC236}">
                <a16:creationId xmlns:a16="http://schemas.microsoft.com/office/drawing/2014/main" id="{2DD0CDA3-7199-4510-8D79-EEC49ED1E4EF}"/>
              </a:ext>
            </a:extLst>
          </p:cNvPr>
          <p:cNvSpPr>
            <a:spLocks xmlns:a="http://schemas.openxmlformats.org/drawingml/2006/main" noGrp="1"/>
          </p:cNvSpPr>
          <p:nvPr/>
        </p:nvSpPr>
        <p:spPr>
          <a:xfrm xmlns:a="http://schemas.openxmlformats.org/drawingml/2006/main">
            <a:off x="533400" y="9620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CÔNG SUẤT UAV TỪ NĂNG LƯỢNG THU HOẠCH</a:t>
            </a:r>
          </a:p>
        </p:txBody>
      </p:sp>
      <p:pic>
        <p:nvPicPr>
          <p:cNvPr id="6" name="">
            <a:extLst xmlns:a="http://schemas.openxmlformats.org/drawingml/2006/main">
              <a:ext uri="{FF2B5EF4-FFF2-40B4-BE49-F238E27FC236}">
                <a16:creationId xmlns:a16="http://schemas.microsoft.com/office/drawing/2014/main" id="{9472CF24-99F4-4234-AE70-0F2922EC48D7}"/>
              </a:ext>
            </a:extLst>
          </p:cNvPr>
          <p:cNvPicPr>
            <a:picLocks xmlns:a="http://schemas.openxmlformats.org/drawingml/2006/main" noChangeAspect="1"/>
          </p:cNvPicPr>
          <p:nvPr/>
        </p:nvPicPr>
        <p:blipFill>
          <a:blip xmlns:r="http://schemas.openxmlformats.org/officeDocument/2006/relationships" xmlns:a="http://schemas.openxmlformats.org/drawingml/2006/main" r:embed="R540637c68b204ccc"/>
          <a:stretch xmlns:a="http://schemas.openxmlformats.org/drawingml/2006/main"/>
        </p:blipFill>
        <p:spPr>
          <a:xfrm xmlns:a="http://schemas.openxmlformats.org/drawingml/2006/main">
            <a:off x="533400" y="1438275"/>
            <a:ext cx="3468832" cy="476250"/>
          </a:xfrm>
          <a:prstGeom xmlns:a="http://schemas.openxmlformats.org/drawingml/2006/main" prst="rect">
            <a:avLst/>
          </a:prstGeom>
        </p:spPr>
      </p:pic>
      <p:sp>
        <p:nvSpPr>
          <p:cNvPr id="7" name="power-params">
            <a:extLst xmlns:a="http://schemas.openxmlformats.org/drawingml/2006/main">
              <a:ext uri="{FF2B5EF4-FFF2-40B4-BE49-F238E27FC236}">
                <a16:creationId xmlns:a16="http://schemas.microsoft.com/office/drawing/2014/main" id="{C7064FEE-BDB8-4EF2-A063-8E04D556F97E}"/>
              </a:ext>
            </a:extLst>
          </p:cNvPr>
          <p:cNvSpPr>
            <a:spLocks xmlns:a="http://schemas.openxmlformats.org/drawingml/2006/main" noGrp="1"/>
          </p:cNvSpPr>
          <p:nvPr/>
        </p:nvSpPr>
        <p:spPr>
          <a:xfrm xmlns:a="http://schemas.openxmlformats.org/drawingml/2006/main">
            <a:off x="533400" y="2019300"/>
            <a:ext cx="807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Hₙ: tổng độ lợi kênh 3 BS.  φ = η = 0,9.  P_BS = 46 dBm.</a:t>
            </a:r>
          </a:p>
        </p:txBody>
      </p:sp>
      <p:sp>
        <p:nvSpPr>
          <p:cNvPr id="8" name="noma-label">
            <a:extLst xmlns:a="http://schemas.openxmlformats.org/drawingml/2006/main">
              <a:ext uri="{FF2B5EF4-FFF2-40B4-BE49-F238E27FC236}">
                <a16:creationId xmlns:a16="http://schemas.microsoft.com/office/drawing/2014/main" id="{55F43DDD-5F79-4532-8146-1213B92D00B0}"/>
              </a:ext>
            </a:extLst>
          </p:cNvPr>
          <p:cNvSpPr>
            <a:spLocks xmlns:a="http://schemas.openxmlformats.org/drawingml/2006/main" noGrp="1"/>
          </p:cNvSpPr>
          <p:nvPr/>
        </p:nvSpPr>
        <p:spPr>
          <a:xfrm xmlns:a="http://schemas.openxmlformats.org/drawingml/2006/main">
            <a:off x="533400" y="24098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p:pic>
        <p:nvPicPr>
          <p:cNvPr id="9" name="">
            <a:extLst xmlns:a="http://schemas.openxmlformats.org/drawingml/2006/main">
              <a:ext uri="{FF2B5EF4-FFF2-40B4-BE49-F238E27FC236}">
                <a16:creationId xmlns:a16="http://schemas.microsoft.com/office/drawing/2014/main" id="{409E3B90-6A6A-479F-B9C8-841A03CA7B23}"/>
              </a:ext>
            </a:extLst>
          </p:cNvPr>
          <p:cNvPicPr>
            <a:picLocks xmlns:a="http://schemas.openxmlformats.org/drawingml/2006/main" noChangeAspect="1"/>
          </p:cNvPicPr>
          <p:nvPr/>
        </p:nvPicPr>
        <p:blipFill>
          <a:blip xmlns:r="http://schemas.openxmlformats.org/officeDocument/2006/relationships" xmlns:a="http://schemas.openxmlformats.org/drawingml/2006/main" r:embed="R8a879111218e420a"/>
          <a:stretch xmlns:a="http://schemas.openxmlformats.org/drawingml/2006/main"/>
        </p:blipFill>
        <p:spPr>
          <a:xfrm xmlns:a="http://schemas.openxmlformats.org/drawingml/2006/main">
            <a:off x="533400" y="2771775"/>
            <a:ext cx="5946428" cy="5810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0162B13-6283-4332-A605-EC015F7B0D07}"/>
              </a:ext>
            </a:extLst>
          </p:cNvPr>
          <p:cNvPicPr>
            <a:picLocks xmlns:a="http://schemas.openxmlformats.org/drawingml/2006/main" noChangeAspect="1"/>
          </p:cNvPicPr>
          <p:nvPr/>
        </p:nvPicPr>
        <p:blipFill>
          <a:blip xmlns:r="http://schemas.openxmlformats.org/officeDocument/2006/relationships" xmlns:a="http://schemas.openxmlformats.org/drawingml/2006/main" r:embed="Re64319f9b3554b04"/>
          <a:stretch xmlns:a="http://schemas.openxmlformats.org/drawingml/2006/main"/>
        </p:blipFill>
        <p:spPr>
          <a:xfrm xmlns:a="http://schemas.openxmlformats.org/drawingml/2006/main">
            <a:off x="533400" y="3371850"/>
            <a:ext cx="2948702" cy="533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D54459B-3A57-41B3-B78F-79CF2A533D83}"/>
              </a:ext>
            </a:extLst>
          </p:cNvPr>
          <p:cNvPicPr>
            <a:picLocks xmlns:a="http://schemas.openxmlformats.org/drawingml/2006/main" noChangeAspect="1"/>
          </p:cNvPicPr>
          <p:nvPr/>
        </p:nvPicPr>
        <p:blipFill>
          <a:blip xmlns:r="http://schemas.openxmlformats.org/officeDocument/2006/relationships" xmlns:a="http://schemas.openxmlformats.org/drawingml/2006/main" r:embed="Rb2583471310f491e"/>
          <a:stretch xmlns:a="http://schemas.openxmlformats.org/drawingml/2006/main"/>
        </p:blipFill>
        <p:spPr>
          <a:xfrm xmlns:a="http://schemas.openxmlformats.org/drawingml/2006/main">
            <a:off x="533400" y="3905250"/>
            <a:ext cx="2610584" cy="10287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A1D8BA6-332F-410C-9DA8-188B20581651}"/>
              </a:ext>
            </a:extLst>
          </p:cNvPr>
          <p:cNvPicPr>
            <a:picLocks xmlns:a="http://schemas.openxmlformats.org/drawingml/2006/main" noChangeAspect="1"/>
          </p:cNvPicPr>
          <p:nvPr/>
        </p:nvPicPr>
        <p:blipFill>
          <a:blip xmlns:r="http://schemas.openxmlformats.org/officeDocument/2006/relationships" xmlns:a="http://schemas.openxmlformats.org/drawingml/2006/main" r:embed="R09d0e785811341e6"/>
          <a:stretch xmlns:a="http://schemas.openxmlformats.org/drawingml/2006/main"/>
        </p:blipFill>
        <p:spPr>
          <a:xfrm xmlns:a="http://schemas.openxmlformats.org/drawingml/2006/main">
            <a:off x="533400" y="5067300"/>
            <a:ext cx="4357947" cy="428625"/>
          </a:xfrm>
          <a:prstGeom xmlns:a="http://schemas.openxmlformats.org/drawingml/2006/main" prst="rect">
            <a:avLst/>
          </a:prstGeom>
        </p:spPr>
      </p:pic>
      <p:sp>
        <p:nvSpPr>
          <p:cNvPr id="13" name="definitions">
            <a:extLst xmlns:a="http://schemas.openxmlformats.org/drawingml/2006/main">
              <a:ext uri="{FF2B5EF4-FFF2-40B4-BE49-F238E27FC236}">
                <a16:creationId xmlns:a16="http://schemas.microsoft.com/office/drawing/2014/main" id="{01189E1D-825D-44CA-A27E-9CD4CDDC13E8}"/>
              </a:ext>
            </a:extLst>
          </p:cNvPr>
          <p:cNvSpPr>
            <a:spLocks xmlns:a="http://schemas.openxmlformats.org/drawingml/2006/main" noGrp="1"/>
          </p:cNvSpPr>
          <p:nvPr/>
        </p:nvSpPr>
        <p:spPr>
          <a:xfrm xmlns:a="http://schemas.openxmlformats.org/drawingml/2006/main">
            <a:off x="533400" y="5619750"/>
            <a:ext cx="8077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555555"/>
                </a:solidFill>
                <a:latin typeface="Lato"/>
                <a:ea typeface="Lato"/>
                <a:cs typeface="Lato"/>
              </a:defRPr>
            </a:defPPr>
            <a:lvl1pPr algn="l">
              <a:defRPr sz="1725">
                <a:solidFill>
                  <a:srgbClr val="555555"/>
                </a:solidFill>
                <a:latin typeface="Lato"/>
                <a:ea typeface="Lato"/>
                <a:cs typeface="Lato"/>
              </a:defRPr>
            </a:lvl1pPr>
            <a:lvl2pPr algn="l">
              <a:defRPr sz="1725">
                <a:solidFill>
                  <a:srgbClr val="555555"/>
                </a:solidFill>
                <a:latin typeface="Lato"/>
                <a:ea typeface="Lato"/>
                <a:cs typeface="Lato"/>
              </a:defRPr>
            </a:lvl2pPr>
            <a:lvl3pPr algn="l">
              <a:defRPr sz="1725">
                <a:solidFill>
                  <a:srgbClr val="555555"/>
                </a:solidFill>
                <a:latin typeface="Lato"/>
                <a:ea typeface="Lato"/>
                <a:cs typeface="Lato"/>
              </a:defRPr>
            </a:lvl3pPr>
            <a:lvl4pPr algn="l">
              <a:defRPr sz="1725">
                <a:solidFill>
                  <a:srgbClr val="555555"/>
                </a:solidFill>
                <a:latin typeface="Lato"/>
                <a:ea typeface="Lato"/>
                <a:cs typeface="Lato"/>
              </a:defRPr>
            </a:lvl4pPr>
            <a:lvl5pPr algn="l">
              <a:defRPr sz="1725">
                <a:solidFill>
                  <a:srgbClr val="555555"/>
                </a:solidFill>
                <a:latin typeface="Lato"/>
                <a:ea typeface="Lato"/>
                <a:cs typeface="Lato"/>
              </a:defRPr>
            </a:lvl5pPr>
            <a:lvl6pPr algn="l">
              <a:defRPr sz="1725">
                <a:solidFill>
                  <a:srgbClr val="555555"/>
                </a:solidFill>
                <a:latin typeface="Lato"/>
                <a:ea typeface="Lato"/>
                <a:cs typeface="Lato"/>
              </a:defRPr>
            </a:lvl6pPr>
            <a:lvl7pPr algn="l">
              <a:defRPr sz="1725">
                <a:solidFill>
                  <a:srgbClr val="555555"/>
                </a:solidFill>
                <a:latin typeface="Lato"/>
                <a:ea typeface="Lato"/>
                <a:cs typeface="Lato"/>
              </a:defRPr>
            </a:lvl7pPr>
            <a:lvl8pPr algn="l">
              <a:defRPr sz="1725">
                <a:solidFill>
                  <a:srgbClr val="555555"/>
                </a:solidFill>
                <a:latin typeface="Lato"/>
                <a:ea typeface="Lato"/>
                <a:cs typeface="Lato"/>
              </a:defRPr>
            </a:lvl8pPr>
            <a:lvl9pPr algn="l">
              <a:defRPr sz="1725">
                <a:solidFill>
                  <a:srgbClr val="555555"/>
                </a:solidFill>
                <a:latin typeface="Lato"/>
                <a:ea typeface="Lato"/>
                <a:cs typeface="Lato"/>
              </a:defRPr>
            </a:lvl9pPr>
          </a:lstStyle>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gₙᵢ là độ lợi kênh UAV–user. σ² là công suất nhiễu.</a:t>
            </a:r>
          </a:p>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SIC lý tưởng khử các tín hiệu của user yếu hơn.</a:t>
            </a:r>
          </a:p>
        </p:txBody>
      </p:sp>
    </p:spTree>
    <p:extLst>
      <p:ext uri="{BB962C8B-B14F-4D97-AF65-F5344CB8AC3E}">
        <p14:creationId xmlns:p14="http://schemas.microsoft.com/office/powerpoint/2010/main" val="2923640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FD6AB9A-5F9E-5F59-51AB-3C8734130965}" type="slidenum">
              <a:rPr sz="1050">
                <a:solidFill>
                  <a:srgbClr val="C00000"/>
                </a:solidFill>
                <a:latin typeface="Lato"/>
                <a:ea typeface="Lato"/>
                <a:cs typeface="Lato"/>
              </a:rPr>
              <a:t>4</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Vì sao α tối ưu bằng 0,2 khi L = 0?</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fixed-geometry">
            <a:extLst xmlns:a="http://schemas.openxmlformats.org/drawingml/2006/main">
              <a:ext uri="{FF2B5EF4-FFF2-40B4-BE49-F238E27FC236}">
                <a16:creationId xmlns:a16="http://schemas.microsoft.com/office/drawing/2014/main" id="{959D60B9-2178-4ABE-BC26-2D414AE084BE}"/>
              </a:ext>
            </a:extLst>
          </p:cNvPr>
          <p:cNvSpPr>
            <a:spLocks xmlns:a="http://schemas.openxmlformats.org/drawingml/2006/main" noGrp="1"/>
          </p:cNvSpPr>
          <p:nvPr/>
        </p:nvSpPr>
        <p:spPr>
          <a:xfrm xmlns:a="http://schemas.openxmlformats.org/drawingml/2006/main">
            <a:off x="533400" y="942975"/>
            <a:ext cx="807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22222"/>
                </a:solidFill>
                <a:latin typeface="Lato"/>
                <a:ea typeface="Lato"/>
                <a:cs typeface="Lato"/>
              </a:defRPr>
            </a:defPPr>
            <a:lvl1pPr algn="l">
              <a:defRPr sz="1950" b="1">
                <a:solidFill>
                  <a:srgbClr val="222222"/>
                </a:solidFill>
                <a:latin typeface="Lato"/>
                <a:ea typeface="Lato"/>
                <a:cs typeface="Lato"/>
              </a:defRPr>
            </a:lvl1pPr>
            <a:lvl2pPr algn="l">
              <a:defRPr sz="1950" b="1">
                <a:solidFill>
                  <a:srgbClr val="222222"/>
                </a:solidFill>
                <a:latin typeface="Lato"/>
                <a:ea typeface="Lato"/>
                <a:cs typeface="Lato"/>
              </a:defRPr>
            </a:lvl2pPr>
            <a:lvl3pPr algn="l">
              <a:defRPr sz="1950" b="1">
                <a:solidFill>
                  <a:srgbClr val="222222"/>
                </a:solidFill>
                <a:latin typeface="Lato"/>
                <a:ea typeface="Lato"/>
                <a:cs typeface="Lato"/>
              </a:defRPr>
            </a:lvl3pPr>
            <a:lvl4pPr algn="l">
              <a:defRPr sz="1950" b="1">
                <a:solidFill>
                  <a:srgbClr val="222222"/>
                </a:solidFill>
                <a:latin typeface="Lato"/>
                <a:ea typeface="Lato"/>
                <a:cs typeface="Lato"/>
              </a:defRPr>
            </a:lvl4pPr>
            <a:lvl5pPr algn="l">
              <a:defRPr sz="1950" b="1">
                <a:solidFill>
                  <a:srgbClr val="222222"/>
                </a:solidFill>
                <a:latin typeface="Lato"/>
                <a:ea typeface="Lato"/>
                <a:cs typeface="Lato"/>
              </a:defRPr>
            </a:lvl5pPr>
            <a:lvl6pPr algn="l">
              <a:defRPr sz="1950" b="1">
                <a:solidFill>
                  <a:srgbClr val="222222"/>
                </a:solidFill>
                <a:latin typeface="Lato"/>
                <a:ea typeface="Lato"/>
                <a:cs typeface="Lato"/>
              </a:defRPr>
            </a:lvl6pPr>
            <a:lvl7pPr algn="l">
              <a:defRPr sz="1950" b="1">
                <a:solidFill>
                  <a:srgbClr val="222222"/>
                </a:solidFill>
                <a:latin typeface="Lato"/>
                <a:ea typeface="Lato"/>
                <a:cs typeface="Lato"/>
              </a:defRPr>
            </a:lvl7pPr>
            <a:lvl8pPr algn="l">
              <a:defRPr sz="1950" b="1">
                <a:solidFill>
                  <a:srgbClr val="222222"/>
                </a:solidFill>
                <a:latin typeface="Lato"/>
                <a:ea typeface="Lato"/>
                <a:cs typeface="Lato"/>
              </a:defRPr>
            </a:lvl8pPr>
            <a:lvl9pPr algn="l">
              <a:defRPr sz="1950" b="1">
                <a:solidFill>
                  <a:srgbClr val="222222"/>
                </a:solidFill>
                <a:latin typeface="Lato"/>
                <a:ea typeface="Lato"/>
                <a:cs typeface="Lato"/>
              </a:defRPr>
            </a:lvl9pPr>
          </a:lstStyle>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Giữ quỹ đạo và BS cố định: P không phụ thuộc α.</a:t>
            </a:r>
          </a:p>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Tối đa EE theo α tương đương tối đa tổng rate.</a:t>
            </a:r>
          </a:p>
        </p:txBody>
      </p:sp>
      <p:sp>
        <p:nvSpPr>
          <p:cNvPr id="6" name="tail-label">
            <a:extLst xmlns:a="http://schemas.openxmlformats.org/drawingml/2006/main">
              <a:ext uri="{FF2B5EF4-FFF2-40B4-BE49-F238E27FC236}">
                <a16:creationId xmlns:a16="http://schemas.microsoft.com/office/drawing/2014/main" id="{6EF76E5A-0532-4D7C-BB2D-2EC39A5777F3}"/>
              </a:ext>
            </a:extLst>
          </p:cNvPr>
          <p:cNvSpPr>
            <a:spLocks xmlns:a="http://schemas.openxmlformats.org/drawingml/2006/main" noGrp="1"/>
          </p:cNvSpPr>
          <p:nvPr/>
        </p:nvSpPr>
        <p:spPr>
          <a:xfrm xmlns:a="http://schemas.openxmlformats.org/drawingml/2006/main">
            <a:off x="533400" y="183832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Xét một slot, đặt</a:t>
            </a:r>
          </a:p>
        </p:txBody>
      </p:sp>
      <p:pic>
        <p:nvPicPr>
          <p:cNvPr id="7" name="">
            <a:extLst xmlns:a="http://schemas.openxmlformats.org/drawingml/2006/main">
              <a:ext uri="{FF2B5EF4-FFF2-40B4-BE49-F238E27FC236}">
                <a16:creationId xmlns:a16="http://schemas.microsoft.com/office/drawing/2014/main" id="{3E966E59-A5F2-49A6-B3F3-8D569F9DCB8E}"/>
              </a:ext>
            </a:extLst>
          </p:cNvPr>
          <p:cNvPicPr>
            <a:picLocks xmlns:a="http://schemas.openxmlformats.org/drawingml/2006/main" noChangeAspect="1"/>
          </p:cNvPicPr>
          <p:nvPr/>
        </p:nvPicPr>
        <p:blipFill>
          <a:blip xmlns:r="http://schemas.openxmlformats.org/officeDocument/2006/relationships" xmlns:a="http://schemas.openxmlformats.org/drawingml/2006/main" r:embed="R61e1fe8c16bb407a"/>
          <a:stretch xmlns:a="http://schemas.openxmlformats.org/drawingml/2006/main"/>
        </p:blipFill>
        <p:spPr>
          <a:xfrm xmlns:a="http://schemas.openxmlformats.org/drawingml/2006/main">
            <a:off x="2857500" y="1743075"/>
            <a:ext cx="3118247" cy="6000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2BB1F55-2FF6-4E93-8FFF-EAD95EE37075}"/>
              </a:ext>
            </a:extLst>
          </p:cNvPr>
          <p:cNvPicPr>
            <a:picLocks xmlns:a="http://schemas.openxmlformats.org/drawingml/2006/main" noChangeAspect="1"/>
          </p:cNvPicPr>
          <p:nvPr/>
        </p:nvPicPr>
        <p:blipFill>
          <a:blip xmlns:r="http://schemas.openxmlformats.org/officeDocument/2006/relationships" xmlns:a="http://schemas.openxmlformats.org/drawingml/2006/main" r:embed="R2b9fa7f73ff64d2e"/>
          <a:stretch xmlns:a="http://schemas.openxmlformats.org/drawingml/2006/main"/>
        </p:blipFill>
        <p:spPr>
          <a:xfrm xmlns:a="http://schemas.openxmlformats.org/drawingml/2006/main">
            <a:off x="533400" y="2400300"/>
            <a:ext cx="4136164" cy="857250"/>
          </a:xfrm>
          <a:prstGeom xmlns:a="http://schemas.openxmlformats.org/drawingml/2006/main" prst="rect">
            <a:avLst/>
          </a:prstGeom>
        </p:spPr>
      </p:pic>
      <p:sp>
        <p:nvSpPr>
          <p:cNvPr id="9" name="derivative-label">
            <a:extLst xmlns:a="http://schemas.openxmlformats.org/drawingml/2006/main">
              <a:ext uri="{FF2B5EF4-FFF2-40B4-BE49-F238E27FC236}">
                <a16:creationId xmlns:a16="http://schemas.microsoft.com/office/drawing/2014/main" id="{1A3EFBB7-2C47-4D1B-90BB-B0A546B09656}"/>
              </a:ext>
            </a:extLst>
          </p:cNvPr>
          <p:cNvSpPr>
            <a:spLocks xmlns:a="http://schemas.openxmlformats.org/drawingml/2006/main" noGrp="1"/>
          </p:cNvSpPr>
          <p:nvPr/>
        </p:nvSpPr>
        <p:spPr>
          <a:xfrm xmlns:a="http://schemas.openxmlformats.org/drawingml/2006/main">
            <a:off x="533400" y="339090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Mỗi hạng fᵢ tăng theo Sᵢ vì</a:t>
            </a:r>
          </a:p>
        </p:txBody>
      </p:sp>
      <p:pic>
        <p:nvPicPr>
          <p:cNvPr id="10" name="">
            <a:extLst xmlns:a="http://schemas.openxmlformats.org/drawingml/2006/main">
              <a:ext uri="{FF2B5EF4-FFF2-40B4-BE49-F238E27FC236}">
                <a16:creationId xmlns:a16="http://schemas.microsoft.com/office/drawing/2014/main" id="{14B4378F-E386-4282-BD87-FB5155DED13B}"/>
              </a:ext>
            </a:extLst>
          </p:cNvPr>
          <p:cNvPicPr>
            <a:picLocks xmlns:a="http://schemas.openxmlformats.org/drawingml/2006/main" noChangeAspect="1"/>
          </p:cNvPicPr>
          <p:nvPr/>
        </p:nvPicPr>
        <p:blipFill>
          <a:blip xmlns:r="http://schemas.openxmlformats.org/officeDocument/2006/relationships" xmlns:a="http://schemas.openxmlformats.org/drawingml/2006/main" r:embed="Rd4779a39b9e24542"/>
          <a:stretch xmlns:a="http://schemas.openxmlformats.org/drawingml/2006/main"/>
        </p:blipFill>
        <p:spPr>
          <a:xfrm xmlns:a="http://schemas.openxmlformats.org/drawingml/2006/main">
            <a:off x="533400" y="3714750"/>
            <a:ext cx="3279598" cy="809625"/>
          </a:xfrm>
          <a:prstGeom xmlns:a="http://schemas.openxmlformats.org/drawingml/2006/main" prst="rect">
            <a:avLst/>
          </a:prstGeom>
        </p:spPr>
      </p:pic>
      <p:sp>
        <p:nvSpPr>
          <p:cNvPr id="11" name="tail-bound">
            <a:extLst xmlns:a="http://schemas.openxmlformats.org/drawingml/2006/main">
              <a:ext uri="{FF2B5EF4-FFF2-40B4-BE49-F238E27FC236}">
                <a16:creationId xmlns:a16="http://schemas.microsoft.com/office/drawing/2014/main" id="{BBE25285-D630-4D76-81B6-C6ADD2F26A81}"/>
              </a:ext>
            </a:extLst>
          </p:cNvPr>
          <p:cNvSpPr>
            <a:spLocks xmlns:a="http://schemas.openxmlformats.org/drawingml/2006/main" noGrp="1"/>
          </p:cNvSpPr>
          <p:nvPr/>
        </p:nvSpPr>
        <p:spPr>
          <a:xfrm xmlns:a="http://schemas.openxmlformats.org/drawingml/2006/main">
            <a:off x="533400" y="46196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Ordering cho Sᵢ ≤ (6 − i)/5. αᵢ = 1/5 đạt mọi cận.</a:t>
            </a:r>
          </a:p>
        </p:txBody>
      </p:sp>
      <p:sp>
        <p:nvSpPr>
          <p:cNvPr id="12" name="conclusion">
            <a:extLst xmlns:a="http://schemas.openxmlformats.org/drawingml/2006/main">
              <a:ext uri="{FF2B5EF4-FFF2-40B4-BE49-F238E27FC236}">
                <a16:creationId xmlns:a16="http://schemas.microsoft.com/office/drawing/2014/main" id="{56F70C2B-EEC1-4BB9-8E37-7C1CD9A8657C}"/>
              </a:ext>
            </a:extLst>
          </p:cNvPr>
          <p:cNvSpPr>
            <a:spLocks xmlns:a="http://schemas.openxmlformats.org/drawingml/2006/main" noGrp="1"/>
          </p:cNvSpPr>
          <p:nvPr/>
        </p:nvSpPr>
        <p:spPr>
          <a:xfrm xmlns:a="http://schemas.openxmlformats.org/drawingml/2006/main">
            <a:off x="533400" y="5105400"/>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00000"/>
                </a:solidFill>
                <a:latin typeface="Lato"/>
                <a:ea typeface="Lato"/>
                <a:cs typeface="Lato"/>
              </a:defRPr>
            </a:defPPr>
            <a:lvl1pPr algn="l">
              <a:defRPr sz="2250" b="1">
                <a:solidFill>
                  <a:srgbClr val="C00000"/>
                </a:solidFill>
                <a:latin typeface="Lato"/>
                <a:ea typeface="Lato"/>
                <a:cs typeface="Lato"/>
              </a:defRPr>
            </a:lvl1pPr>
            <a:lvl2pPr algn="l">
              <a:defRPr sz="2250" b="1">
                <a:solidFill>
                  <a:srgbClr val="C00000"/>
                </a:solidFill>
                <a:latin typeface="Lato"/>
                <a:ea typeface="Lato"/>
                <a:cs typeface="Lato"/>
              </a:defRPr>
            </a:lvl2pPr>
            <a:lvl3pPr algn="l">
              <a:defRPr sz="2250" b="1">
                <a:solidFill>
                  <a:srgbClr val="C00000"/>
                </a:solidFill>
                <a:latin typeface="Lato"/>
                <a:ea typeface="Lato"/>
                <a:cs typeface="Lato"/>
              </a:defRPr>
            </a:lvl3pPr>
            <a:lvl4pPr algn="l">
              <a:defRPr sz="2250" b="1">
                <a:solidFill>
                  <a:srgbClr val="C00000"/>
                </a:solidFill>
                <a:latin typeface="Lato"/>
                <a:ea typeface="Lato"/>
                <a:cs typeface="Lato"/>
              </a:defRPr>
            </a:lvl4pPr>
            <a:lvl5pPr algn="l">
              <a:defRPr sz="2250" b="1">
                <a:solidFill>
                  <a:srgbClr val="C00000"/>
                </a:solidFill>
                <a:latin typeface="Lato"/>
                <a:ea typeface="Lato"/>
                <a:cs typeface="Lato"/>
              </a:defRPr>
            </a:lvl5pPr>
            <a:lvl6pPr algn="l">
              <a:defRPr sz="2250" b="1">
                <a:solidFill>
                  <a:srgbClr val="C00000"/>
                </a:solidFill>
                <a:latin typeface="Lato"/>
                <a:ea typeface="Lato"/>
                <a:cs typeface="Lato"/>
              </a:defRPr>
            </a:lvl6pPr>
            <a:lvl7pPr algn="l">
              <a:defRPr sz="2250" b="1">
                <a:solidFill>
                  <a:srgbClr val="C00000"/>
                </a:solidFill>
                <a:latin typeface="Lato"/>
                <a:ea typeface="Lato"/>
                <a:cs typeface="Lato"/>
              </a:defRPr>
            </a:lvl7pPr>
            <a:lvl8pPr algn="l">
              <a:defRPr sz="2250" b="1">
                <a:solidFill>
                  <a:srgbClr val="C00000"/>
                </a:solidFill>
                <a:latin typeface="Lato"/>
                <a:ea typeface="Lato"/>
                <a:cs typeface="Lato"/>
              </a:defRPr>
            </a:lvl8pPr>
            <a:lvl9pPr algn="l">
              <a:defRPr sz="2250" b="1">
                <a:solidFill>
                  <a:srgbClr val="C00000"/>
                </a:solidFill>
                <a:latin typeface="Lato"/>
                <a:ea typeface="Lato"/>
                <a:cs typeface="Lato"/>
              </a:defRPr>
            </a:lvl9pPr>
          </a:lstStyle>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αᵢ = 0,2 tối đa tổng rate và EE RF</a:t>
            </a:r>
          </a:p>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tại cùng quỹ đạo, BS</a:t>
            </a:r>
          </a:p>
        </p:txBody>
      </p:sp>
      <p:sp>
        <p:nvSpPr>
          <p:cNvPr id="13" name="polish">
            <a:extLst xmlns:a="http://schemas.openxmlformats.org/drawingml/2006/main">
              <a:ext uri="{FF2B5EF4-FFF2-40B4-BE49-F238E27FC236}">
                <a16:creationId xmlns:a16="http://schemas.microsoft.com/office/drawing/2014/main" id="{B3C699B8-5FF8-48DF-AEAD-CC8883217486}"/>
              </a:ext>
            </a:extLst>
          </p:cNvPr>
          <p:cNvSpPr>
            <a:spLocks xmlns:a="http://schemas.openxmlformats.org/drawingml/2006/main" noGrp="1"/>
          </p:cNvSpPr>
          <p:nvPr/>
        </p:nvSpPr>
        <p:spPr>
          <a:xfrm xmlns:a="http://schemas.openxmlformats.org/drawingml/2006/main">
            <a:off x="533400" y="5934075"/>
            <a:ext cx="807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a:solidFill>
                  <a:srgbClr val="555555"/>
                </a:solidFill>
                <a:latin typeface="Lato"/>
                <a:ea typeface="Lato"/>
                <a:cs typeface="Lato"/>
              </a:defRPr>
            </a:defPPr>
            <a:lvl1pPr algn="l">
              <a:defRPr sz="1500">
                <a:solidFill>
                  <a:srgbClr val="555555"/>
                </a:solidFill>
                <a:latin typeface="Lato"/>
                <a:ea typeface="Lato"/>
                <a:cs typeface="Lato"/>
              </a:defRPr>
            </a:lvl1pPr>
            <a:lvl2pPr algn="l">
              <a:defRPr sz="1500">
                <a:solidFill>
                  <a:srgbClr val="555555"/>
                </a:solidFill>
                <a:latin typeface="Lato"/>
                <a:ea typeface="Lato"/>
                <a:cs typeface="Lato"/>
              </a:defRPr>
            </a:lvl2pPr>
            <a:lvl3pPr algn="l">
              <a:defRPr sz="1500">
                <a:solidFill>
                  <a:srgbClr val="555555"/>
                </a:solidFill>
                <a:latin typeface="Lato"/>
                <a:ea typeface="Lato"/>
                <a:cs typeface="Lato"/>
              </a:defRPr>
            </a:lvl3pPr>
            <a:lvl4pPr algn="l">
              <a:defRPr sz="1500">
                <a:solidFill>
                  <a:srgbClr val="555555"/>
                </a:solidFill>
                <a:latin typeface="Lato"/>
                <a:ea typeface="Lato"/>
                <a:cs typeface="Lato"/>
              </a:defRPr>
            </a:lvl4pPr>
            <a:lvl5pPr algn="l">
              <a:defRPr sz="1500">
                <a:solidFill>
                  <a:srgbClr val="555555"/>
                </a:solidFill>
                <a:latin typeface="Lato"/>
                <a:ea typeface="Lato"/>
                <a:cs typeface="Lato"/>
              </a:defRPr>
            </a:lvl5pPr>
            <a:lvl6pPr algn="l">
              <a:defRPr sz="1500">
                <a:solidFill>
                  <a:srgbClr val="555555"/>
                </a:solidFill>
                <a:latin typeface="Lato"/>
                <a:ea typeface="Lato"/>
                <a:cs typeface="Lato"/>
              </a:defRPr>
            </a:lvl6pPr>
            <a:lvl7pPr algn="l">
              <a:defRPr sz="1500">
                <a:solidFill>
                  <a:srgbClr val="555555"/>
                </a:solidFill>
                <a:latin typeface="Lato"/>
                <a:ea typeface="Lato"/>
                <a:cs typeface="Lato"/>
              </a:defRPr>
            </a:lvl7pPr>
            <a:lvl8pPr algn="l">
              <a:defRPr sz="1500">
                <a:solidFill>
                  <a:srgbClr val="555555"/>
                </a:solidFill>
                <a:latin typeface="Lato"/>
                <a:ea typeface="Lato"/>
                <a:cs typeface="Lato"/>
              </a:defRPr>
            </a:lvl8pPr>
            <a:lvl9pPr algn="l">
              <a:defRPr sz="1500">
                <a:solidFill>
                  <a:srgbClr val="555555"/>
                </a:solidFill>
                <a:latin typeface="Lato"/>
                <a:ea typeface="Lato"/>
                <a:cs typeface="Lato"/>
              </a:defRPr>
            </a:lvl9pPr>
          </a:lstStyle>
          <a:p xmlns:a="http://schemas.openxmlformats.org/drawingml/2006/main">
            <a:pPr algn="l">
              <a:defRPr sz="1500">
                <a:solidFill>
                  <a:srgbClr val="555555"/>
                </a:solidFill>
                <a:latin typeface="Lato"/>
                <a:ea typeface="Lato"/>
                <a:cs typeface="Lato"/>
              </a:defRPr>
            </a:pPr>
            <a:r>
              <a:rPr sz="1500">
                <a:solidFill>
                  <a:srgbClr val="555555"/>
                </a:solidFill>
                <a:latin typeface="Lato"/>
                <a:ea typeface="Lato"/>
                <a:cs typeface="Lato"/>
              </a:rPr>
              <a:t>Polishing luôn thử α đều tại mỗi slot, giúp hai bản Full nhận nghiệm này.</a:t>
            </a:r>
          </a:p>
        </p:txBody>
      </p:sp>
    </p:spTree>
    <p:extLst>
      <p:ext uri="{BB962C8B-B14F-4D97-AF65-F5344CB8AC3E}">
        <p14:creationId xmlns:p14="http://schemas.microsoft.com/office/powerpoint/2010/main" val="2923640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5</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5BEEF288-9318-4EBB-984D-1C3D300B83A8}"/>
              </a:ext>
            </a:extLst>
          </p:cNvPr>
          <p:cNvPicPr>
            <a:picLocks xmlns:a="http://schemas.openxmlformats.org/drawingml/2006/main" noChangeAspect="1"/>
          </p:cNvPicPr>
          <p:nvPr/>
        </p:nvPicPr>
        <p:blipFill>
          <a:blip xmlns:r="http://schemas.openxmlformats.org/officeDocument/2006/relationships" xmlns:a="http://schemas.openxmlformats.org/drawingml/2006/main" r:embed="R3030cda030464882"/>
          <a:stretch xmlns:a="http://schemas.openxmlformats.org/drawingml/2006/main"/>
        </p:blipFill>
        <p:spPr>
          <a:xfrm xmlns:a="http://schemas.openxmlformats.org/drawingml/2006/main">
            <a:off x="878108" y="895350"/>
            <a:ext cx="7387785" cy="4819650"/>
          </a:xfrm>
          <a:prstGeom xmlns:a="http://schemas.openxmlformats.org/drawingml/2006/main" prst="rect">
            <a:avLst/>
          </a:prstGeom>
        </p:spPr>
      </p:pic>
      <p:sp>
        <p:nvSpPr>
          <p:cNvPr id="6" name="figure-caption">
            <a:extLst xmlns:a="http://schemas.openxmlformats.org/drawingml/2006/main">
              <a:ext uri="{FF2B5EF4-FFF2-40B4-BE49-F238E27FC236}">
                <a16:creationId xmlns:a16="http://schemas.microsoft.com/office/drawing/2014/main" id="{52AFC80F-AD00-4B8C-A297-76C5E577ABFC}"/>
              </a:ext>
            </a:extLst>
          </p:cNvPr>
          <p:cNvSpPr>
            <a:spLocks xmlns:a="http://schemas.openxmlformats.org/drawingml/2006/main" noGrp="1"/>
          </p:cNvSpPr>
          <p:nvPr/>
        </p:nvSpPr>
        <p:spPr>
          <a:xfrm xmlns:a="http://schemas.openxmlformats.org/drawingml/2006/main">
            <a:off x="533400" y="58007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L = 0: hai bản Full đạt gần 0,2 sau polishing. Joint PSO còn lệch.</a:t>
            </a:r>
          </a:p>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Hình thể hiện α trung bình theo slot của từng user.</a:t>
            </a:r>
          </a:p>
        </p:txBody>
      </p:sp>
    </p:spTree>
    <p:extLst>
      <p:ext uri="{BB962C8B-B14F-4D97-AF65-F5344CB8AC3E}">
        <p14:creationId xmlns:p14="http://schemas.microsoft.com/office/powerpoint/2010/main" val="2923640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6</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Thêm giới hạn dữ liệu L bit/user</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D896DAC0-B779-4B75-A5FA-66808817F2B3}"/>
              </a:ext>
            </a:extLst>
          </p:cNvPr>
          <p:cNvPicPr>
            <a:picLocks xmlns:a="http://schemas.openxmlformats.org/drawingml/2006/main" noChangeAspect="1"/>
          </p:cNvPicPr>
          <p:nvPr/>
        </p:nvPicPr>
        <p:blipFill>
          <a:blip xmlns:r="http://schemas.openxmlformats.org/officeDocument/2006/relationships" xmlns:a="http://schemas.openxmlformats.org/drawingml/2006/main" r:embed="R5ca45a8d27a7422d"/>
          <a:stretch xmlns:a="http://schemas.openxmlformats.org/drawingml/2006/main"/>
        </p:blipFill>
        <p:spPr>
          <a:xfrm xmlns:a="http://schemas.openxmlformats.org/drawingml/2006/main">
            <a:off x="533400" y="1019175"/>
            <a:ext cx="3229213" cy="676275"/>
          </a:xfrm>
          <a:prstGeom xmlns:a="http://schemas.openxmlformats.org/drawingml/2006/main" prst="rect">
            <a:avLst/>
          </a:prstGeom>
        </p:spPr>
      </p:pic>
      <p:sp>
        <p:nvSpPr>
          <p:cNvPr id="6" name="constraint-users">
            <a:extLst xmlns:a="http://schemas.openxmlformats.org/drawingml/2006/main">
              <a:ext uri="{FF2B5EF4-FFF2-40B4-BE49-F238E27FC236}">
                <a16:creationId xmlns:a16="http://schemas.microsoft.com/office/drawing/2014/main" id="{1F3D668C-EB98-4C0D-9344-9F2E51DF81AF}"/>
              </a:ext>
            </a:extLst>
          </p:cNvPr>
          <p:cNvSpPr>
            <a:spLocks xmlns:a="http://schemas.openxmlformats.org/drawingml/2006/main" noGrp="1"/>
          </p:cNvSpPr>
          <p:nvPr/>
        </p:nvSpPr>
        <p:spPr>
          <a:xfrm xmlns:a="http://schemas.openxmlformats.org/drawingml/2006/main">
            <a:off x="6438900" y="1209675"/>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C00000"/>
                </a:solidFill>
                <a:latin typeface="Lato"/>
                <a:ea typeface="Lato"/>
                <a:cs typeface="Lato"/>
              </a:defRPr>
            </a:defPPr>
            <a:lvl1pPr algn="l">
              <a:defRPr sz="1875">
                <a:solidFill>
                  <a:srgbClr val="C00000"/>
                </a:solidFill>
                <a:latin typeface="Lato"/>
                <a:ea typeface="Lato"/>
                <a:cs typeface="Lato"/>
              </a:defRPr>
            </a:lvl1pPr>
            <a:lvl2pPr algn="l">
              <a:defRPr sz="1875">
                <a:solidFill>
                  <a:srgbClr val="C00000"/>
                </a:solidFill>
                <a:latin typeface="Lato"/>
                <a:ea typeface="Lato"/>
                <a:cs typeface="Lato"/>
              </a:defRPr>
            </a:lvl2pPr>
            <a:lvl3pPr algn="l">
              <a:defRPr sz="1875">
                <a:solidFill>
                  <a:srgbClr val="C00000"/>
                </a:solidFill>
                <a:latin typeface="Lato"/>
                <a:ea typeface="Lato"/>
                <a:cs typeface="Lato"/>
              </a:defRPr>
            </a:lvl3pPr>
            <a:lvl4pPr algn="l">
              <a:defRPr sz="1875">
                <a:solidFill>
                  <a:srgbClr val="C00000"/>
                </a:solidFill>
                <a:latin typeface="Lato"/>
                <a:ea typeface="Lato"/>
                <a:cs typeface="Lato"/>
              </a:defRPr>
            </a:lvl4pPr>
            <a:lvl5pPr algn="l">
              <a:defRPr sz="1875">
                <a:solidFill>
                  <a:srgbClr val="C00000"/>
                </a:solidFill>
                <a:latin typeface="Lato"/>
                <a:ea typeface="Lato"/>
                <a:cs typeface="Lato"/>
              </a:defRPr>
            </a:lvl5pPr>
            <a:lvl6pPr algn="l">
              <a:defRPr sz="1875">
                <a:solidFill>
                  <a:srgbClr val="C00000"/>
                </a:solidFill>
                <a:latin typeface="Lato"/>
                <a:ea typeface="Lato"/>
                <a:cs typeface="Lato"/>
              </a:defRPr>
            </a:lvl6pPr>
            <a:lvl7pPr algn="l">
              <a:defRPr sz="1875">
                <a:solidFill>
                  <a:srgbClr val="C00000"/>
                </a:solidFill>
                <a:latin typeface="Lato"/>
                <a:ea typeface="Lato"/>
                <a:cs typeface="Lato"/>
              </a:defRPr>
            </a:lvl7pPr>
            <a:lvl8pPr algn="l">
              <a:defRPr sz="1875">
                <a:solidFill>
                  <a:srgbClr val="C00000"/>
                </a:solidFill>
                <a:latin typeface="Lato"/>
                <a:ea typeface="Lato"/>
                <a:cs typeface="Lato"/>
              </a:defRPr>
            </a:lvl8pPr>
            <a:lvl9pPr algn="l">
              <a:defRPr sz="1875">
                <a:solidFill>
                  <a:srgbClr val="C00000"/>
                </a:solidFill>
                <a:latin typeface="Lato"/>
                <a:ea typeface="Lato"/>
                <a:cs typeface="Lato"/>
              </a:defRPr>
            </a:lvl9pPr>
          </a:lstStyle>
          <a:p xmlns:a="http://schemas.openxmlformats.org/drawingml/2006/main">
            <a:pPr algn="l">
              <a:defRPr sz="1875">
                <a:solidFill>
                  <a:srgbClr val="C00000"/>
                </a:solidFill>
                <a:latin typeface="Lato"/>
                <a:ea typeface="Lato"/>
                <a:cs typeface="Lato"/>
              </a:defRPr>
            </a:pPr>
            <a:r>
              <a:rPr sz="1875">
                <a:solidFill>
                  <a:srgbClr val="C00000"/>
                </a:solidFill>
                <a:latin typeface="Lato"/>
                <a:ea typeface="Lato"/>
                <a:cs typeface="Lato"/>
              </a:rPr>
              <a:t>với mọi user k</a:t>
            </a:r>
          </a:p>
        </p:txBody>
      </p:sp>
      <p:sp>
        <p:nvSpPr>
          <p:cNvPr id="7" name="meaning">
            <a:extLst xmlns:a="http://schemas.openxmlformats.org/drawingml/2006/main">
              <a:ext uri="{FF2B5EF4-FFF2-40B4-BE49-F238E27FC236}">
                <a16:creationId xmlns:a16="http://schemas.microsoft.com/office/drawing/2014/main" id="{C6D765CD-B449-4FD8-9C35-C8CCF0E1097A}"/>
              </a:ext>
            </a:extLst>
          </p:cNvPr>
          <p:cNvSpPr>
            <a:spLocks xmlns:a="http://schemas.openxmlformats.org/drawingml/2006/main" noGrp="1"/>
          </p:cNvSpPr>
          <p:nvPr/>
        </p:nvSpPr>
        <p:spPr>
          <a:xfrm xmlns:a="http://schemas.openxmlformats.org/drawingml/2006/main">
            <a:off x="533400" y="17811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L là tổng dữ liệu tối thiểu mỗi user nhận trong cả chuyến bay.</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Các mức thử: 1 / 1,5 / 2 / 3 / 4 / 4,2 Mbit/user.</a:t>
            </a:r>
          </a:p>
        </p:txBody>
      </p:sp>
      <p:sp>
        <p:nvSpPr>
          <p:cNvPr id="8" name="fitness-label">
            <a:extLst xmlns:a="http://schemas.openxmlformats.org/drawingml/2006/main">
              <a:ext uri="{FF2B5EF4-FFF2-40B4-BE49-F238E27FC236}">
                <a16:creationId xmlns:a16="http://schemas.microsoft.com/office/drawing/2014/main" id="{BAE52BFA-2321-4B09-8A6C-447502D8A35D}"/>
              </a:ext>
            </a:extLst>
          </p:cNvPr>
          <p:cNvSpPr>
            <a:spLocks xmlns:a="http://schemas.openxmlformats.org/drawingml/2006/main" noGrp="1"/>
          </p:cNvSpPr>
          <p:nvPr/>
        </p:nvSpPr>
        <p:spPr>
          <a:xfrm xmlns:a="http://schemas.openxmlformats.org/drawingml/2006/main">
            <a:off x="533400" y="2838450"/>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9" name="fitness-feasible">
            <a:extLst xmlns:a="http://schemas.openxmlformats.org/drawingml/2006/main">
              <a:ext uri="{FF2B5EF4-FFF2-40B4-BE49-F238E27FC236}">
                <a16:creationId xmlns:a16="http://schemas.microsoft.com/office/drawing/2014/main" id="{74838676-04D5-498F-B2B8-F86A0CB1D684}"/>
              </a:ext>
            </a:extLst>
          </p:cNvPr>
          <p:cNvSpPr>
            <a:spLocks xmlns:a="http://schemas.openxmlformats.org/drawingml/2006/main" noGrp="1"/>
          </p:cNvSpPr>
          <p:nvPr/>
        </p:nvSpPr>
        <p:spPr>
          <a:xfrm xmlns:a="http://schemas.openxmlformats.org/drawingml/2006/main">
            <a:off x="533400" y="3276600"/>
            <a:ext cx="807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xmlns:a="http://schemas.openxmlformats.org/drawingml/2006/main">
            <a:pPr algn="l">
              <a:defRPr sz="2025" b="1">
                <a:solidFill>
                  <a:srgbClr val="222222"/>
                </a:solidFill>
                <a:latin typeface="Lato"/>
                <a:ea typeface="Lato"/>
                <a:cs typeface="Lato"/>
              </a:defRPr>
            </a:pPr>
            <a:r>
              <a:rPr sz="2025" b="1">
                <a:solidFill>
                  <a:srgbClr val="222222"/>
                </a:solidFill>
                <a:latin typeface="Lato"/>
                <a:ea typeface="Lato"/>
                <a:cs typeface="Lato"/>
              </a:rPr>
              <a:t>Đạt mọi ràng buộc:     fitness = EE_RF</a:t>
            </a:r>
          </a:p>
        </p:txBody>
      </p:sp>
      <p:sp>
        <p:nvSpPr>
          <p:cNvPr id="10" name="fitness-infeasible-label">
            <a:extLst xmlns:a="http://schemas.openxmlformats.org/drawingml/2006/main">
              <a:ext uri="{FF2B5EF4-FFF2-40B4-BE49-F238E27FC236}">
                <a16:creationId xmlns:a16="http://schemas.microsoft.com/office/drawing/2014/main" id="{BA00C7DC-DB87-4282-9D22-A6CE692D866E}"/>
              </a:ext>
            </a:extLst>
          </p:cNvPr>
          <p:cNvSpPr>
            <a:spLocks xmlns:a="http://schemas.openxmlformats.org/drawingml/2006/main" noGrp="1"/>
          </p:cNvSpPr>
          <p:nvPr/>
        </p:nvSpPr>
        <p:spPr>
          <a:xfrm xmlns:a="http://schemas.openxmlformats.org/drawingml/2006/main">
            <a:off x="533400" y="40195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Thiếu dữ liệu:</a:t>
            </a:r>
          </a:p>
        </p:txBody>
      </p:sp>
      <p:pic>
        <p:nvPicPr>
          <p:cNvPr id="11" name="">
            <a:extLst xmlns:a="http://schemas.openxmlformats.org/drawingml/2006/main">
              <a:ext uri="{FF2B5EF4-FFF2-40B4-BE49-F238E27FC236}">
                <a16:creationId xmlns:a16="http://schemas.microsoft.com/office/drawing/2014/main" id="{B2726A74-462E-43E0-8A2F-2864C36FB8E2}"/>
              </a:ext>
            </a:extLst>
          </p:cNvPr>
          <p:cNvPicPr>
            <a:picLocks xmlns:a="http://schemas.openxmlformats.org/drawingml/2006/main" noChangeAspect="1"/>
          </p:cNvPicPr>
          <p:nvPr/>
        </p:nvPicPr>
        <p:blipFill>
          <a:blip xmlns:r="http://schemas.openxmlformats.org/officeDocument/2006/relationships" xmlns:a="http://schemas.openxmlformats.org/drawingml/2006/main" r:embed="R9469e748fd034ed4"/>
          <a:stretch xmlns:a="http://schemas.openxmlformats.org/drawingml/2006/main"/>
        </p:blipFill>
        <p:spPr>
          <a:xfrm xmlns:a="http://schemas.openxmlformats.org/drawingml/2006/main">
            <a:off x="2838450" y="3819525"/>
            <a:ext cx="2906686" cy="733425"/>
          </a:xfrm>
          <a:prstGeom xmlns:a="http://schemas.openxmlformats.org/drawingml/2006/main" prst="rect">
            <a:avLst/>
          </a:prstGeom>
        </p:spPr>
      </p:pic>
      <p:sp>
        <p:nvSpPr>
          <p:cNvPr id="12" name="alpha-after-qos">
            <a:extLst xmlns:a="http://schemas.openxmlformats.org/drawingml/2006/main">
              <a:ext uri="{FF2B5EF4-FFF2-40B4-BE49-F238E27FC236}">
                <a16:creationId xmlns:a16="http://schemas.microsoft.com/office/drawing/2014/main" id="{A4AC48A7-AD9F-4DB4-A40B-37133E919606}"/>
              </a:ext>
            </a:extLst>
          </p:cNvPr>
          <p:cNvSpPr>
            <a:spLocks xmlns:a="http://schemas.openxmlformats.org/drawingml/2006/main" noGrp="1"/>
          </p:cNvSpPr>
          <p:nvPr/>
        </p:nvSpPr>
        <p:spPr>
          <a:xfrm xmlns:a="http://schemas.openxmlformats.org/drawingml/2006/main">
            <a:off x="533400" y="4724400"/>
            <a:ext cx="8077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Nếu α đều vẫn đáp ứng L, nghiệm đều vẫn tối ưu theo α</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tại cùng hình học. Khi ràng buộc dữ liệu loại nghiệm đều,</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bài toán có thể cần đổi α hoặc quỹ đạo, BS.</a:t>
            </a:r>
          </a:p>
        </p:txBody>
      </p:sp>
      <p:sp>
        <p:nvSpPr>
          <p:cNvPr id="13" name="units">
            <a:extLst xmlns:a="http://schemas.openxmlformats.org/drawingml/2006/main">
              <a:ext uri="{FF2B5EF4-FFF2-40B4-BE49-F238E27FC236}">
                <a16:creationId xmlns:a16="http://schemas.microsoft.com/office/drawing/2014/main" id="{81279628-A7AE-4BDC-895D-802C1BF55B1D}"/>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Điểm phạt âm xếp hạng phần thiếu dữ liệu. Đây không phải giá trị EE.</a:t>
            </a:r>
          </a:p>
        </p:txBody>
      </p:sp>
    </p:spTree>
    <p:extLst>
      <p:ext uri="{BB962C8B-B14F-4D97-AF65-F5344CB8AC3E}">
        <p14:creationId xmlns:p14="http://schemas.microsoft.com/office/powerpoint/2010/main" val="292364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7</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e-units">
            <a:extLst xmlns:a="http://schemas.openxmlformats.org/drawingml/2006/main">
              <a:ext uri="{FF2B5EF4-FFF2-40B4-BE49-F238E27FC236}">
                <a16:creationId xmlns:a16="http://schemas.microsoft.com/office/drawing/2014/main" id="{D617F6DC-DC23-4E13-A135-7A74DD1CEF72}"/>
              </a:ext>
            </a:extLst>
          </p:cNvPr>
          <p:cNvSpPr>
            <a:spLocks xmlns:a="http://schemas.openxmlformats.org/drawingml/2006/main" noGrp="1"/>
          </p:cNvSpPr>
          <p:nvPr/>
        </p:nvSpPr>
        <p:spPr>
          <a:xfrm xmlns:a="http://schemas.openxmlformats.org/drawingml/2006/main">
            <a:off x="533400" y="100965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 3486784401.</a:t>
            </a:r>
          </a:p>
        </p:txBody>
      </p:sp>
      <p:graphicFrame>
        <p:nvGraphicFramePr>
          <p:cNvPr id="6" name="EE_summary">
            <a:extLst xmlns:a="http://schemas.openxmlformats.org/drawingml/2006/main">
              <a:ext uri="{FF2B5EF4-FFF2-40B4-BE49-F238E27FC236}">
                <a16:creationId xmlns:a16="http://schemas.microsoft.com/office/drawing/2014/main" id="{1AFA17B2-4D87-43C8-B20E-1FAC9B1A055B}"/>
              </a:ext>
            </a:extLst>
          </p:cNvPr>
          <p:cNvGraphicFramePr/>
          <p:nvPr/>
        </p:nvGraphicFramePr>
        <p:xfrm>
          <a:off xmlns:a="http://schemas.openxmlformats.org/drawingml/2006/main" x="533400" y="1581150"/>
          <a:ext xmlns:a="http://schemas.openxmlformats.org/drawingml/2006/main" cx="8077200" cy="3429000"/>
        </p:xfrm>
        <a:graphic xmlns:a="http://schemas.openxmlformats.org/drawingml/2006/main">
          <a:graphicData uri="http://schemas.openxmlformats.org/drawingml/2006/table">
            <a:tbl>
              <a:tblPr/>
              <a:tblGrid>
                <a:gridCol w="1504950"/>
                <a:gridCol w="2190750"/>
                <a:gridCol w="2190750"/>
                <a:gridCol w="2190750"/>
              </a:tblGrid>
              <a:tr h="489857">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89857">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13,103</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11,834</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11,660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8,973</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10,911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11,813</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7,061</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8,338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11,064</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4,357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5,271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7,989</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4,576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1,992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7,153</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4,278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2,257</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5,907</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ee-legend">
            <a:extLst xmlns:a="http://schemas.openxmlformats.org/drawingml/2006/main">
              <a:ext uri="{FF2B5EF4-FFF2-40B4-BE49-F238E27FC236}">
                <a16:creationId xmlns:a16="http://schemas.microsoft.com/office/drawing/2014/main" id="{F85349A7-AF0C-4C3C-BF81-9937CD2F19A0}"/>
              </a:ext>
            </a:extLst>
          </p:cNvPr>
          <p:cNvSpPr>
            <a:spLocks xmlns:a="http://schemas.openxmlformats.org/drawingml/2006/main" noGrp="1"/>
          </p:cNvSpPr>
          <p:nvPr/>
        </p:nvSpPr>
        <p:spPr>
          <a:xfrm xmlns:a="http://schemas.openxmlformats.org/drawingml/2006/main">
            <a:off x="533400" y="5248275"/>
            <a:ext cx="807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L. EE của nghiệm này chỉ dùng để chẩn đoán.</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Số đỏ: EE cao nhất trong các nghiệm đạt yêu cầu ở cùng mức L.</a:t>
            </a:r>
          </a:p>
        </p:txBody>
      </p:sp>
      <p:sp>
        <p:nvSpPr>
          <p:cNvPr id="8" name="ee-finding">
            <a:extLst xmlns:a="http://schemas.openxmlformats.org/drawingml/2006/main">
              <a:ext uri="{FF2B5EF4-FFF2-40B4-BE49-F238E27FC236}">
                <a16:creationId xmlns:a16="http://schemas.microsoft.com/office/drawing/2014/main" id="{EA51A977-1729-4B88-B742-A0DC234BF7F9}"/>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00000"/>
                </a:solidFill>
                <a:latin typeface="Lato"/>
                <a:ea typeface="Lato"/>
                <a:cs typeface="Lato"/>
              </a:defRPr>
            </a:defPPr>
            <a:lvl1pPr algn="l">
              <a:defRPr sz="1650" b="1">
                <a:solidFill>
                  <a:srgbClr val="C00000"/>
                </a:solidFill>
                <a:latin typeface="Lato"/>
                <a:ea typeface="Lato"/>
                <a:cs typeface="Lato"/>
              </a:defRPr>
            </a:lvl1pPr>
            <a:lvl2pPr algn="l">
              <a:defRPr sz="1650" b="1">
                <a:solidFill>
                  <a:srgbClr val="C00000"/>
                </a:solidFill>
                <a:latin typeface="Lato"/>
                <a:ea typeface="Lato"/>
                <a:cs typeface="Lato"/>
              </a:defRPr>
            </a:lvl2pPr>
            <a:lvl3pPr algn="l">
              <a:defRPr sz="1650" b="1">
                <a:solidFill>
                  <a:srgbClr val="C00000"/>
                </a:solidFill>
                <a:latin typeface="Lato"/>
                <a:ea typeface="Lato"/>
                <a:cs typeface="Lato"/>
              </a:defRPr>
            </a:lvl3pPr>
            <a:lvl4pPr algn="l">
              <a:defRPr sz="1650" b="1">
                <a:solidFill>
                  <a:srgbClr val="C00000"/>
                </a:solidFill>
                <a:latin typeface="Lato"/>
                <a:ea typeface="Lato"/>
                <a:cs typeface="Lato"/>
              </a:defRPr>
            </a:lvl4pPr>
            <a:lvl5pPr algn="l">
              <a:defRPr sz="1650" b="1">
                <a:solidFill>
                  <a:srgbClr val="C00000"/>
                </a:solidFill>
                <a:latin typeface="Lato"/>
                <a:ea typeface="Lato"/>
                <a:cs typeface="Lato"/>
              </a:defRPr>
            </a:lvl5pPr>
            <a:lvl6pPr algn="l">
              <a:defRPr sz="1650" b="1">
                <a:solidFill>
                  <a:srgbClr val="C00000"/>
                </a:solidFill>
                <a:latin typeface="Lato"/>
                <a:ea typeface="Lato"/>
                <a:cs typeface="Lato"/>
              </a:defRPr>
            </a:lvl6pPr>
            <a:lvl7pPr algn="l">
              <a:defRPr sz="1650" b="1">
                <a:solidFill>
                  <a:srgbClr val="C00000"/>
                </a:solidFill>
                <a:latin typeface="Lato"/>
                <a:ea typeface="Lato"/>
                <a:cs typeface="Lato"/>
              </a:defRPr>
            </a:lvl7pPr>
            <a:lvl8pPr algn="l">
              <a:defRPr sz="1650" b="1">
                <a:solidFill>
                  <a:srgbClr val="C00000"/>
                </a:solidFill>
                <a:latin typeface="Lato"/>
                <a:ea typeface="Lato"/>
                <a:cs typeface="Lato"/>
              </a:defRPr>
            </a:lvl8pPr>
            <a:lvl9pPr algn="l">
              <a:defRPr sz="1650" b="1">
                <a:solidFill>
                  <a:srgbClr val="C00000"/>
                </a:solidFill>
                <a:latin typeface="Lato"/>
                <a:ea typeface="Lato"/>
                <a:cs typeface="Lato"/>
              </a:defRPr>
            </a:lvl9pPr>
          </a:lstStyle>
          <a:p xmlns:a="http://schemas.openxmlformats.org/drawingml/2006/main">
            <a:pPr algn="l">
              <a:defRPr sz="1650" b="1">
                <a:solidFill>
                  <a:srgbClr val="C00000"/>
                </a:solidFill>
                <a:latin typeface="Lato"/>
                <a:ea typeface="Lato"/>
                <a:cs typeface="Lato"/>
              </a:defRPr>
            </a:pPr>
            <a:r>
              <a:rPr sz="1650" b="1">
                <a:solidFill>
                  <a:srgbClr val="C00000"/>
                </a:solidFill>
                <a:latin typeface="Lato"/>
                <a:ea typeface="Lato"/>
                <a:cs typeface="Lato"/>
              </a:rPr>
              <a:t>Full IPSO có EE cao nhất ở 5/6 mức L đã thử.</a:t>
            </a:r>
          </a:p>
        </p:txBody>
      </p:sp>
    </p:spTree>
    <p:extLst>
      <p:ext uri="{BB962C8B-B14F-4D97-AF65-F5344CB8AC3E}">
        <p14:creationId xmlns:p14="http://schemas.microsoft.com/office/powerpoint/2010/main" val="2923640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a:xfrm xmlns:a="http://schemas.openxmlformats.org/drawingml/2006/main">
            <a:off x="8572500" y="6572250"/>
            <a:ext cx="342900" cy="171450"/>
          </a:xfrm>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8</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min-units">
            <a:extLst xmlns:a="http://schemas.openxmlformats.org/drawingml/2006/main">
              <a:ext uri="{FF2B5EF4-FFF2-40B4-BE49-F238E27FC236}">
                <a16:creationId xmlns:a16="http://schemas.microsoft.com/office/drawing/2014/main" id="{75079B18-ADED-4FBD-9CC5-7380191E10A5}"/>
              </a:ext>
            </a:extLst>
          </p:cNvPr>
          <p:cNvSpPr>
            <a:spLocks xmlns:a="http://schemas.openxmlformats.org/drawingml/2006/main" noGrp="1"/>
          </p:cNvSpPr>
          <p:nvPr/>
        </p:nvSpPr>
        <p:spPr>
          <a:xfrm xmlns:a="http://schemas.openxmlformats.org/drawingml/2006/main">
            <a:off x="533400" y="1000125"/>
            <a:ext cx="807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sáu lần chạy</a:t>
            </a:r>
          </a:p>
        </p:txBody>
      </p:sp>
      <p:graphicFrame>
        <p:nvGraphicFramePr>
          <p:cNvPr id="6" name="Minimum_data_summary">
            <a:extLst xmlns:a="http://schemas.openxmlformats.org/drawingml/2006/main">
              <a:ext uri="{FF2B5EF4-FFF2-40B4-BE49-F238E27FC236}">
                <a16:creationId xmlns:a16="http://schemas.microsoft.com/office/drawing/2014/main" id="{6BB34351-7511-4846-BA3D-6AF90F9BB7D1}"/>
              </a:ext>
            </a:extLst>
          </p:cNvPr>
          <p:cNvGraphicFramePr/>
          <p:nvPr/>
        </p:nvGraphicFramePr>
        <p:xfrm>
          <a:off xmlns:a="http://schemas.openxmlformats.org/drawingml/2006/main" x="533400" y="1514475"/>
          <a:ext xmlns:a="http://schemas.openxmlformats.org/drawingml/2006/main" cx="8077200" cy="3133725"/>
        </p:xfrm>
        <a:graphic xmlns:a="http://schemas.openxmlformats.org/drawingml/2006/main">
          <a:graphicData uri="http://schemas.openxmlformats.org/drawingml/2006/table">
            <a:tbl>
              <a:tblPr/>
              <a:tblGrid>
                <a:gridCol w="1504950"/>
                <a:gridCol w="2190750"/>
                <a:gridCol w="2190750"/>
                <a:gridCol w="2190750"/>
              </a:tblGrid>
              <a:tr h="447675">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47675">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1,2542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1,1629</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1,6786</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2,0028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2,3376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3,0018</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2,1544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2,5234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4,2001</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min-result">
            <a:extLst xmlns:a="http://schemas.openxmlformats.org/drawingml/2006/main">
              <a:ext uri="{FF2B5EF4-FFF2-40B4-BE49-F238E27FC236}">
                <a16:creationId xmlns:a16="http://schemas.microsoft.com/office/drawing/2014/main" id="{10D2DF9F-0B53-47C1-A144-FF3757452FB4}"/>
              </a:ext>
            </a:extLst>
          </p:cNvPr>
          <p:cNvSpPr>
            <a:spLocks xmlns:a="http://schemas.openxmlformats.org/drawingml/2006/main" noGrp="1"/>
          </p:cNvSpPr>
          <p:nvPr/>
        </p:nvSpPr>
        <p:spPr>
          <a:xfrm xmlns:a="http://schemas.openxmlformats.org/drawingml/2006/main">
            <a:off x="533400" y="4886325"/>
            <a:ext cx="807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Joint đạt 3 mức L ≤ 2 Mbit/user. Hai bản Full đạt cả 6 mức.</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yêu cầu. Giá trị in tròn bằng L có thể còn dư rất nhỏ.</a:t>
            </a:r>
          </a:p>
        </p:txBody>
      </p:sp>
      <p:sp>
        <p:nvSpPr>
          <p:cNvPr id="8" name="alpha-caveat">
            <a:extLst xmlns:a="http://schemas.openxmlformats.org/drawingml/2006/main">
              <a:ext uri="{FF2B5EF4-FFF2-40B4-BE49-F238E27FC236}">
                <a16:creationId xmlns:a16="http://schemas.microsoft.com/office/drawing/2014/main" id="{BFA64F3D-2244-4A34-BF90-1CD92FD04BA7}"/>
              </a:ext>
            </a:extLst>
          </p:cNvPr>
          <p:cNvSpPr>
            <a:spLocks xmlns:a="http://schemas.openxmlformats.org/drawingml/2006/main" noGrp="1"/>
          </p:cNvSpPr>
          <p:nvPr/>
        </p:nvSpPr>
        <p:spPr>
          <a:xfrm xmlns:a="http://schemas.openxmlformats.org/drawingml/2006/main">
            <a:off x="533400" y="555307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00000"/>
                </a:solidFill>
                <a:latin typeface="Lato"/>
                <a:ea typeface="Lato"/>
                <a:cs typeface="Lato"/>
              </a:defRPr>
            </a:defPPr>
            <a:lvl1pPr algn="l">
              <a:defRPr sz="1500" b="1">
                <a:solidFill>
                  <a:srgbClr val="C00000"/>
                </a:solidFill>
                <a:latin typeface="Lato"/>
                <a:ea typeface="Lato"/>
                <a:cs typeface="Lato"/>
              </a:defRPr>
            </a:lvl1pPr>
            <a:lvl2pPr algn="l">
              <a:defRPr sz="1500" b="1">
                <a:solidFill>
                  <a:srgbClr val="C00000"/>
                </a:solidFill>
                <a:latin typeface="Lato"/>
                <a:ea typeface="Lato"/>
                <a:cs typeface="Lato"/>
              </a:defRPr>
            </a:lvl2pPr>
            <a:lvl3pPr algn="l">
              <a:defRPr sz="1500" b="1">
                <a:solidFill>
                  <a:srgbClr val="C00000"/>
                </a:solidFill>
                <a:latin typeface="Lato"/>
                <a:ea typeface="Lato"/>
                <a:cs typeface="Lato"/>
              </a:defRPr>
            </a:lvl3pPr>
            <a:lvl4pPr algn="l">
              <a:defRPr sz="1500" b="1">
                <a:solidFill>
                  <a:srgbClr val="C00000"/>
                </a:solidFill>
                <a:latin typeface="Lato"/>
                <a:ea typeface="Lato"/>
                <a:cs typeface="Lato"/>
              </a:defRPr>
            </a:lvl4pPr>
            <a:lvl5pPr algn="l">
              <a:defRPr sz="1500" b="1">
                <a:solidFill>
                  <a:srgbClr val="C00000"/>
                </a:solidFill>
                <a:latin typeface="Lato"/>
                <a:ea typeface="Lato"/>
                <a:cs typeface="Lato"/>
              </a:defRPr>
            </a:lvl5pPr>
            <a:lvl6pPr algn="l">
              <a:defRPr sz="1500" b="1">
                <a:solidFill>
                  <a:srgbClr val="C00000"/>
                </a:solidFill>
                <a:latin typeface="Lato"/>
                <a:ea typeface="Lato"/>
                <a:cs typeface="Lato"/>
              </a:defRPr>
            </a:lvl6pPr>
            <a:lvl7pPr algn="l">
              <a:defRPr sz="1500" b="1">
                <a:solidFill>
                  <a:srgbClr val="C00000"/>
                </a:solidFill>
                <a:latin typeface="Lato"/>
                <a:ea typeface="Lato"/>
                <a:cs typeface="Lato"/>
              </a:defRPr>
            </a:lvl7pPr>
            <a:lvl8pPr algn="l">
              <a:defRPr sz="1500" b="1">
                <a:solidFill>
                  <a:srgbClr val="C00000"/>
                </a:solidFill>
                <a:latin typeface="Lato"/>
                <a:ea typeface="Lato"/>
                <a:cs typeface="Lato"/>
              </a:defRPr>
            </a:lvl8pPr>
            <a:lvl9pPr algn="l">
              <a:defRPr sz="1500" b="1">
                <a:solidFill>
                  <a:srgbClr val="C00000"/>
                </a:solidFill>
                <a:latin typeface="Lato"/>
                <a:ea typeface="Lato"/>
                <a:cs typeface="Lato"/>
              </a:defRPr>
            </a:lvl9pPr>
          </a:lstStyle>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Trạng thái α với L = 1; 1,5; 2; 3; 4; 4,2 Mbit/user:</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Chưa xác nhận mức nào làm α rời 0,2 vì log không lưu α.</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Ảnh L = 0: hai bản Full gần 0,2; Joint PSO còn lệch.</a:t>
            </a:r>
          </a:p>
        </p:txBody>
      </p:sp>
    </p:spTree>
    <p:extLst>
      <p:ext uri="{BB962C8B-B14F-4D97-AF65-F5344CB8AC3E}">
        <p14:creationId xmlns:p14="http://schemas.microsoft.com/office/powerpoint/2010/main" val="29236401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2026-10-21T18:42:27.4550000Z</dcterms:created>
  <dcterms:modified xsi:type="dcterms:W3CDTF">2026-10-21T18:42:27.4550000Z</dcterms:modified>
</coreProperties>
</file>