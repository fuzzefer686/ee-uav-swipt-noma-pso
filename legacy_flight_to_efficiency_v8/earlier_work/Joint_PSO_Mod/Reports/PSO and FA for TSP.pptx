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16"/>
  </p:notesMasterIdLst>
  <p:handoutMasterIdLst>
    <p:handoutMasterId r:id="rId17"/>
  </p:handoutMasterIdLst>
  <p:sldIdLst>
    <p:sldId id="257" r:id="rId2"/>
    <p:sldId id="261" r:id="rId3"/>
    <p:sldId id="265" r:id="rId4"/>
    <p:sldId id="275" r:id="rId5"/>
    <p:sldId id="276" r:id="rId6"/>
    <p:sldId id="277" r:id="rId7"/>
    <p:sldId id="278" r:id="rId8"/>
    <p:sldId id="279" r:id="rId9"/>
    <p:sldId id="281" r:id="rId10"/>
    <p:sldId id="283" r:id="rId11"/>
    <p:sldId id="280" r:id="rId12"/>
    <p:sldId id="271" r:id="rId13"/>
    <p:sldId id="284"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34" autoAdjust="0"/>
    <p:restoredTop sz="94660"/>
  </p:normalViewPr>
  <p:slideViewPr>
    <p:cSldViewPr snapToGrid="0">
      <p:cViewPr varScale="1">
        <p:scale>
          <a:sx n="127" d="100"/>
          <a:sy n="127" d="100"/>
        </p:scale>
        <p:origin x="95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4/26/26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4/26/26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4/26/26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4/26/26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4/26/26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4/26/26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4/26/26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4/26/26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4/26/26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4/26/26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83" r:id="rId4"/>
    <p:sldLayoutId id="2147483679" r:id="rId5"/>
    <p:sldLayoutId id="2147483680" r:id="rId6"/>
    <p:sldLayoutId id="2147483681" r:id="rId7"/>
    <p:sldLayoutId id="2147483682" r:id="rId8"/>
    <p:sldLayoutId id="2147483678"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2220669"/>
            <a:ext cx="7342482"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dirty="0"/>
              <a:t>Báo cáo về thuật toán PSO, FA trong bài toán TSP và UAV</a:t>
            </a:r>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2</a:t>
            </a:fld>
            <a:endParaRPr lang="en-US"/>
          </a:p>
        </p:txBody>
      </p:sp>
      <p:sp>
        <p:nvSpPr>
          <p:cNvPr id="2" name="Title 1">
            <a:extLst>
              <a:ext uri="{FF2B5EF4-FFF2-40B4-BE49-F238E27FC236}">
                <a16:creationId xmlns:a16="http://schemas.microsoft.com/office/drawing/2014/main" id="{4FB6CB3A-046A-4C56-A02D-DBF672421CAF}"/>
              </a:ext>
            </a:extLst>
          </p:cNvPr>
          <p:cNvSpPr>
            <a:spLocks noGrp="1"/>
          </p:cNvSpPr>
          <p:nvPr>
            <p:ph type="title"/>
          </p:nvPr>
        </p:nvSpPr>
        <p:spPr>
          <a:xfrm>
            <a:off x="254052" y="112543"/>
            <a:ext cx="8635896" cy="436098"/>
          </a:xfrm>
          <a:prstGeom prst="rect">
            <a:avLst/>
          </a:prstGeom>
        </p:spPr>
        <p:txBody>
          <a:bodyPr/>
          <a:lstStyle/>
          <a:p>
            <a:r>
              <a:rPr lang="en-US"/>
              <a:t>1. Bài toán TSP</a:t>
            </a:r>
          </a:p>
        </p:txBody>
      </p:sp>
      <p:sp>
        <p:nvSpPr>
          <p:cNvPr id="6" name="TextBox 5">
            <a:extLst>
              <a:ext uri="{FF2B5EF4-FFF2-40B4-BE49-F238E27FC236}">
                <a16:creationId xmlns:a16="http://schemas.microsoft.com/office/drawing/2014/main" id="{AA88A196-A592-B508-11DC-22E3D407A59B}"/>
              </a:ext>
            </a:extLst>
          </p:cNvPr>
          <p:cNvSpPr txBox="1"/>
          <p:nvPr/>
        </p:nvSpPr>
        <p:spPr>
          <a:xfrm>
            <a:off x="517490" y="1256044"/>
            <a:ext cx="8109019" cy="2862322"/>
          </a:xfrm>
          <a:prstGeom prst="rect">
            <a:avLst/>
          </a:prstGeom>
          <a:noFill/>
        </p:spPr>
        <p:txBody>
          <a:bodyPr wrap="square" rtlCol="0">
            <a:spAutoFit/>
          </a:bodyPr>
          <a:lstStyle/>
          <a:p>
            <a:pPr marL="285750" indent="-285750">
              <a:buFont typeface="Arial" panose="020B0604020202020204" pitchFamily="34" charset="0"/>
              <a:buChar char="•"/>
            </a:pPr>
            <a:r>
              <a:rPr lang="vi-VN" b="1"/>
              <a:t>Cho một danh sách các thành phố và khoảng cách giữa mỗi cặp thành phố. Tìm chu trình (đường đi khép kín) ngắn nhất sao cho đi qua mỗi thành phố đúng một lần và quay trở lại thành phố xuất phát.</a:t>
            </a:r>
          </a:p>
          <a:p>
            <a:pPr marL="285750" indent="-285750">
              <a:buFont typeface="Arial" panose="020B0604020202020204" pitchFamily="34" charset="0"/>
              <a:buChar char="•"/>
            </a:pPr>
            <a:endParaRPr lang="en-VN" b="1"/>
          </a:p>
          <a:p>
            <a:pPr marL="285750" indent="-285750">
              <a:buFont typeface="Arial" panose="020B0604020202020204" pitchFamily="34" charset="0"/>
              <a:buChar char="•"/>
            </a:pPr>
            <a:r>
              <a:rPr lang="vi-VN"/>
              <a:t>Input: </a:t>
            </a:r>
            <a:r>
              <a:rPr lang="vi-VN" b="1">
                <a:latin typeface="Consolas" panose="020B0609020204030204" pitchFamily="49" charset="0"/>
                <a:cs typeface="Consolas" panose="020B0609020204030204" pitchFamily="49" charset="0"/>
              </a:rPr>
              <a:t>cities - M</a:t>
            </a:r>
            <a:r>
              <a:rPr lang="vi-VN"/>
              <a:t>a trận khoảng cách</a:t>
            </a:r>
            <a:endParaRPr lang="vi-VN" b="1">
              <a:latin typeface="Consolas" panose="020B0609020204030204" pitchFamily="49" charset="0"/>
              <a:cs typeface="Consolas" panose="020B0609020204030204" pitchFamily="49" charset="0"/>
            </a:endParaRPr>
          </a:p>
          <a:p>
            <a:pPr marL="285750" indent="-285750">
              <a:buFont typeface="Arial" panose="020B0604020202020204" pitchFamily="34" charset="0"/>
              <a:buChar char="•"/>
            </a:pPr>
            <a:endParaRPr lang="vi-VN">
              <a:latin typeface="Consolas" panose="020B0609020204030204" pitchFamily="49" charset="0"/>
              <a:cs typeface="Consolas" panose="020B0609020204030204" pitchFamily="49" charset="0"/>
            </a:endParaRPr>
          </a:p>
          <a:p>
            <a:pPr marL="285750" indent="-285750">
              <a:buFont typeface="Arial" panose="020B0604020202020204" pitchFamily="34" charset="0"/>
              <a:buChar char="•"/>
            </a:pPr>
            <a:r>
              <a:rPr lang="vi-VN">
                <a:cs typeface="Consolas" panose="020B0609020204030204" pitchFamily="49" charset="0"/>
              </a:rPr>
              <a:t>Output</a:t>
            </a:r>
            <a:r>
              <a:rPr lang="vi-VN">
                <a:latin typeface="Consolas" panose="020B0609020204030204" pitchFamily="49" charset="0"/>
                <a:cs typeface="Consolas" panose="020B0609020204030204" pitchFamily="49" charset="0"/>
              </a:rPr>
              <a:t>:</a:t>
            </a:r>
            <a:r>
              <a:rPr lang="vi-VN" b="1">
                <a:latin typeface="Consolas" panose="020B0609020204030204" pitchFamily="49" charset="0"/>
                <a:cs typeface="Consolas" panose="020B0609020204030204" pitchFamily="49" charset="0"/>
              </a:rPr>
              <a:t>best_tour – </a:t>
            </a:r>
            <a:r>
              <a:rPr lang="vi-VN">
                <a:latin typeface="Consolas" panose="020B0609020204030204" pitchFamily="49" charset="0"/>
                <a:cs typeface="Consolas" panose="020B0609020204030204" pitchFamily="49" charset="0"/>
              </a:rPr>
              <a:t>C</a:t>
            </a:r>
            <a:r>
              <a:rPr lang="vi-VN">
                <a:cs typeface="Consolas" panose="020B0609020204030204" pitchFamily="49" charset="0"/>
              </a:rPr>
              <a:t>hu trình tối ưu ( S = [1,4,5,2,3] )</a:t>
            </a:r>
          </a:p>
          <a:p>
            <a:pPr marL="285750" indent="-285750">
              <a:buFont typeface="Arial" panose="020B0604020202020204" pitchFamily="34" charset="0"/>
              <a:buChar char="•"/>
            </a:pPr>
            <a:endParaRPr lang="vi-VN" b="1">
              <a:latin typeface="Consolas" panose="020B0609020204030204" pitchFamily="49" charset="0"/>
              <a:cs typeface="Consolas" panose="020B0609020204030204" pitchFamily="49" charset="0"/>
            </a:endParaRPr>
          </a:p>
          <a:p>
            <a:pPr marL="285750" indent="-285750">
              <a:buFont typeface="Arial" panose="020B0604020202020204" pitchFamily="34" charset="0"/>
              <a:buChar char="•"/>
            </a:pPr>
            <a:endParaRPr lang="vi-VN">
              <a:cs typeface="Consolas" panose="020B0609020204030204" pitchFamily="49" charset="0"/>
            </a:endParaRPr>
          </a:p>
          <a:p>
            <a:pPr marL="285750" indent="-285750">
              <a:buFont typeface="Arial" panose="020B0604020202020204" pitchFamily="34" charset="0"/>
              <a:buChar char="•"/>
            </a:pPr>
            <a:r>
              <a:rPr lang="vi-VN">
                <a:cs typeface="Consolas" panose="020B0609020204030204" pitchFamily="49" charset="0"/>
              </a:rPr>
              <a:t>Phương pháp giải: PSO &amp; FA + 2-opt</a:t>
            </a:r>
          </a:p>
        </p:txBody>
      </p:sp>
    </p:spTree>
    <p:extLst>
      <p:ext uri="{BB962C8B-B14F-4D97-AF65-F5344CB8AC3E}">
        <p14:creationId xmlns:p14="http://schemas.microsoft.com/office/powerpoint/2010/main" val="64084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3</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a:t>1. Bài toán TSP</a:t>
            </a:r>
          </a:p>
        </p:txBody>
      </p:sp>
      <p:sp>
        <p:nvSpPr>
          <p:cNvPr id="15" name="Content Placeholder 14">
            <a:extLst>
              <a:ext uri="{FF2B5EF4-FFF2-40B4-BE49-F238E27FC236}">
                <a16:creationId xmlns:a16="http://schemas.microsoft.com/office/drawing/2014/main" id="{346DDE9E-23DE-180C-6F28-0A909AABC19C}"/>
              </a:ext>
            </a:extLst>
          </p:cNvPr>
          <p:cNvSpPr>
            <a:spLocks noGrp="1"/>
          </p:cNvSpPr>
          <p:nvPr>
            <p:ph sz="quarter" idx="13"/>
          </p:nvPr>
        </p:nvSpPr>
        <p:spPr>
          <a:xfrm>
            <a:off x="250683" y="899542"/>
            <a:ext cx="8674100" cy="5303393"/>
          </a:xfrm>
        </p:spPr>
        <p:txBody>
          <a:bodyPr/>
          <a:lstStyle/>
          <a:p>
            <a:r>
              <a:rPr lang="en-VN"/>
              <a:t>Ý tưởng chính:</a:t>
            </a:r>
          </a:p>
          <a:p>
            <a:pPr lvl="1"/>
            <a:r>
              <a:rPr lang="en-VN"/>
              <a:t>Lấy ví dụ về PSO, công thức gốc có dạng:</a:t>
            </a:r>
          </a:p>
          <a:p>
            <a:pPr lvl="1"/>
            <a:endParaRPr lang="en-VN"/>
          </a:p>
          <a:p>
            <a:pPr lvl="1"/>
            <a:endParaRPr lang="en-VN"/>
          </a:p>
          <a:p>
            <a:pPr lvl="1"/>
            <a:endParaRPr lang="en-VN"/>
          </a:p>
          <a:p>
            <a:pPr lvl="1"/>
            <a:r>
              <a:rPr lang="en-VN" sz="1800"/>
              <a:t>Vấn đề: Trong bài toán tsp, Pbest,Gbest là một hoán vị, xi là hoán vị đang xét</a:t>
            </a:r>
          </a:p>
          <a:p>
            <a:pPr lvl="2"/>
            <a:r>
              <a:rPr lang="en-US" sz="1400"/>
              <a:t>pbest = [2, 0, 3, 1, 4] </a:t>
            </a:r>
          </a:p>
          <a:p>
            <a:pPr lvl="2"/>
            <a:r>
              <a:rPr lang="en-US" sz="1400"/>
              <a:t>position = [0, 1, 2, 3, 4] </a:t>
            </a:r>
          </a:p>
          <a:p>
            <a:pPr lvl="2"/>
            <a:r>
              <a:rPr lang="en-US" sz="1400"/>
              <a:t>pbest - position = ???   -&gt; </a:t>
            </a:r>
            <a:r>
              <a:rPr lang="en-VN" sz="1400"/>
              <a:t> </a:t>
            </a:r>
            <a:r>
              <a:rPr lang="en-US" sz="1400"/>
              <a:t>Phép trừ không có nghĩa!</a:t>
            </a:r>
            <a:endParaRPr lang="en-VN" sz="1400"/>
          </a:p>
          <a:p>
            <a:pPr lvl="2">
              <a:buFont typeface="Wingdings" pitchFamily="2" charset="2"/>
              <a:buChar char="è"/>
            </a:pPr>
            <a:r>
              <a:rPr lang="en-VN" sz="1800"/>
              <a:t>Cần phải định nghĩa lại phép trừ  </a:t>
            </a:r>
            <a:r>
              <a:rPr lang="en-VN" sz="1800">
                <a:latin typeface="Consolas" panose="020B0609020204030204" pitchFamily="49" charset="0"/>
                <a:cs typeface="Consolas" panose="020B0609020204030204" pitchFamily="49" charset="0"/>
              </a:rPr>
              <a:t>Pbest – xi </a:t>
            </a:r>
            <a:r>
              <a:rPr lang="en-VN" sz="1800">
                <a:latin typeface="Arial" panose="020B0604020202020204" pitchFamily="34" charset="0"/>
                <a:cs typeface="Arial" panose="020B0604020202020204" pitchFamily="34" charset="0"/>
              </a:rPr>
              <a:t>và</a:t>
            </a:r>
            <a:r>
              <a:rPr lang="en-VN" sz="1800">
                <a:latin typeface="Consolas" panose="020B0609020204030204" pitchFamily="49" charset="0"/>
                <a:cs typeface="Consolas" panose="020B0609020204030204" pitchFamily="49" charset="0"/>
              </a:rPr>
              <a:t> Gbest - xi </a:t>
            </a:r>
            <a:r>
              <a:rPr lang="en-VN" sz="1800">
                <a:latin typeface="Arial" panose="020B0604020202020204" pitchFamily="34" charset="0"/>
                <a:cs typeface="Arial" panose="020B0604020202020204" pitchFamily="34" charset="0"/>
              </a:rPr>
              <a:t>và phép nhân vô hướng</a:t>
            </a:r>
            <a:r>
              <a:rPr lang="en-VN" sz="1800">
                <a:latin typeface="Consolas" panose="020B0609020204030204" pitchFamily="49" charset="0"/>
                <a:cs typeface="Consolas" panose="020B0609020204030204" pitchFamily="49" charset="0"/>
              </a:rPr>
              <a:t> W*vi .</a:t>
            </a:r>
          </a:p>
          <a:p>
            <a:pPr marL="457200" lvl="1" indent="0">
              <a:buNone/>
            </a:pPr>
            <a:r>
              <a:rPr lang="en-VN"/>
              <a:t>3 phép toán mới ( ý tưởng từ 2-opt )</a:t>
            </a:r>
          </a:p>
          <a:p>
            <a:pPr lvl="2"/>
            <a:r>
              <a:rPr lang="en-VN"/>
              <a:t>Trừ 2 hoán vị</a:t>
            </a:r>
          </a:p>
          <a:p>
            <a:pPr lvl="2"/>
            <a:r>
              <a:rPr lang="en-VN"/>
              <a:t>Nhân vô hướng</a:t>
            </a:r>
          </a:p>
          <a:p>
            <a:pPr lvl="2"/>
            <a:r>
              <a:rPr lang="en-VN"/>
              <a:t>Cộng hoán vị</a:t>
            </a:r>
          </a:p>
          <a:p>
            <a:pPr lvl="2">
              <a:buFont typeface="Wingdings" pitchFamily="2" charset="2"/>
              <a:buChar char="è"/>
            </a:pPr>
            <a:endParaRPr lang="en-VN" sz="1800">
              <a:latin typeface="Consolas" panose="020B0609020204030204" pitchFamily="49" charset="0"/>
              <a:cs typeface="Consolas" panose="020B0609020204030204" pitchFamily="49" charset="0"/>
            </a:endParaRPr>
          </a:p>
          <a:p>
            <a:pPr marL="914400" lvl="2" indent="0">
              <a:buNone/>
            </a:pPr>
            <a:endParaRPr lang="en-VN" sz="1800">
              <a:latin typeface="Consolas" panose="020B0609020204030204" pitchFamily="49" charset="0"/>
              <a:cs typeface="Consolas" panose="020B0609020204030204" pitchFamily="49" charset="0"/>
            </a:endParaRPr>
          </a:p>
        </p:txBody>
      </p:sp>
      <p:pic>
        <p:nvPicPr>
          <p:cNvPr id="1038" name="Picture 14" descr="metaheuristics - How to interpret velocity computation in Particle Swarm  Optimization? - Operations Research Stack Exchange">
            <a:extLst>
              <a:ext uri="{FF2B5EF4-FFF2-40B4-BE49-F238E27FC236}">
                <a16:creationId xmlns:a16="http://schemas.microsoft.com/office/drawing/2014/main" id="{5AD2930D-1F23-CDC5-39A6-234BA21082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8367"/>
          <a:stretch>
            <a:fillRect/>
          </a:stretch>
        </p:blipFill>
        <p:spPr bwMode="auto">
          <a:xfrm>
            <a:off x="1860550" y="1923716"/>
            <a:ext cx="5422900" cy="678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364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069E4-E974-481E-23D1-53643567C9C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6479A8-0786-036E-5E19-7AC06842A95E}"/>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3" name="Title 2">
            <a:extLst>
              <a:ext uri="{FF2B5EF4-FFF2-40B4-BE49-F238E27FC236}">
                <a16:creationId xmlns:a16="http://schemas.microsoft.com/office/drawing/2014/main" id="{C6F74F4D-A092-BF4F-59A8-D09BC9233ACC}"/>
              </a:ext>
            </a:extLst>
          </p:cNvPr>
          <p:cNvSpPr>
            <a:spLocks noGrp="1"/>
          </p:cNvSpPr>
          <p:nvPr>
            <p:ph type="title"/>
          </p:nvPr>
        </p:nvSpPr>
        <p:spPr/>
        <p:txBody>
          <a:bodyPr/>
          <a:lstStyle/>
          <a:p>
            <a:r>
              <a:rPr lang="en-US"/>
              <a:t>1. Bài toán TSP</a:t>
            </a:r>
          </a:p>
        </p:txBody>
      </p:sp>
      <p:sp>
        <p:nvSpPr>
          <p:cNvPr id="15" name="Content Placeholder 14">
            <a:extLst>
              <a:ext uri="{FF2B5EF4-FFF2-40B4-BE49-F238E27FC236}">
                <a16:creationId xmlns:a16="http://schemas.microsoft.com/office/drawing/2014/main" id="{BAD334A6-BF57-CB52-BAC9-9093086108A3}"/>
              </a:ext>
            </a:extLst>
          </p:cNvPr>
          <p:cNvSpPr>
            <a:spLocks noGrp="1"/>
          </p:cNvSpPr>
          <p:nvPr>
            <p:ph sz="quarter" idx="13"/>
          </p:nvPr>
        </p:nvSpPr>
        <p:spPr>
          <a:xfrm>
            <a:off x="250683" y="899542"/>
            <a:ext cx="8674100" cy="5303393"/>
          </a:xfrm>
        </p:spPr>
        <p:txBody>
          <a:bodyPr/>
          <a:lstStyle/>
          <a:p>
            <a:r>
              <a:rPr lang="en-VN"/>
              <a:t>Ý tưởng chính:</a:t>
            </a:r>
          </a:p>
          <a:p>
            <a:pPr lvl="1"/>
            <a:r>
              <a:rPr lang="en-VN"/>
              <a:t>3 phép toán mới:</a:t>
            </a:r>
          </a:p>
          <a:p>
            <a:pPr lvl="1"/>
            <a:r>
              <a:rPr lang="en-VN"/>
              <a:t>Trừ 2 hoán vị (swap_sequence)</a:t>
            </a:r>
            <a:r>
              <a:rPr lang="en-VN" sz="1800">
                <a:latin typeface="Consolas" panose="020B0609020204030204" pitchFamily="49" charset="0"/>
                <a:cs typeface="Consolas" panose="020B0609020204030204" pitchFamily="49" charset="0"/>
              </a:rPr>
              <a:t>:</a:t>
            </a:r>
          </a:p>
          <a:p>
            <a:pPr marL="1371600" lvl="3" indent="0">
              <a:buNone/>
            </a:pPr>
            <a:r>
              <a:rPr lang="en-US"/>
              <a:t>B = [0, 1, 2, 3, 4] (position hiện tại) </a:t>
            </a:r>
          </a:p>
          <a:p>
            <a:pPr marL="1371600" lvl="3" indent="0">
              <a:buNone/>
            </a:pPr>
            <a:r>
              <a:rPr lang="en-US"/>
              <a:t>A = [2, 0, 3, 1, 4] (pbest muốn tiến tới) </a:t>
            </a:r>
          </a:p>
          <a:p>
            <a:pPr marL="1371600" lvl="3" indent="0">
              <a:buNone/>
            </a:pPr>
            <a:r>
              <a:rPr lang="en-US">
                <a:latin typeface="Consolas" panose="020B0609020204030204" pitchFamily="49" charset="0"/>
                <a:cs typeface="Consolas" panose="020B0609020204030204" pitchFamily="49" charset="0"/>
              </a:rPr>
              <a:t>A – B = [(0,2), (1,2), (2,3)]</a:t>
            </a:r>
            <a:r>
              <a:rPr lang="en-US"/>
              <a:t> </a:t>
            </a:r>
          </a:p>
          <a:p>
            <a:pPr marL="1371600" lvl="3" indent="0">
              <a:buNone/>
            </a:pPr>
            <a:r>
              <a:rPr lang="en-US"/>
              <a:t>Mục tiêu: tìm các swap để biến B → A</a:t>
            </a:r>
            <a:endParaRPr lang="en-US">
              <a:latin typeface="Consolas" panose="020B0609020204030204" pitchFamily="49" charset="0"/>
              <a:cs typeface="Consolas" panose="020B0609020204030204" pitchFamily="49" charset="0"/>
            </a:endParaRPr>
          </a:p>
          <a:p>
            <a:pPr marL="914400" lvl="2" indent="0">
              <a:buNone/>
            </a:pPr>
            <a:r>
              <a:rPr lang="en-US">
                <a:latin typeface="Arial" panose="020B0604020202020204" pitchFamily="34" charset="0"/>
                <a:cs typeface="Arial" panose="020B0604020202020204" pitchFamily="34" charset="0"/>
              </a:rPr>
              <a:t>Pseudocode: </a:t>
            </a:r>
          </a:p>
        </p:txBody>
      </p:sp>
      <p:pic>
        <p:nvPicPr>
          <p:cNvPr id="5" name="Picture 4">
            <a:extLst>
              <a:ext uri="{FF2B5EF4-FFF2-40B4-BE49-F238E27FC236}">
                <a16:creationId xmlns:a16="http://schemas.microsoft.com/office/drawing/2014/main" id="{3DB86036-CC99-F782-3DF7-6277540253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0333" y="3885949"/>
            <a:ext cx="3327400" cy="1600200"/>
          </a:xfrm>
          <a:prstGeom prst="rect">
            <a:avLst/>
          </a:prstGeom>
        </p:spPr>
      </p:pic>
    </p:spTree>
    <p:extLst>
      <p:ext uri="{BB962C8B-B14F-4D97-AF65-F5344CB8AC3E}">
        <p14:creationId xmlns:p14="http://schemas.microsoft.com/office/powerpoint/2010/main" val="991687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7C5BA-7D97-373D-8EAF-1D7D8758F80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9E282C-595E-4D6F-49B9-D99AD219DFF8}"/>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3" name="Title 2">
            <a:extLst>
              <a:ext uri="{FF2B5EF4-FFF2-40B4-BE49-F238E27FC236}">
                <a16:creationId xmlns:a16="http://schemas.microsoft.com/office/drawing/2014/main" id="{EA0DC847-3C2A-58C9-63CF-D91A52E3002E}"/>
              </a:ext>
            </a:extLst>
          </p:cNvPr>
          <p:cNvSpPr>
            <a:spLocks noGrp="1"/>
          </p:cNvSpPr>
          <p:nvPr>
            <p:ph type="title"/>
          </p:nvPr>
        </p:nvSpPr>
        <p:spPr/>
        <p:txBody>
          <a:bodyPr/>
          <a:lstStyle/>
          <a:p>
            <a:r>
              <a:rPr lang="en-US"/>
              <a:t>1. Bài toán TSP</a:t>
            </a:r>
          </a:p>
        </p:txBody>
      </p:sp>
      <p:sp>
        <p:nvSpPr>
          <p:cNvPr id="15" name="Content Placeholder 14">
            <a:extLst>
              <a:ext uri="{FF2B5EF4-FFF2-40B4-BE49-F238E27FC236}">
                <a16:creationId xmlns:a16="http://schemas.microsoft.com/office/drawing/2014/main" id="{8213C897-C73C-0D23-2CAA-42011D61A6DD}"/>
              </a:ext>
            </a:extLst>
          </p:cNvPr>
          <p:cNvSpPr>
            <a:spLocks noGrp="1"/>
          </p:cNvSpPr>
          <p:nvPr>
            <p:ph sz="quarter" idx="13"/>
          </p:nvPr>
        </p:nvSpPr>
        <p:spPr>
          <a:xfrm>
            <a:off x="250683" y="899542"/>
            <a:ext cx="8674100" cy="5303393"/>
          </a:xfrm>
        </p:spPr>
        <p:txBody>
          <a:bodyPr/>
          <a:lstStyle/>
          <a:p>
            <a:r>
              <a:rPr lang="en-VN"/>
              <a:t>Ý tưởng chính:</a:t>
            </a:r>
          </a:p>
          <a:p>
            <a:pPr lvl="1"/>
            <a:r>
              <a:rPr lang="en-VN"/>
              <a:t>3 phép toán mới:</a:t>
            </a:r>
          </a:p>
          <a:p>
            <a:pPr lvl="1"/>
            <a:r>
              <a:rPr lang="en-VN"/>
              <a:t>Nhân vô hướng (scale_swap)</a:t>
            </a:r>
            <a:r>
              <a:rPr lang="en-VN" sz="1800">
                <a:latin typeface="Consolas" panose="020B0609020204030204" pitchFamily="49" charset="0"/>
                <a:cs typeface="Consolas" panose="020B0609020204030204" pitchFamily="49" charset="0"/>
              </a:rPr>
              <a:t>:</a:t>
            </a:r>
          </a:p>
          <a:p>
            <a:pPr marL="1371600" lvl="3" indent="0">
              <a:buNone/>
            </a:pPr>
            <a:r>
              <a:rPr lang="en-US">
                <a:latin typeface="Consolas" panose="020B0609020204030204" pitchFamily="49" charset="0"/>
                <a:cs typeface="Consolas" panose="020B0609020204030204" pitchFamily="49" charset="0"/>
              </a:rPr>
              <a:t>w = 0.5 </a:t>
            </a:r>
          </a:p>
          <a:p>
            <a:pPr marL="1371600" lvl="3" indent="0">
              <a:buNone/>
            </a:pPr>
            <a:r>
              <a:rPr lang="en-US">
                <a:latin typeface="Consolas" panose="020B0609020204030204" pitchFamily="49" charset="0"/>
                <a:cs typeface="Consolas" panose="020B0609020204030204" pitchFamily="49" charset="0"/>
              </a:rPr>
              <a:t>velocity = [(0,2), (1,2), (2,3), (0,4), (1,3)] </a:t>
            </a:r>
          </a:p>
          <a:p>
            <a:pPr marL="1371600" lvl="3" indent="0">
              <a:buNone/>
            </a:pPr>
            <a:r>
              <a:rPr lang="en-US">
                <a:latin typeface="Consolas" panose="020B0609020204030204" pitchFamily="49" charset="0"/>
                <a:cs typeface="Consolas" panose="020B0609020204030204" pitchFamily="49" charset="0"/>
              </a:rPr>
              <a:t>w × velocity = [(0,2), (1,2)]</a:t>
            </a:r>
          </a:p>
          <a:p>
            <a:pPr marL="1371600" lvl="3" indent="0">
              <a:buNone/>
            </a:pPr>
            <a:r>
              <a:rPr lang="en-US"/>
              <a:t>Mục tiêu: Giữ lại 50% = 2-3 swap đầu</a:t>
            </a:r>
            <a:endParaRPr lang="en-US">
              <a:latin typeface="Consolas" panose="020B0609020204030204" pitchFamily="49" charset="0"/>
              <a:cs typeface="Consolas" panose="020B0609020204030204" pitchFamily="49" charset="0"/>
            </a:endParaRPr>
          </a:p>
          <a:p>
            <a:pPr marL="914400" lvl="2" indent="0">
              <a:buNone/>
            </a:pPr>
            <a:r>
              <a:rPr lang="en-US">
                <a:latin typeface="Arial" panose="020B0604020202020204" pitchFamily="34" charset="0"/>
                <a:cs typeface="Arial" panose="020B0604020202020204" pitchFamily="34" charset="0"/>
              </a:rPr>
              <a:t>Pseudocode: </a:t>
            </a:r>
          </a:p>
        </p:txBody>
      </p:sp>
      <p:pic>
        <p:nvPicPr>
          <p:cNvPr id="8" name="Picture 7">
            <a:extLst>
              <a:ext uri="{FF2B5EF4-FFF2-40B4-BE49-F238E27FC236}">
                <a16:creationId xmlns:a16="http://schemas.microsoft.com/office/drawing/2014/main" id="{D562C1B2-11B3-7974-1150-DCA589A5BB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3049" y="3792973"/>
            <a:ext cx="3543300" cy="1422400"/>
          </a:xfrm>
          <a:prstGeom prst="rect">
            <a:avLst/>
          </a:prstGeom>
        </p:spPr>
      </p:pic>
    </p:spTree>
    <p:extLst>
      <p:ext uri="{BB962C8B-B14F-4D97-AF65-F5344CB8AC3E}">
        <p14:creationId xmlns:p14="http://schemas.microsoft.com/office/powerpoint/2010/main" val="255315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E0584-F9DF-9129-D9AA-C51EE3309FF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50B9E7-2E33-07B4-5453-6E037C29577C}"/>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3" name="Title 2">
            <a:extLst>
              <a:ext uri="{FF2B5EF4-FFF2-40B4-BE49-F238E27FC236}">
                <a16:creationId xmlns:a16="http://schemas.microsoft.com/office/drawing/2014/main" id="{4821A401-FA58-E353-6B9A-917E5BB33C04}"/>
              </a:ext>
            </a:extLst>
          </p:cNvPr>
          <p:cNvSpPr>
            <a:spLocks noGrp="1"/>
          </p:cNvSpPr>
          <p:nvPr>
            <p:ph type="title"/>
          </p:nvPr>
        </p:nvSpPr>
        <p:spPr/>
        <p:txBody>
          <a:bodyPr/>
          <a:lstStyle/>
          <a:p>
            <a:r>
              <a:rPr lang="en-US"/>
              <a:t>1. Bài toán TSP</a:t>
            </a:r>
          </a:p>
        </p:txBody>
      </p:sp>
      <p:sp>
        <p:nvSpPr>
          <p:cNvPr id="15" name="Content Placeholder 14">
            <a:extLst>
              <a:ext uri="{FF2B5EF4-FFF2-40B4-BE49-F238E27FC236}">
                <a16:creationId xmlns:a16="http://schemas.microsoft.com/office/drawing/2014/main" id="{CC53952E-AA9D-4A12-12BA-C6E8F1298709}"/>
              </a:ext>
            </a:extLst>
          </p:cNvPr>
          <p:cNvSpPr>
            <a:spLocks noGrp="1"/>
          </p:cNvSpPr>
          <p:nvPr>
            <p:ph sz="quarter" idx="13"/>
          </p:nvPr>
        </p:nvSpPr>
        <p:spPr>
          <a:xfrm>
            <a:off x="250683" y="899542"/>
            <a:ext cx="8674100" cy="5303393"/>
          </a:xfrm>
        </p:spPr>
        <p:txBody>
          <a:bodyPr/>
          <a:lstStyle/>
          <a:p>
            <a:r>
              <a:rPr lang="en-VN"/>
              <a:t>Ý tưởng chính:</a:t>
            </a:r>
          </a:p>
          <a:p>
            <a:pPr lvl="1"/>
            <a:r>
              <a:rPr lang="en-VN"/>
              <a:t>3 phép toán mới:</a:t>
            </a:r>
          </a:p>
          <a:p>
            <a:pPr lvl="1"/>
            <a:r>
              <a:rPr lang="en-VN"/>
              <a:t>Cộng hoán vị (apply_swap)</a:t>
            </a:r>
            <a:r>
              <a:rPr lang="en-VN" sz="1800">
                <a:latin typeface="Consolas" panose="020B0609020204030204" pitchFamily="49" charset="0"/>
                <a:cs typeface="Consolas" panose="020B0609020204030204" pitchFamily="49" charset="0"/>
              </a:rPr>
              <a:t>:</a:t>
            </a:r>
          </a:p>
          <a:p>
            <a:pPr marL="1371600" lvl="3" indent="0">
              <a:buNone/>
            </a:pPr>
            <a:r>
              <a:rPr lang="vi-VN">
                <a:latin typeface="Consolas" panose="020B0609020204030204" pitchFamily="49" charset="0"/>
                <a:cs typeface="Consolas" panose="020B0609020204030204" pitchFamily="49" charset="0"/>
              </a:rPr>
              <a:t>position = [0, 1, 2, 3, 4] </a:t>
            </a:r>
          </a:p>
          <a:p>
            <a:pPr marL="1371600" lvl="3" indent="0">
              <a:buNone/>
            </a:pPr>
            <a:r>
              <a:rPr lang="vi-VN">
                <a:latin typeface="Consolas" panose="020B0609020204030204" pitchFamily="49" charset="0"/>
                <a:cs typeface="Consolas" panose="020B0609020204030204" pitchFamily="49" charset="0"/>
              </a:rPr>
              <a:t>velocity = [(0,2), (1,2)] </a:t>
            </a:r>
          </a:p>
          <a:p>
            <a:pPr marL="1371600" lvl="3" indent="0">
              <a:buNone/>
            </a:pPr>
            <a:r>
              <a:rPr lang="vi-VN">
                <a:latin typeface="Consolas" panose="020B0609020204030204" pitchFamily="49" charset="0"/>
                <a:cs typeface="Consolas" panose="020B0609020204030204" pitchFamily="49" charset="0"/>
              </a:rPr>
              <a:t>Step 1: swap(0,2): [2, 1, 0, 3, 4] </a:t>
            </a:r>
          </a:p>
          <a:p>
            <a:pPr marL="1371600" lvl="3" indent="0">
              <a:buNone/>
            </a:pPr>
            <a:r>
              <a:rPr lang="vi-VN">
                <a:latin typeface="Consolas" panose="020B0609020204030204" pitchFamily="49" charset="0"/>
                <a:cs typeface="Consolas" panose="020B0609020204030204" pitchFamily="49" charset="0"/>
              </a:rPr>
              <a:t>Step 2: swap(1,2): [2, 0, 1, 3, 4] </a:t>
            </a:r>
          </a:p>
          <a:p>
            <a:pPr marL="1371600" lvl="3" indent="0">
              <a:buNone/>
            </a:pPr>
            <a:r>
              <a:rPr lang="vi-VN">
                <a:latin typeface="Consolas" panose="020B0609020204030204" pitchFamily="49" charset="0"/>
                <a:cs typeface="Consolas" panose="020B0609020204030204" pitchFamily="49" charset="0"/>
              </a:rPr>
              <a:t>New position = [2, 0, 1, 3, 4]</a:t>
            </a:r>
          </a:p>
          <a:p>
            <a:pPr marL="1371600" lvl="3" indent="0">
              <a:buNone/>
            </a:pPr>
            <a:r>
              <a:rPr lang="en-US">
                <a:latin typeface="Arial" panose="020B0604020202020204" pitchFamily="34" charset="0"/>
                <a:cs typeface="Arial" panose="020B0604020202020204" pitchFamily="34" charset="0"/>
              </a:rPr>
              <a:t>Pseudocode: </a:t>
            </a:r>
          </a:p>
        </p:txBody>
      </p:sp>
      <p:pic>
        <p:nvPicPr>
          <p:cNvPr id="5" name="Picture 4">
            <a:extLst>
              <a:ext uri="{FF2B5EF4-FFF2-40B4-BE49-F238E27FC236}">
                <a16:creationId xmlns:a16="http://schemas.microsoft.com/office/drawing/2014/main" id="{0A4561EB-7A89-125B-EA94-BC9CB1F226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8230" y="4251578"/>
            <a:ext cx="3390900" cy="1295400"/>
          </a:xfrm>
          <a:prstGeom prst="rect">
            <a:avLst/>
          </a:prstGeom>
        </p:spPr>
      </p:pic>
    </p:spTree>
    <p:extLst>
      <p:ext uri="{BB962C8B-B14F-4D97-AF65-F5344CB8AC3E}">
        <p14:creationId xmlns:p14="http://schemas.microsoft.com/office/powerpoint/2010/main" val="1590640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401ED-6230-0332-1814-288CCD115B6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145E83-F8F0-A516-A9EC-B56DE9536DBC}"/>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Title 2">
            <a:extLst>
              <a:ext uri="{FF2B5EF4-FFF2-40B4-BE49-F238E27FC236}">
                <a16:creationId xmlns:a16="http://schemas.microsoft.com/office/drawing/2014/main" id="{7C485E12-2936-ACEC-95CE-9C7653E4766B}"/>
              </a:ext>
            </a:extLst>
          </p:cNvPr>
          <p:cNvSpPr>
            <a:spLocks noGrp="1"/>
          </p:cNvSpPr>
          <p:nvPr>
            <p:ph type="title"/>
          </p:nvPr>
        </p:nvSpPr>
        <p:spPr>
          <a:xfrm>
            <a:off x="235077" y="135888"/>
            <a:ext cx="8673846" cy="451739"/>
          </a:xfrm>
        </p:spPr>
        <p:txBody>
          <a:bodyPr/>
          <a:lstStyle/>
          <a:p>
            <a:r>
              <a:rPr lang="en-US"/>
              <a:t>1. Bài toán TSP</a:t>
            </a:r>
          </a:p>
        </p:txBody>
      </p:sp>
      <p:sp>
        <p:nvSpPr>
          <p:cNvPr id="15" name="Content Placeholder 14">
            <a:extLst>
              <a:ext uri="{FF2B5EF4-FFF2-40B4-BE49-F238E27FC236}">
                <a16:creationId xmlns:a16="http://schemas.microsoft.com/office/drawing/2014/main" id="{EA08B8B3-7DBF-C7D9-0B85-221D4B0707E9}"/>
              </a:ext>
            </a:extLst>
          </p:cNvPr>
          <p:cNvSpPr>
            <a:spLocks noGrp="1"/>
          </p:cNvSpPr>
          <p:nvPr>
            <p:ph sz="quarter" idx="13"/>
          </p:nvPr>
        </p:nvSpPr>
        <p:spPr>
          <a:xfrm>
            <a:off x="250683" y="899542"/>
            <a:ext cx="8674100" cy="5303393"/>
          </a:xfrm>
        </p:spPr>
        <p:txBody>
          <a:bodyPr/>
          <a:lstStyle/>
          <a:p>
            <a:r>
              <a:rPr lang="en-US"/>
              <a:t>Mã hàm cập nhật trạng thái của PSO</a:t>
            </a:r>
            <a:endParaRPr lang="en-US">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624876E-D9AC-E788-247D-4112B41706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6959" y="1523371"/>
            <a:ext cx="6940271" cy="4276329"/>
          </a:xfrm>
          <a:prstGeom prst="rect">
            <a:avLst/>
          </a:prstGeom>
        </p:spPr>
      </p:pic>
    </p:spTree>
    <p:extLst>
      <p:ext uri="{BB962C8B-B14F-4D97-AF65-F5344CB8AC3E}">
        <p14:creationId xmlns:p14="http://schemas.microsoft.com/office/powerpoint/2010/main" val="3404233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3E57F-46FB-B99A-F172-301CF3801DA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9DF7135-85FD-4F3B-1AB6-77093DEB1650}"/>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
        <p:nvSpPr>
          <p:cNvPr id="3" name="Title 2">
            <a:extLst>
              <a:ext uri="{FF2B5EF4-FFF2-40B4-BE49-F238E27FC236}">
                <a16:creationId xmlns:a16="http://schemas.microsoft.com/office/drawing/2014/main" id="{C8575E9B-288D-5E72-581B-B8D2B7F40AEF}"/>
              </a:ext>
            </a:extLst>
          </p:cNvPr>
          <p:cNvSpPr>
            <a:spLocks noGrp="1"/>
          </p:cNvSpPr>
          <p:nvPr>
            <p:ph type="title"/>
          </p:nvPr>
        </p:nvSpPr>
        <p:spPr>
          <a:xfrm>
            <a:off x="235077" y="135888"/>
            <a:ext cx="8673846" cy="451739"/>
          </a:xfrm>
        </p:spPr>
        <p:txBody>
          <a:bodyPr/>
          <a:lstStyle/>
          <a:p>
            <a:r>
              <a:rPr lang="en-US"/>
              <a:t>1. Bài toán TSP</a:t>
            </a:r>
          </a:p>
        </p:txBody>
      </p:sp>
      <p:sp>
        <p:nvSpPr>
          <p:cNvPr id="15" name="Content Placeholder 14">
            <a:extLst>
              <a:ext uri="{FF2B5EF4-FFF2-40B4-BE49-F238E27FC236}">
                <a16:creationId xmlns:a16="http://schemas.microsoft.com/office/drawing/2014/main" id="{DB48D61D-D1A7-D769-4740-B394BC6EA19C}"/>
              </a:ext>
            </a:extLst>
          </p:cNvPr>
          <p:cNvSpPr>
            <a:spLocks noGrp="1"/>
          </p:cNvSpPr>
          <p:nvPr>
            <p:ph sz="quarter" idx="13"/>
          </p:nvPr>
        </p:nvSpPr>
        <p:spPr>
          <a:xfrm>
            <a:off x="250683" y="928180"/>
            <a:ext cx="8674100" cy="5303393"/>
          </a:xfrm>
        </p:spPr>
        <p:txBody>
          <a:bodyPr/>
          <a:lstStyle/>
          <a:p>
            <a:r>
              <a:rPr lang="en-US"/>
              <a:t>Kết quả chạy thử với n_cities =12 (OK)</a:t>
            </a:r>
            <a:endParaRPr lang="en-US">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6A464D0A-C9F6-C5F7-64DF-A1D7E598D3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533" y="1770338"/>
            <a:ext cx="7558212" cy="3519344"/>
          </a:xfrm>
          <a:prstGeom prst="rect">
            <a:avLst/>
          </a:prstGeom>
        </p:spPr>
      </p:pic>
    </p:spTree>
    <p:extLst>
      <p:ext uri="{BB962C8B-B14F-4D97-AF65-F5344CB8AC3E}">
        <p14:creationId xmlns:p14="http://schemas.microsoft.com/office/powerpoint/2010/main" val="2147058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84339-2B32-A515-8E14-F8C4F7FDEB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8164F8-4C8C-8906-6591-6BA90661060E}"/>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3" name="Title 2">
            <a:extLst>
              <a:ext uri="{FF2B5EF4-FFF2-40B4-BE49-F238E27FC236}">
                <a16:creationId xmlns:a16="http://schemas.microsoft.com/office/drawing/2014/main" id="{F935CC9D-10E5-25B0-9054-D886B103586C}"/>
              </a:ext>
            </a:extLst>
          </p:cNvPr>
          <p:cNvSpPr>
            <a:spLocks noGrp="1"/>
          </p:cNvSpPr>
          <p:nvPr>
            <p:ph type="title"/>
          </p:nvPr>
        </p:nvSpPr>
        <p:spPr>
          <a:xfrm>
            <a:off x="235077" y="135888"/>
            <a:ext cx="8673846" cy="451739"/>
          </a:xfrm>
        </p:spPr>
        <p:txBody>
          <a:bodyPr/>
          <a:lstStyle/>
          <a:p>
            <a:r>
              <a:rPr lang="en-US"/>
              <a:t>1. Bài toán TSP</a:t>
            </a:r>
          </a:p>
        </p:txBody>
      </p:sp>
      <p:sp>
        <p:nvSpPr>
          <p:cNvPr id="15" name="Content Placeholder 14">
            <a:extLst>
              <a:ext uri="{FF2B5EF4-FFF2-40B4-BE49-F238E27FC236}">
                <a16:creationId xmlns:a16="http://schemas.microsoft.com/office/drawing/2014/main" id="{F690273D-A30D-BCDD-28CA-7505BD8F3430}"/>
              </a:ext>
            </a:extLst>
          </p:cNvPr>
          <p:cNvSpPr>
            <a:spLocks noGrp="1"/>
          </p:cNvSpPr>
          <p:nvPr>
            <p:ph sz="quarter" idx="13"/>
          </p:nvPr>
        </p:nvSpPr>
        <p:spPr>
          <a:xfrm>
            <a:off x="250683" y="928180"/>
            <a:ext cx="8674100" cy="5303393"/>
          </a:xfrm>
        </p:spPr>
        <p:txBody>
          <a:bodyPr/>
          <a:lstStyle/>
          <a:p>
            <a:r>
              <a:rPr lang="en-US"/>
              <a:t>Kết quả chạy thử với n_cities = 12 (chưa tối ưu)</a:t>
            </a:r>
            <a:endParaRPr lang="en-US">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E5DF48A-55EB-2C16-D381-7008FA8A26A7}"/>
              </a:ext>
            </a:extLst>
          </p:cNvPr>
          <p:cNvPicPr>
            <a:picLocks noChangeAspect="1"/>
          </p:cNvPicPr>
          <p:nvPr/>
        </p:nvPicPr>
        <p:blipFill>
          <a:blip r:embed="rId2">
            <a:extLst>
              <a:ext uri="{28A0092B-C50C-407E-A947-70E740481C1C}">
                <a14:useLocalDpi xmlns:a14="http://schemas.microsoft.com/office/drawing/2010/main" val="0"/>
              </a:ext>
            </a:extLst>
          </a:blip>
          <a:srcRect r="50938"/>
          <a:stretch>
            <a:fillRect/>
          </a:stretch>
        </p:blipFill>
        <p:spPr>
          <a:xfrm>
            <a:off x="379465" y="1466436"/>
            <a:ext cx="4192535" cy="4076401"/>
          </a:xfrm>
          <a:prstGeom prst="rect">
            <a:avLst/>
          </a:prstGeom>
        </p:spPr>
      </p:pic>
      <p:pic>
        <p:nvPicPr>
          <p:cNvPr id="7" name="Picture 6">
            <a:extLst>
              <a:ext uri="{FF2B5EF4-FFF2-40B4-BE49-F238E27FC236}">
                <a16:creationId xmlns:a16="http://schemas.microsoft.com/office/drawing/2014/main" id="{D90F79C1-B889-4E09-D1B8-1A95B79359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9841" y="1529237"/>
            <a:ext cx="3537102" cy="2739097"/>
          </a:xfrm>
          <a:prstGeom prst="rect">
            <a:avLst/>
          </a:prstGeom>
        </p:spPr>
      </p:pic>
    </p:spTree>
    <p:extLst>
      <p:ext uri="{BB962C8B-B14F-4D97-AF65-F5344CB8AC3E}">
        <p14:creationId xmlns:p14="http://schemas.microsoft.com/office/powerpoint/2010/main" val="3611125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96890-A7CB-A6F0-A1DD-FE4377BCD05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C6C8D5-BCB3-501B-95CB-E3E421F88A93}"/>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Title 2">
            <a:extLst>
              <a:ext uri="{FF2B5EF4-FFF2-40B4-BE49-F238E27FC236}">
                <a16:creationId xmlns:a16="http://schemas.microsoft.com/office/drawing/2014/main" id="{7CD6D839-61E1-9AD7-767C-2622F9ED4BA4}"/>
              </a:ext>
            </a:extLst>
          </p:cNvPr>
          <p:cNvSpPr>
            <a:spLocks noGrp="1"/>
          </p:cNvSpPr>
          <p:nvPr>
            <p:ph type="title"/>
          </p:nvPr>
        </p:nvSpPr>
        <p:spPr>
          <a:xfrm>
            <a:off x="235077" y="135888"/>
            <a:ext cx="8673846" cy="451739"/>
          </a:xfrm>
        </p:spPr>
        <p:txBody>
          <a:bodyPr/>
          <a:lstStyle/>
          <a:p>
            <a:r>
              <a:rPr lang="en-US"/>
              <a:t>1. Bài toán TSP</a:t>
            </a:r>
          </a:p>
        </p:txBody>
      </p:sp>
      <p:sp>
        <p:nvSpPr>
          <p:cNvPr id="15" name="Content Placeholder 14">
            <a:extLst>
              <a:ext uri="{FF2B5EF4-FFF2-40B4-BE49-F238E27FC236}">
                <a16:creationId xmlns:a16="http://schemas.microsoft.com/office/drawing/2014/main" id="{465A9D0A-C331-5B57-7540-B60ED3355695}"/>
              </a:ext>
            </a:extLst>
          </p:cNvPr>
          <p:cNvSpPr>
            <a:spLocks noGrp="1"/>
          </p:cNvSpPr>
          <p:nvPr>
            <p:ph sz="quarter" idx="13"/>
          </p:nvPr>
        </p:nvSpPr>
        <p:spPr>
          <a:xfrm>
            <a:off x="250683" y="928180"/>
            <a:ext cx="8674100" cy="5303393"/>
          </a:xfrm>
        </p:spPr>
        <p:txBody>
          <a:bodyPr/>
          <a:lstStyle/>
          <a:p>
            <a:r>
              <a:rPr lang="en-US"/>
              <a:t>Kết quả chạy PSO 10 lần với n_particles=50 và 200</a:t>
            </a:r>
            <a:endParaRPr lang="en-US">
              <a:latin typeface="Arial" panose="020B0604020202020204" pitchFamily="34" charset="0"/>
              <a:cs typeface="Arial" panose="020B0604020202020204" pitchFamily="34" charset="0"/>
            </a:endParaRPr>
          </a:p>
        </p:txBody>
      </p:sp>
      <p:graphicFrame>
        <p:nvGraphicFramePr>
          <p:cNvPr id="8" name="Table 7">
            <a:extLst>
              <a:ext uri="{FF2B5EF4-FFF2-40B4-BE49-F238E27FC236}">
                <a16:creationId xmlns:a16="http://schemas.microsoft.com/office/drawing/2014/main" id="{FD6DE98C-C12B-CD97-C2FA-59D8D5DF0CA0}"/>
              </a:ext>
            </a:extLst>
          </p:cNvPr>
          <p:cNvGraphicFramePr>
            <a:graphicFrameLocks noGrp="1"/>
          </p:cNvGraphicFramePr>
          <p:nvPr>
            <p:extLst>
              <p:ext uri="{D42A27DB-BD31-4B8C-83A1-F6EECF244321}">
                <p14:modId xmlns:p14="http://schemas.microsoft.com/office/powerpoint/2010/main" val="768371320"/>
              </p:ext>
            </p:extLst>
          </p:nvPr>
        </p:nvGraphicFramePr>
        <p:xfrm>
          <a:off x="250684" y="1397000"/>
          <a:ext cx="8551674" cy="1112520"/>
        </p:xfrm>
        <a:graphic>
          <a:graphicData uri="http://schemas.openxmlformats.org/drawingml/2006/table">
            <a:tbl>
              <a:tblPr firstRow="1" bandRow="1">
                <a:tableStyleId>{5C22544A-7EE6-4342-B048-85BDC9FD1C3A}</a:tableStyleId>
              </a:tblPr>
              <a:tblGrid>
                <a:gridCol w="713958">
                  <a:extLst>
                    <a:ext uri="{9D8B030D-6E8A-4147-A177-3AD203B41FA5}">
                      <a16:colId xmlns:a16="http://schemas.microsoft.com/office/drawing/2014/main" val="2447724762"/>
                    </a:ext>
                  </a:extLst>
                </a:gridCol>
                <a:gridCol w="783771">
                  <a:extLst>
                    <a:ext uri="{9D8B030D-6E8A-4147-A177-3AD203B41FA5}">
                      <a16:colId xmlns:a16="http://schemas.microsoft.com/office/drawing/2014/main" val="3636996968"/>
                    </a:ext>
                  </a:extLst>
                </a:gridCol>
                <a:gridCol w="813917">
                  <a:extLst>
                    <a:ext uri="{9D8B030D-6E8A-4147-A177-3AD203B41FA5}">
                      <a16:colId xmlns:a16="http://schemas.microsoft.com/office/drawing/2014/main" val="5765264"/>
                    </a:ext>
                  </a:extLst>
                </a:gridCol>
                <a:gridCol w="798053">
                  <a:extLst>
                    <a:ext uri="{9D8B030D-6E8A-4147-A177-3AD203B41FA5}">
                      <a16:colId xmlns:a16="http://schemas.microsoft.com/office/drawing/2014/main" val="3556505291"/>
                    </a:ext>
                  </a:extLst>
                </a:gridCol>
                <a:gridCol w="777425">
                  <a:extLst>
                    <a:ext uri="{9D8B030D-6E8A-4147-A177-3AD203B41FA5}">
                      <a16:colId xmlns:a16="http://schemas.microsoft.com/office/drawing/2014/main" val="569384255"/>
                    </a:ext>
                  </a:extLst>
                </a:gridCol>
                <a:gridCol w="777425">
                  <a:extLst>
                    <a:ext uri="{9D8B030D-6E8A-4147-A177-3AD203B41FA5}">
                      <a16:colId xmlns:a16="http://schemas.microsoft.com/office/drawing/2014/main" val="3280822996"/>
                    </a:ext>
                  </a:extLst>
                </a:gridCol>
                <a:gridCol w="777425">
                  <a:extLst>
                    <a:ext uri="{9D8B030D-6E8A-4147-A177-3AD203B41FA5}">
                      <a16:colId xmlns:a16="http://schemas.microsoft.com/office/drawing/2014/main" val="1284753361"/>
                    </a:ext>
                  </a:extLst>
                </a:gridCol>
                <a:gridCol w="777425">
                  <a:extLst>
                    <a:ext uri="{9D8B030D-6E8A-4147-A177-3AD203B41FA5}">
                      <a16:colId xmlns:a16="http://schemas.microsoft.com/office/drawing/2014/main" val="729251598"/>
                    </a:ext>
                  </a:extLst>
                </a:gridCol>
                <a:gridCol w="777425">
                  <a:extLst>
                    <a:ext uri="{9D8B030D-6E8A-4147-A177-3AD203B41FA5}">
                      <a16:colId xmlns:a16="http://schemas.microsoft.com/office/drawing/2014/main" val="1156093712"/>
                    </a:ext>
                  </a:extLst>
                </a:gridCol>
                <a:gridCol w="777425">
                  <a:extLst>
                    <a:ext uri="{9D8B030D-6E8A-4147-A177-3AD203B41FA5}">
                      <a16:colId xmlns:a16="http://schemas.microsoft.com/office/drawing/2014/main" val="877616935"/>
                    </a:ext>
                  </a:extLst>
                </a:gridCol>
                <a:gridCol w="777425">
                  <a:extLst>
                    <a:ext uri="{9D8B030D-6E8A-4147-A177-3AD203B41FA5}">
                      <a16:colId xmlns:a16="http://schemas.microsoft.com/office/drawing/2014/main" val="2837651502"/>
                    </a:ext>
                  </a:extLst>
                </a:gridCol>
              </a:tblGrid>
              <a:tr h="370840">
                <a:tc>
                  <a:txBody>
                    <a:bodyPr/>
                    <a:lstStyle/>
                    <a:p>
                      <a:endParaRPr lang="en-VN" sz="1600"/>
                    </a:p>
                  </a:txBody>
                  <a:tcPr/>
                </a:tc>
                <a:tc>
                  <a:txBody>
                    <a:bodyPr/>
                    <a:lstStyle/>
                    <a:p>
                      <a:r>
                        <a:rPr lang="en-VN" sz="1600"/>
                        <a:t>1</a:t>
                      </a:r>
                    </a:p>
                  </a:txBody>
                  <a:tcPr/>
                </a:tc>
                <a:tc>
                  <a:txBody>
                    <a:bodyPr/>
                    <a:lstStyle/>
                    <a:p>
                      <a:r>
                        <a:rPr lang="en-VN" sz="1600"/>
                        <a:t>2</a:t>
                      </a:r>
                    </a:p>
                  </a:txBody>
                  <a:tcPr/>
                </a:tc>
                <a:tc>
                  <a:txBody>
                    <a:bodyPr/>
                    <a:lstStyle/>
                    <a:p>
                      <a:r>
                        <a:rPr lang="en-VN" sz="1600"/>
                        <a:t>3</a:t>
                      </a:r>
                    </a:p>
                  </a:txBody>
                  <a:tcPr/>
                </a:tc>
                <a:tc>
                  <a:txBody>
                    <a:bodyPr/>
                    <a:lstStyle/>
                    <a:p>
                      <a:r>
                        <a:rPr lang="en-VN" sz="1600"/>
                        <a:t>4</a:t>
                      </a:r>
                    </a:p>
                  </a:txBody>
                  <a:tcPr/>
                </a:tc>
                <a:tc>
                  <a:txBody>
                    <a:bodyPr/>
                    <a:lstStyle/>
                    <a:p>
                      <a:r>
                        <a:rPr lang="en-VN" sz="1600"/>
                        <a:t>5</a:t>
                      </a:r>
                    </a:p>
                  </a:txBody>
                  <a:tcPr/>
                </a:tc>
                <a:tc>
                  <a:txBody>
                    <a:bodyPr/>
                    <a:lstStyle/>
                    <a:p>
                      <a:r>
                        <a:rPr lang="en-VN" sz="1600"/>
                        <a:t>6</a:t>
                      </a:r>
                    </a:p>
                  </a:txBody>
                  <a:tcPr/>
                </a:tc>
                <a:tc>
                  <a:txBody>
                    <a:bodyPr/>
                    <a:lstStyle/>
                    <a:p>
                      <a:r>
                        <a:rPr lang="en-VN" sz="1600"/>
                        <a:t>7</a:t>
                      </a:r>
                    </a:p>
                  </a:txBody>
                  <a:tcPr/>
                </a:tc>
                <a:tc>
                  <a:txBody>
                    <a:bodyPr/>
                    <a:lstStyle/>
                    <a:p>
                      <a:r>
                        <a:rPr lang="en-VN" sz="1600"/>
                        <a:t>8</a:t>
                      </a:r>
                    </a:p>
                  </a:txBody>
                  <a:tcPr/>
                </a:tc>
                <a:tc>
                  <a:txBody>
                    <a:bodyPr/>
                    <a:lstStyle/>
                    <a:p>
                      <a:r>
                        <a:rPr lang="en-VN" sz="1600"/>
                        <a:t>9 </a:t>
                      </a:r>
                    </a:p>
                  </a:txBody>
                  <a:tcPr/>
                </a:tc>
                <a:tc>
                  <a:txBody>
                    <a:bodyPr/>
                    <a:lstStyle/>
                    <a:p>
                      <a:r>
                        <a:rPr lang="en-VN" sz="1600"/>
                        <a:t>10</a:t>
                      </a:r>
                    </a:p>
                  </a:txBody>
                  <a:tcPr/>
                </a:tc>
                <a:extLst>
                  <a:ext uri="{0D108BD9-81ED-4DB2-BD59-A6C34878D82A}">
                    <a16:rowId xmlns:a16="http://schemas.microsoft.com/office/drawing/2014/main" val="60725345"/>
                  </a:ext>
                </a:extLst>
              </a:tr>
              <a:tr h="370840">
                <a:tc>
                  <a:txBody>
                    <a:bodyPr/>
                    <a:lstStyle/>
                    <a:p>
                      <a:r>
                        <a:rPr lang="en-US" sz="1600"/>
                        <a:t>P</a:t>
                      </a:r>
                      <a:r>
                        <a:rPr lang="en-VN" sz="1600"/>
                        <a:t>=50</a:t>
                      </a:r>
                    </a:p>
                  </a:txBody>
                  <a:tcPr/>
                </a:tc>
                <a:tc>
                  <a:txBody>
                    <a:bodyPr/>
                    <a:lstStyle/>
                    <a:p>
                      <a:r>
                        <a:rPr lang="en-VN" sz="1600"/>
                        <a:t>294.46</a:t>
                      </a:r>
                    </a:p>
                  </a:txBody>
                  <a:tcPr/>
                </a:tc>
                <a:tc>
                  <a:txBody>
                    <a:bodyPr/>
                    <a:lstStyle/>
                    <a:p>
                      <a:r>
                        <a:rPr lang="en-VN" sz="1600"/>
                        <a:t>315.71</a:t>
                      </a:r>
                    </a:p>
                  </a:txBody>
                  <a:tcPr/>
                </a:tc>
                <a:tc>
                  <a:txBody>
                    <a:bodyPr/>
                    <a:lstStyle/>
                    <a:p>
                      <a:r>
                        <a:rPr lang="en-VN" sz="1600">
                          <a:solidFill>
                            <a:schemeClr val="tx1"/>
                          </a:solidFill>
                          <a:highlight>
                            <a:srgbClr val="FFFF00"/>
                          </a:highlight>
                        </a:rPr>
                        <a:t>280.88</a:t>
                      </a:r>
                    </a:p>
                  </a:txBody>
                  <a:tcPr/>
                </a:tc>
                <a:tc>
                  <a:txBody>
                    <a:bodyPr/>
                    <a:lstStyle/>
                    <a:p>
                      <a:r>
                        <a:rPr lang="en-VN" sz="1600"/>
                        <a:t>294.4</a:t>
                      </a:r>
                    </a:p>
                  </a:txBody>
                  <a:tcPr/>
                </a:tc>
                <a:tc>
                  <a:txBody>
                    <a:bodyPr/>
                    <a:lstStyle/>
                    <a:p>
                      <a:r>
                        <a:rPr lang="en-VN" sz="1600"/>
                        <a:t>316.68</a:t>
                      </a:r>
                    </a:p>
                  </a:txBody>
                  <a:tcPr/>
                </a:tc>
                <a:tc>
                  <a:txBody>
                    <a:bodyPr/>
                    <a:lstStyle/>
                    <a:p>
                      <a:r>
                        <a:rPr lang="en-VN" sz="1600"/>
                        <a:t>299.45</a:t>
                      </a:r>
                    </a:p>
                  </a:txBody>
                  <a:tcPr/>
                </a:tc>
                <a:tc>
                  <a:txBody>
                    <a:bodyPr/>
                    <a:lstStyle/>
                    <a:p>
                      <a:r>
                        <a:rPr lang="en-VN" sz="1600"/>
                        <a:t>300.62</a:t>
                      </a:r>
                    </a:p>
                  </a:txBody>
                  <a:tcPr/>
                </a:tc>
                <a:tc>
                  <a:txBody>
                    <a:bodyPr/>
                    <a:lstStyle/>
                    <a:p>
                      <a:r>
                        <a:rPr lang="en-VN" sz="1600"/>
                        <a:t>318.55</a:t>
                      </a:r>
                    </a:p>
                  </a:txBody>
                  <a:tcPr/>
                </a:tc>
                <a:tc>
                  <a:txBody>
                    <a:bodyPr/>
                    <a:lstStyle/>
                    <a:p>
                      <a:r>
                        <a:rPr lang="en-VN" sz="1600"/>
                        <a:t>317.04</a:t>
                      </a:r>
                    </a:p>
                  </a:txBody>
                  <a:tcPr/>
                </a:tc>
                <a:tc>
                  <a:txBody>
                    <a:bodyPr/>
                    <a:lstStyle/>
                    <a:p>
                      <a:r>
                        <a:rPr lang="en-VN" sz="1600"/>
                        <a:t>307.53</a:t>
                      </a:r>
                    </a:p>
                  </a:txBody>
                  <a:tcPr/>
                </a:tc>
                <a:extLst>
                  <a:ext uri="{0D108BD9-81ED-4DB2-BD59-A6C34878D82A}">
                    <a16:rowId xmlns:a16="http://schemas.microsoft.com/office/drawing/2014/main" val="923651289"/>
                  </a:ext>
                </a:extLst>
              </a:tr>
              <a:tr h="370840">
                <a:tc>
                  <a:txBody>
                    <a:bodyPr/>
                    <a:lstStyle/>
                    <a:p>
                      <a:r>
                        <a:rPr lang="en-US" sz="1600"/>
                        <a:t>P</a:t>
                      </a:r>
                      <a:r>
                        <a:rPr lang="en-VN" sz="1600"/>
                        <a:t>=200</a:t>
                      </a:r>
                    </a:p>
                  </a:txBody>
                  <a:tcPr/>
                </a:tc>
                <a:tc>
                  <a:txBody>
                    <a:bodyPr/>
                    <a:lstStyle/>
                    <a:p>
                      <a:r>
                        <a:rPr lang="en-VN" sz="1600"/>
                        <a:t>285.40</a:t>
                      </a:r>
                    </a:p>
                  </a:txBody>
                  <a:tcPr/>
                </a:tc>
                <a:tc>
                  <a:txBody>
                    <a:bodyPr/>
                    <a:lstStyle/>
                    <a:p>
                      <a:r>
                        <a:rPr lang="en-VN" sz="1600"/>
                        <a:t>281.93</a:t>
                      </a:r>
                    </a:p>
                  </a:txBody>
                  <a:tcPr/>
                </a:tc>
                <a:tc>
                  <a:txBody>
                    <a:bodyPr/>
                    <a:lstStyle/>
                    <a:p>
                      <a:r>
                        <a:rPr lang="en-VN" sz="1600"/>
                        <a:t>291.21</a:t>
                      </a:r>
                    </a:p>
                  </a:txBody>
                  <a:tcPr/>
                </a:tc>
                <a:tc>
                  <a:txBody>
                    <a:bodyPr/>
                    <a:lstStyle/>
                    <a:p>
                      <a:r>
                        <a:rPr lang="en-VN" sz="1600"/>
                        <a:t>297.12</a:t>
                      </a:r>
                    </a:p>
                  </a:txBody>
                  <a:tcPr/>
                </a:tc>
                <a:tc>
                  <a:txBody>
                    <a:bodyPr/>
                    <a:lstStyle/>
                    <a:p>
                      <a:r>
                        <a:rPr lang="en-VN" sz="1600"/>
                        <a:t>285.99</a:t>
                      </a:r>
                    </a:p>
                  </a:txBody>
                  <a:tcPr/>
                </a:tc>
                <a:tc>
                  <a:txBody>
                    <a:bodyPr/>
                    <a:lstStyle/>
                    <a:p>
                      <a:r>
                        <a:rPr lang="en-VN" sz="1600"/>
                        <a:t>296.06</a:t>
                      </a:r>
                    </a:p>
                  </a:txBody>
                  <a:tcPr/>
                </a:tc>
                <a:tc>
                  <a:txBody>
                    <a:bodyPr/>
                    <a:lstStyle/>
                    <a:p>
                      <a:r>
                        <a:rPr lang="en-VN" sz="1600"/>
                        <a:t>286.53</a:t>
                      </a:r>
                    </a:p>
                  </a:txBody>
                  <a:tcPr/>
                </a:tc>
                <a:tc>
                  <a:txBody>
                    <a:bodyPr/>
                    <a:lstStyle/>
                    <a:p>
                      <a:r>
                        <a:rPr lang="en-VN" sz="1600">
                          <a:solidFill>
                            <a:schemeClr val="tx1"/>
                          </a:solidFill>
                          <a:highlight>
                            <a:srgbClr val="FFFF00"/>
                          </a:highlight>
                        </a:rPr>
                        <a:t>280.88</a:t>
                      </a:r>
                    </a:p>
                  </a:txBody>
                  <a:tcPr/>
                </a:tc>
                <a:tc>
                  <a:txBody>
                    <a:bodyPr/>
                    <a:lstStyle/>
                    <a:p>
                      <a:r>
                        <a:rPr lang="en-VN" sz="1600">
                          <a:highlight>
                            <a:srgbClr val="FFFF00"/>
                          </a:highlight>
                        </a:rPr>
                        <a:t>280.88</a:t>
                      </a:r>
                    </a:p>
                  </a:txBody>
                  <a:tcPr/>
                </a:tc>
                <a:tc>
                  <a:txBody>
                    <a:bodyPr/>
                    <a:lstStyle/>
                    <a:p>
                      <a:r>
                        <a:rPr lang="en-VN" sz="1600"/>
                        <a:t>286.53</a:t>
                      </a:r>
                    </a:p>
                  </a:txBody>
                  <a:tcPr/>
                </a:tc>
                <a:extLst>
                  <a:ext uri="{0D108BD9-81ED-4DB2-BD59-A6C34878D82A}">
                    <a16:rowId xmlns:a16="http://schemas.microsoft.com/office/drawing/2014/main" val="4079824871"/>
                  </a:ext>
                </a:extLst>
              </a:tr>
            </a:tbl>
          </a:graphicData>
        </a:graphic>
      </p:graphicFrame>
      <p:sp>
        <p:nvSpPr>
          <p:cNvPr id="10" name="TextBox 9">
            <a:extLst>
              <a:ext uri="{FF2B5EF4-FFF2-40B4-BE49-F238E27FC236}">
                <a16:creationId xmlns:a16="http://schemas.microsoft.com/office/drawing/2014/main" id="{B97FC0FF-B2CC-6C0E-26A6-C9356D6575A2}"/>
              </a:ext>
            </a:extLst>
          </p:cNvPr>
          <p:cNvSpPr txBox="1"/>
          <p:nvPr/>
        </p:nvSpPr>
        <p:spPr>
          <a:xfrm>
            <a:off x="4972087" y="3049448"/>
            <a:ext cx="4572000" cy="943592"/>
          </a:xfrm>
          <a:prstGeom prst="rect">
            <a:avLst/>
          </a:prstGeom>
          <a:noFill/>
        </p:spPr>
        <p:txBody>
          <a:bodyPr wrap="square">
            <a:spAutoFit/>
          </a:bodyPr>
          <a:lstStyle/>
          <a:p>
            <a:pPr algn="l">
              <a:lnSpc>
                <a:spcPts val="1254"/>
              </a:lnSpc>
              <a:buNone/>
            </a:pPr>
            <a:r>
              <a:rPr lang="en-VN">
                <a:latin typeface="Consolas" panose="020B0609020204030204" pitchFamily="49" charset="0"/>
                <a:cs typeface="Consolas" panose="020B0609020204030204" pitchFamily="49" charset="0"/>
              </a:rPr>
              <a:t>Best tour: </a:t>
            </a:r>
          </a:p>
          <a:p>
            <a:pPr algn="l">
              <a:lnSpc>
                <a:spcPts val="1254"/>
              </a:lnSpc>
              <a:buNone/>
            </a:pPr>
            <a:endParaRPr lang="en-VN">
              <a:latin typeface="Consolas" panose="020B0609020204030204" pitchFamily="49" charset="0"/>
              <a:cs typeface="Consolas" panose="020B0609020204030204" pitchFamily="49" charset="0"/>
            </a:endParaRPr>
          </a:p>
          <a:p>
            <a:pPr algn="l">
              <a:lnSpc>
                <a:spcPts val="1254"/>
              </a:lnSpc>
              <a:buNone/>
            </a:pPr>
            <a:r>
              <a:rPr lang="en-VN" b="0" i="0">
                <a:effectLst/>
                <a:latin typeface="Consolas" panose="020B0609020204030204" pitchFamily="49" charset="0"/>
                <a:cs typeface="Consolas" panose="020B0609020204030204" pitchFamily="49" charset="0"/>
              </a:rPr>
              <a:t>8 9 4 11 2 12 5 3 10 7 6 1</a:t>
            </a:r>
          </a:p>
          <a:p>
            <a:pPr>
              <a:lnSpc>
                <a:spcPts val="1254"/>
              </a:lnSpc>
            </a:pPr>
            <a:r>
              <a:rPr lang="en-VN">
                <a:latin typeface="Consolas" panose="020B0609020204030204" pitchFamily="49" charset="0"/>
                <a:cs typeface="Consolas" panose="020B0609020204030204" pitchFamily="49" charset="0"/>
              </a:rPr>
              <a:t>6 7 10 3 5 12 2 11 4 9 8 1</a:t>
            </a:r>
          </a:p>
          <a:p>
            <a:pPr algn="l">
              <a:lnSpc>
                <a:spcPts val="1254"/>
              </a:lnSpc>
              <a:buNone/>
            </a:pPr>
            <a:endParaRPr lang="en-VN" b="0" i="0">
              <a:effectLst/>
              <a:latin typeface="Consolas" panose="020B0609020204030204" pitchFamily="49" charset="0"/>
              <a:cs typeface="Consolas" panose="020B0609020204030204" pitchFamily="49" charset="0"/>
            </a:endParaRPr>
          </a:p>
        </p:txBody>
      </p:sp>
      <p:graphicFrame>
        <p:nvGraphicFramePr>
          <p:cNvPr id="13" name="Table 12">
            <a:extLst>
              <a:ext uri="{FF2B5EF4-FFF2-40B4-BE49-F238E27FC236}">
                <a16:creationId xmlns:a16="http://schemas.microsoft.com/office/drawing/2014/main" id="{8AA0EC91-A3B9-939E-A478-290FBDE3080C}"/>
              </a:ext>
            </a:extLst>
          </p:cNvPr>
          <p:cNvGraphicFramePr>
            <a:graphicFrameLocks noGrp="1"/>
          </p:cNvGraphicFramePr>
          <p:nvPr>
            <p:extLst>
              <p:ext uri="{D42A27DB-BD31-4B8C-83A1-F6EECF244321}">
                <p14:modId xmlns:p14="http://schemas.microsoft.com/office/powerpoint/2010/main" val="2952341089"/>
              </p:ext>
            </p:extLst>
          </p:nvPr>
        </p:nvGraphicFramePr>
        <p:xfrm>
          <a:off x="250682" y="2639216"/>
          <a:ext cx="3577740" cy="1854200"/>
        </p:xfrm>
        <a:graphic>
          <a:graphicData uri="http://schemas.openxmlformats.org/drawingml/2006/table">
            <a:tbl>
              <a:tblPr firstRow="1" bandRow="1">
                <a:tableStyleId>{5C22544A-7EE6-4342-B048-85BDC9FD1C3A}</a:tableStyleId>
              </a:tblPr>
              <a:tblGrid>
                <a:gridCol w="1192580">
                  <a:extLst>
                    <a:ext uri="{9D8B030D-6E8A-4147-A177-3AD203B41FA5}">
                      <a16:colId xmlns:a16="http://schemas.microsoft.com/office/drawing/2014/main" val="860695702"/>
                    </a:ext>
                  </a:extLst>
                </a:gridCol>
                <a:gridCol w="1192580">
                  <a:extLst>
                    <a:ext uri="{9D8B030D-6E8A-4147-A177-3AD203B41FA5}">
                      <a16:colId xmlns:a16="http://schemas.microsoft.com/office/drawing/2014/main" val="3385894872"/>
                    </a:ext>
                  </a:extLst>
                </a:gridCol>
                <a:gridCol w="1192580">
                  <a:extLst>
                    <a:ext uri="{9D8B030D-6E8A-4147-A177-3AD203B41FA5}">
                      <a16:colId xmlns:a16="http://schemas.microsoft.com/office/drawing/2014/main" val="791425534"/>
                    </a:ext>
                  </a:extLst>
                </a:gridCol>
              </a:tblGrid>
              <a:tr h="370840">
                <a:tc>
                  <a:txBody>
                    <a:bodyPr/>
                    <a:lstStyle/>
                    <a:p>
                      <a:endParaRPr lang="en-VN"/>
                    </a:p>
                  </a:txBody>
                  <a:tcPr/>
                </a:tc>
                <a:tc>
                  <a:txBody>
                    <a:bodyPr/>
                    <a:lstStyle/>
                    <a:p>
                      <a:r>
                        <a:rPr lang="en-VN"/>
                        <a:t>P=50</a:t>
                      </a:r>
                    </a:p>
                  </a:txBody>
                  <a:tcPr/>
                </a:tc>
                <a:tc>
                  <a:txBody>
                    <a:bodyPr/>
                    <a:lstStyle/>
                    <a:p>
                      <a:r>
                        <a:rPr lang="en-VN"/>
                        <a:t>P=200</a:t>
                      </a:r>
                    </a:p>
                  </a:txBody>
                  <a:tcPr/>
                </a:tc>
                <a:extLst>
                  <a:ext uri="{0D108BD9-81ED-4DB2-BD59-A6C34878D82A}">
                    <a16:rowId xmlns:a16="http://schemas.microsoft.com/office/drawing/2014/main" val="3186417125"/>
                  </a:ext>
                </a:extLst>
              </a:tr>
              <a:tr h="370840">
                <a:tc>
                  <a:txBody>
                    <a:bodyPr/>
                    <a:lstStyle/>
                    <a:p>
                      <a:r>
                        <a:rPr lang="en-VN"/>
                        <a:t>Mean</a:t>
                      </a:r>
                    </a:p>
                  </a:txBody>
                  <a:tcPr/>
                </a:tc>
                <a:tc>
                  <a:txBody>
                    <a:bodyPr/>
                    <a:lstStyle/>
                    <a:p>
                      <a:r>
                        <a:rPr lang="en-VN"/>
                        <a:t>304.532</a:t>
                      </a:r>
                    </a:p>
                  </a:txBody>
                  <a:tcPr/>
                </a:tc>
                <a:tc>
                  <a:txBody>
                    <a:bodyPr/>
                    <a:lstStyle/>
                    <a:p>
                      <a:r>
                        <a:rPr lang="en-VN"/>
                        <a:t>287.253</a:t>
                      </a:r>
                    </a:p>
                  </a:txBody>
                  <a:tcPr/>
                </a:tc>
                <a:extLst>
                  <a:ext uri="{0D108BD9-81ED-4DB2-BD59-A6C34878D82A}">
                    <a16:rowId xmlns:a16="http://schemas.microsoft.com/office/drawing/2014/main" val="1295318679"/>
                  </a:ext>
                </a:extLst>
              </a:tr>
              <a:tr h="370840">
                <a:tc>
                  <a:txBody>
                    <a:bodyPr/>
                    <a:lstStyle/>
                    <a:p>
                      <a:r>
                        <a:rPr lang="en-VN"/>
                        <a:t>std</a:t>
                      </a:r>
                    </a:p>
                  </a:txBody>
                  <a:tcPr/>
                </a:tc>
                <a:tc>
                  <a:txBody>
                    <a:bodyPr/>
                    <a:lstStyle/>
                    <a:p>
                      <a:r>
                        <a:rPr lang="en-VN"/>
                        <a:t>12.65</a:t>
                      </a:r>
                    </a:p>
                  </a:txBody>
                  <a:tcPr/>
                </a:tc>
                <a:tc>
                  <a:txBody>
                    <a:bodyPr/>
                    <a:lstStyle/>
                    <a:p>
                      <a:r>
                        <a:rPr lang="en-VN"/>
                        <a:t>5.83</a:t>
                      </a:r>
                    </a:p>
                  </a:txBody>
                  <a:tcPr/>
                </a:tc>
                <a:extLst>
                  <a:ext uri="{0D108BD9-81ED-4DB2-BD59-A6C34878D82A}">
                    <a16:rowId xmlns:a16="http://schemas.microsoft.com/office/drawing/2014/main" val="2874590092"/>
                  </a:ext>
                </a:extLst>
              </a:tr>
              <a:tr h="370840">
                <a:tc>
                  <a:txBody>
                    <a:bodyPr/>
                    <a:lstStyle/>
                    <a:p>
                      <a:r>
                        <a:rPr lang="en-VN"/>
                        <a:t>Min</a:t>
                      </a:r>
                    </a:p>
                  </a:txBody>
                  <a:tcPr/>
                </a:tc>
                <a:tc>
                  <a:txBody>
                    <a:bodyPr/>
                    <a:lstStyle/>
                    <a:p>
                      <a:r>
                        <a:rPr lang="en-VN"/>
                        <a:t>280.88</a:t>
                      </a:r>
                    </a:p>
                  </a:txBody>
                  <a:tcPr/>
                </a:tc>
                <a:tc>
                  <a:txBody>
                    <a:bodyPr/>
                    <a:lstStyle/>
                    <a:p>
                      <a:r>
                        <a:rPr lang="en-VN"/>
                        <a:t>318.55</a:t>
                      </a:r>
                    </a:p>
                  </a:txBody>
                  <a:tcPr/>
                </a:tc>
                <a:extLst>
                  <a:ext uri="{0D108BD9-81ED-4DB2-BD59-A6C34878D82A}">
                    <a16:rowId xmlns:a16="http://schemas.microsoft.com/office/drawing/2014/main" val="1018752215"/>
                  </a:ext>
                </a:extLst>
              </a:tr>
              <a:tr h="370840">
                <a:tc>
                  <a:txBody>
                    <a:bodyPr/>
                    <a:lstStyle/>
                    <a:p>
                      <a:r>
                        <a:rPr lang="en-VN"/>
                        <a:t>Max</a:t>
                      </a:r>
                    </a:p>
                  </a:txBody>
                  <a:tcPr/>
                </a:tc>
                <a:tc>
                  <a:txBody>
                    <a:bodyPr/>
                    <a:lstStyle/>
                    <a:p>
                      <a:r>
                        <a:rPr lang="en-VN"/>
                        <a:t>280.88</a:t>
                      </a:r>
                    </a:p>
                  </a:txBody>
                  <a:tcPr/>
                </a:tc>
                <a:tc>
                  <a:txBody>
                    <a:bodyPr/>
                    <a:lstStyle/>
                    <a:p>
                      <a:r>
                        <a:rPr lang="en-VN"/>
                        <a:t>297.12</a:t>
                      </a:r>
                    </a:p>
                  </a:txBody>
                  <a:tcPr/>
                </a:tc>
                <a:extLst>
                  <a:ext uri="{0D108BD9-81ED-4DB2-BD59-A6C34878D82A}">
                    <a16:rowId xmlns:a16="http://schemas.microsoft.com/office/drawing/2014/main" val="2889331756"/>
                  </a:ext>
                </a:extLst>
              </a:tr>
            </a:tbl>
          </a:graphicData>
        </a:graphic>
      </p:graphicFrame>
      <p:sp>
        <p:nvSpPr>
          <p:cNvPr id="14" name="TextBox 13">
            <a:extLst>
              <a:ext uri="{FF2B5EF4-FFF2-40B4-BE49-F238E27FC236}">
                <a16:creationId xmlns:a16="http://schemas.microsoft.com/office/drawing/2014/main" id="{483E1E2E-0A17-1BDD-0B26-5EDF289BDAB6}"/>
              </a:ext>
            </a:extLst>
          </p:cNvPr>
          <p:cNvSpPr txBox="1"/>
          <p:nvPr/>
        </p:nvSpPr>
        <p:spPr>
          <a:xfrm>
            <a:off x="235077" y="4623112"/>
            <a:ext cx="8130340" cy="1477328"/>
          </a:xfrm>
          <a:prstGeom prst="rect">
            <a:avLst/>
          </a:prstGeom>
          <a:noFill/>
        </p:spPr>
        <p:txBody>
          <a:bodyPr wrap="square" rtlCol="0">
            <a:spAutoFit/>
          </a:bodyPr>
          <a:lstStyle/>
          <a:p>
            <a:r>
              <a:rPr lang="en-VN"/>
              <a:t>Nhận xét: </a:t>
            </a:r>
          </a:p>
          <a:p>
            <a:pPr marL="285750" indent="-285750">
              <a:buFont typeface="Arial" panose="020B0604020202020204" pitchFamily="34" charset="0"/>
              <a:buChar char="•"/>
            </a:pPr>
            <a:r>
              <a:rPr lang="en-VN"/>
              <a:t>ở p=50, thuật toán cho ra độ lệch chuẩn khá cao (12.65), nghĩa là các lần chạy cho</a:t>
            </a:r>
          </a:p>
          <a:p>
            <a:r>
              <a:rPr lang="en-US"/>
              <a:t>k</a:t>
            </a:r>
            <a:r>
              <a:rPr lang="en-VN"/>
              <a:t>ết quả ko dao động mạnh. </a:t>
            </a:r>
          </a:p>
          <a:p>
            <a:pPr marL="285750" indent="-285750">
              <a:buFont typeface="Arial" panose="020B0604020202020204" pitchFamily="34" charset="0"/>
              <a:buChar char="•"/>
            </a:pPr>
            <a:r>
              <a:rPr lang="en-VN"/>
              <a:t>Trong khi đó ở p=200, độ lệch chuẩn giảm tới một nửa (5.83), </a:t>
            </a:r>
            <a:r>
              <a:rPr lang="en-US"/>
              <a:t>kết quả trung bình tốt hơn và đáng tin cậy hơn.</a:t>
            </a:r>
            <a:endParaRPr lang="en-VN"/>
          </a:p>
        </p:txBody>
      </p:sp>
    </p:spTree>
    <p:extLst>
      <p:ext uri="{BB962C8B-B14F-4D97-AF65-F5344CB8AC3E}">
        <p14:creationId xmlns:p14="http://schemas.microsoft.com/office/powerpoint/2010/main" val="1481935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AE5E7-6CDD-E8A1-D98E-3AE5BD9626D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F747F0-3316-01B8-54FF-147535E9D18F}"/>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3" name="Title 2">
            <a:extLst>
              <a:ext uri="{FF2B5EF4-FFF2-40B4-BE49-F238E27FC236}">
                <a16:creationId xmlns:a16="http://schemas.microsoft.com/office/drawing/2014/main" id="{0CBF8BFC-7080-498C-1A10-7632FAE2066D}"/>
              </a:ext>
            </a:extLst>
          </p:cNvPr>
          <p:cNvSpPr>
            <a:spLocks noGrp="1"/>
          </p:cNvSpPr>
          <p:nvPr>
            <p:ph type="title"/>
          </p:nvPr>
        </p:nvSpPr>
        <p:spPr>
          <a:xfrm>
            <a:off x="235077" y="135888"/>
            <a:ext cx="8673846" cy="451739"/>
          </a:xfrm>
        </p:spPr>
        <p:txBody>
          <a:bodyPr/>
          <a:lstStyle/>
          <a:p>
            <a:r>
              <a:rPr lang="en-US"/>
              <a:t>1. Bài toán TSP</a:t>
            </a:r>
          </a:p>
        </p:txBody>
      </p:sp>
      <mc:AlternateContent xmlns:mc="http://schemas.openxmlformats.org/markup-compatibility/2006">
        <mc:Choice xmlns:a14="http://schemas.microsoft.com/office/drawing/2010/main" Requires="a14">
          <p:sp>
            <p:nvSpPr>
              <p:cNvPr id="15" name="Content Placeholder 14">
                <a:extLst>
                  <a:ext uri="{FF2B5EF4-FFF2-40B4-BE49-F238E27FC236}">
                    <a16:creationId xmlns:a16="http://schemas.microsoft.com/office/drawing/2014/main" id="{11B8FC16-2172-474F-69C3-17535AB382E2}"/>
                  </a:ext>
                </a:extLst>
              </p:cNvPr>
              <p:cNvSpPr>
                <a:spLocks noGrp="1"/>
              </p:cNvSpPr>
              <p:nvPr>
                <p:ph sz="quarter" idx="13"/>
              </p:nvPr>
            </p:nvSpPr>
            <p:spPr>
              <a:xfrm>
                <a:off x="250683" y="928180"/>
                <a:ext cx="8674100" cy="5303393"/>
              </a:xfrm>
            </p:spPr>
            <p:txBody>
              <a:bodyPr/>
              <a:lstStyle/>
              <a:p>
                <a:r>
                  <a:rPr lang="en-US"/>
                  <a:t>Thuật toán FA</a:t>
                </a:r>
              </a:p>
              <a:p>
                <a:pPr lvl="1"/>
                <a:r>
                  <a:rPr lang="en-US">
                    <a:latin typeface="Arial" panose="020B0604020202020204" pitchFamily="34" charset="0"/>
                    <a:cs typeface="Arial" panose="020B0604020202020204" pitchFamily="34" charset="0"/>
                  </a:rPr>
                  <a:t>Vấn đề:</a:t>
                </a:r>
              </a:p>
              <a:p>
                <a:pPr lvl="2"/>
                <a:r>
                  <a:rPr lang="en-US">
                    <a:latin typeface="Arial" panose="020B0604020202020204" pitchFamily="34" charset="0"/>
                    <a:cs typeface="Arial" panose="020B0604020202020204" pitchFamily="34" charset="0"/>
                  </a:rPr>
                  <a:t>Công thức của thuật toán FA có chứa </a:t>
                </a:r>
                <a14:m>
                  <m:oMath xmlns:m="http://schemas.openxmlformats.org/officeDocument/2006/math">
                    <m:sSub>
                      <m:sSubPr>
                        <m:ctrlPr>
                          <a:rPr lang="en-US" i="1">
                            <a:latin typeface="Cambria Math" panose="02040503050406030204" pitchFamily="18" charset="0"/>
                            <a:cs typeface="Arial" panose="020B0604020202020204" pitchFamily="34" charset="0"/>
                          </a:rPr>
                        </m:ctrlPr>
                      </m:sSubPr>
                      <m:e>
                        <m:r>
                          <m:rPr>
                            <m:sty m:val="p"/>
                          </m:rPr>
                          <a:rPr lang="en-US" i="1">
                            <a:latin typeface="Cambria Math" panose="02040503050406030204" pitchFamily="18" charset="0"/>
                            <a:cs typeface="Arial" panose="020B0604020202020204" pitchFamily="34" charset="0"/>
                          </a:rPr>
                          <m:t>r</m:t>
                        </m:r>
                      </m:e>
                      <m:sub>
                        <m:r>
                          <m:rPr>
                            <m:sty m:val="p"/>
                          </m:rPr>
                          <a:rPr lang="en-US" i="1">
                            <a:latin typeface="Cambria Math" panose="02040503050406030204" pitchFamily="18" charset="0"/>
                            <a:cs typeface="Arial" panose="020B0604020202020204" pitchFamily="34" charset="0"/>
                          </a:rPr>
                          <m:t>ij</m:t>
                        </m:r>
                      </m:sub>
                    </m:sSub>
                  </m:oMath>
                </a14:m>
                <a:r>
                  <a:rPr lang="en-US">
                    <a:latin typeface="Arial" panose="020B0604020202020204" pitchFamily="34" charset="0"/>
                    <a:cs typeface="Arial" panose="020B0604020202020204" pitchFamily="34" charset="0"/>
                  </a:rPr>
                  <a:t> là khoảng cách của 2 hạt </a:t>
                </a:r>
              </a:p>
              <a:p>
                <a:pPr lvl="2"/>
                <a:r>
                  <a:rPr lang="en-US">
                    <a:latin typeface="Arial" panose="020B0604020202020204" pitchFamily="34" charset="0"/>
                    <a:cs typeface="Arial" panose="020B0604020202020204" pitchFamily="34" charset="0"/>
                  </a:rPr>
                  <a:t>Hệ số ngẫu nhiên</a:t>
                </a:r>
                <a14:m>
                  <m:oMath xmlns:m="http://schemas.openxmlformats.org/officeDocument/2006/math">
                    <m:r>
                      <a:rPr lang="vi-VN" b="0" i="0">
                        <a:latin typeface="Cambria Math" panose="02040503050406030204" pitchFamily="18" charset="0"/>
                        <a:ea typeface="Cambria Math" panose="02040503050406030204" pitchFamily="18" charset="0"/>
                        <a:cs typeface="Arial" panose="020B0604020202020204" pitchFamily="34" charset="0"/>
                      </a:rPr>
                      <m:t> </m:t>
                    </m:r>
                    <m:r>
                      <a:rPr lang="en-US" i="1">
                        <a:latin typeface="Cambria Math" panose="02040503050406030204" pitchFamily="18" charset="0"/>
                        <a:ea typeface="Cambria Math" panose="02040503050406030204" pitchFamily="18" charset="0"/>
                        <a:cs typeface="Arial" panose="020B0604020202020204" pitchFamily="34" charset="0"/>
                      </a:rPr>
                      <m:t>𝛼</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m:t>
                            </m:r>
                          </m:e>
                          <m:sub>
                            <m:r>
                              <m:rPr>
                                <m:sty m:val="p"/>
                              </m:rPr>
                              <a:rPr lang="en-US" i="1">
                                <a:latin typeface="Cambria Math" panose="02040503050406030204" pitchFamily="18" charset="0"/>
                                <a:ea typeface="Cambria Math" panose="02040503050406030204" pitchFamily="18" charset="0"/>
                                <a:cs typeface="Arial" panose="020B0604020202020204" pitchFamily="34" charset="0"/>
                              </a:rPr>
                              <m:t>i</m:t>
                            </m:r>
                          </m:sub>
                        </m:sSub>
                      </m:e>
                      <m:sup>
                        <m:r>
                          <m:rPr>
                            <m:sty m:val="p"/>
                          </m:rPr>
                          <a:rPr lang="en-US" i="1">
                            <a:latin typeface="Cambria Math" panose="02040503050406030204" pitchFamily="18" charset="0"/>
                            <a:ea typeface="Cambria Math" panose="02040503050406030204" pitchFamily="18" charset="0"/>
                            <a:cs typeface="Arial" panose="020B0604020202020204" pitchFamily="34" charset="0"/>
                          </a:rPr>
                          <m:t>t</m:t>
                        </m:r>
                      </m:sup>
                    </m:sSup>
                  </m:oMath>
                </a14:m>
                <a:r>
                  <a:rPr lang="en-US">
                    <a:latin typeface="Arial" panose="020B0604020202020204" pitchFamily="34" charset="0"/>
                    <a:cs typeface="Arial" panose="020B0604020202020204" pitchFamily="34" charset="0"/>
                  </a:rPr>
                  <a:t> cần phải định nghĩa lại.</a:t>
                </a:r>
              </a:p>
              <a:p>
                <a:pPr lvl="2"/>
                <a:r>
                  <a:rPr lang="en-US">
                    <a:latin typeface="Arial" panose="020B0604020202020204" pitchFamily="34" charset="0"/>
                    <a:cs typeface="Arial" panose="020B0604020202020204" pitchFamily="34" charset="0"/>
                  </a:rPr>
                  <a:t>Mã nguồn gốc của FA chứa 3 vòng lặp lồng, có thể chạy chậm. </a:t>
                </a:r>
              </a:p>
              <a:p>
                <a:pPr lvl="2"/>
                <a:endParaRPr lang="en-US">
                  <a:latin typeface="Arial" panose="020B0604020202020204" pitchFamily="34" charset="0"/>
                  <a:cs typeface="Arial" panose="020B0604020202020204" pitchFamily="34" charset="0"/>
                </a:endParaRPr>
              </a:p>
              <a:p>
                <a:pPr lvl="2"/>
                <a:endParaRPr lang="en-US">
                  <a:latin typeface="Arial" panose="020B0604020202020204" pitchFamily="34" charset="0"/>
                  <a:cs typeface="Arial" panose="020B0604020202020204" pitchFamily="34" charset="0"/>
                </a:endParaRPr>
              </a:p>
              <a:p>
                <a:pPr lvl="2"/>
                <a:endParaRPr lang="en-US">
                  <a:latin typeface="Arial" panose="020B0604020202020204" pitchFamily="34" charset="0"/>
                  <a:cs typeface="Arial" panose="020B0604020202020204" pitchFamily="34" charset="0"/>
                </a:endParaRPr>
              </a:p>
              <a:p>
                <a:pPr lvl="1"/>
                <a:r>
                  <a:rPr lang="en-US">
                    <a:latin typeface="Arial" panose="020B0604020202020204" pitchFamily="34" charset="0"/>
                    <a:cs typeface="Arial" panose="020B0604020202020204" pitchFamily="34" charset="0"/>
                  </a:rPr>
                  <a:t>Cách xử lý:</a:t>
                </a:r>
              </a:p>
              <a:p>
                <a:pPr lvl="2"/>
                <a:r>
                  <a:rPr lang="en-US">
                    <a:latin typeface="Arial" panose="020B0604020202020204" pitchFamily="34" charset="0"/>
                    <a:cs typeface="Arial" panose="020B0604020202020204" pitchFamily="34" charset="0"/>
                  </a:rPr>
                  <a:t>Áp dụng hàm trừ hoán vị swap_sequence lên </a:t>
                </a:r>
                <a14:m>
                  <m:oMath xmlns:m="http://schemas.openxmlformats.org/officeDocument/2006/math">
                    <m:sSub>
                      <m:sSubPr>
                        <m:ctrlPr>
                          <a:rPr lang="en-US" i="1">
                            <a:latin typeface="Cambria Math" panose="02040503050406030204" pitchFamily="18" charset="0"/>
                            <a:cs typeface="Arial" panose="020B0604020202020204" pitchFamily="34" charset="0"/>
                          </a:rPr>
                        </m:ctrlPr>
                      </m:sSubPr>
                      <m:e>
                        <m:r>
                          <m:rPr>
                            <m:sty m:val="p"/>
                          </m:rPr>
                          <a:rPr lang="en-US" i="1">
                            <a:latin typeface="Cambria Math" panose="02040503050406030204" pitchFamily="18" charset="0"/>
                            <a:cs typeface="Arial" panose="020B0604020202020204" pitchFamily="34" charset="0"/>
                          </a:rPr>
                          <m:t>r</m:t>
                        </m:r>
                      </m:e>
                      <m:sub>
                        <m:r>
                          <m:rPr>
                            <m:sty m:val="p"/>
                          </m:rPr>
                          <a:rPr lang="en-US" i="1">
                            <a:latin typeface="Cambria Math" panose="02040503050406030204" pitchFamily="18" charset="0"/>
                            <a:cs typeface="Arial" panose="020B0604020202020204" pitchFamily="34" charset="0"/>
                          </a:rPr>
                          <m:t>ij</m:t>
                        </m:r>
                      </m:sub>
                    </m:sSub>
                  </m:oMath>
                </a14:m>
                <a:r>
                  <a:rPr lang="en-US">
                    <a:latin typeface="Arial" panose="020B0604020202020204" pitchFamily="34" charset="0"/>
                    <a:cs typeface="Arial" panose="020B0604020202020204" pitchFamily="34" charset="0"/>
                  </a:rPr>
                  <a:t> </a:t>
                </a:r>
              </a:p>
              <a:p>
                <a:pPr lvl="2"/>
                <a:r>
                  <a:rPr lang="en-US">
                    <a:latin typeface="Arial" panose="020B0604020202020204" pitchFamily="34" charset="0"/>
                    <a:cs typeface="Arial" panose="020B0604020202020204" pitchFamily="34" charset="0"/>
                  </a:rPr>
                  <a:t>Chưa tìm được công thức random cho </a:t>
                </a: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𝛼</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m:t>
                            </m:r>
                          </m:e>
                          <m:sub>
                            <m:r>
                              <m:rPr>
                                <m:sty m:val="p"/>
                              </m:rPr>
                              <a:rPr lang="en-US" i="1">
                                <a:latin typeface="Cambria Math" panose="02040503050406030204" pitchFamily="18" charset="0"/>
                                <a:ea typeface="Cambria Math" panose="02040503050406030204" pitchFamily="18" charset="0"/>
                                <a:cs typeface="Arial" panose="020B0604020202020204" pitchFamily="34" charset="0"/>
                              </a:rPr>
                              <m:t>i</m:t>
                            </m:r>
                          </m:sub>
                        </m:sSub>
                      </m:e>
                      <m:sup>
                        <m:r>
                          <m:rPr>
                            <m:sty m:val="p"/>
                          </m:rPr>
                          <a:rPr lang="en-US" i="1">
                            <a:latin typeface="Cambria Math" panose="02040503050406030204" pitchFamily="18" charset="0"/>
                            <a:ea typeface="Cambria Math" panose="02040503050406030204" pitchFamily="18" charset="0"/>
                            <a:cs typeface="Arial" panose="020B0604020202020204" pitchFamily="34" charset="0"/>
                          </a:rPr>
                          <m:t>t</m:t>
                        </m:r>
                      </m:sup>
                    </m:sSup>
                  </m:oMath>
                </a14:m>
                <a:r>
                  <a:rPr lang="en-US">
                    <a:latin typeface="Arial" panose="020B0604020202020204" pitchFamily="34" charset="0"/>
                    <a:cs typeface="Arial" panose="020B0604020202020204" pitchFamily="34" charset="0"/>
                  </a:rPr>
                  <a:t> </a:t>
                </a:r>
              </a:p>
              <a:p>
                <a:pPr lvl="2"/>
                <a:r>
                  <a:rPr lang="en-US">
                    <a:latin typeface="Arial" panose="020B0604020202020204" pitchFamily="34" charset="0"/>
                    <a:cs typeface="Arial" panose="020B0604020202020204" pitchFamily="34" charset="0"/>
                  </a:rPr>
                  <a:t>Chưa tìm được cách tối ưu vòng lặp.</a:t>
                </a:r>
              </a:p>
            </p:txBody>
          </p:sp>
        </mc:Choice>
        <mc:Fallback>
          <p:sp>
            <p:nvSpPr>
              <p:cNvPr id="15" name="Content Placeholder 14">
                <a:extLst>
                  <a:ext uri="{FF2B5EF4-FFF2-40B4-BE49-F238E27FC236}">
                    <a16:creationId xmlns:a16="http://schemas.microsoft.com/office/drawing/2014/main" id="{11B8FC16-2172-474F-69C3-17535AB382E2}"/>
                  </a:ext>
                </a:extLst>
              </p:cNvPr>
              <p:cNvSpPr>
                <a:spLocks noGrp="1" noRot="1" noChangeAspect="1" noMove="1" noResize="1" noEditPoints="1" noAdjustHandles="1" noChangeArrowheads="1" noChangeShapeType="1" noTextEdit="1"/>
              </p:cNvSpPr>
              <p:nvPr>
                <p:ph sz="quarter" idx="13"/>
              </p:nvPr>
            </p:nvSpPr>
            <p:spPr>
              <a:xfrm>
                <a:off x="250683" y="928180"/>
                <a:ext cx="8674100" cy="5303393"/>
              </a:xfrm>
              <a:blipFill>
                <a:blip r:embed="rId2"/>
                <a:stretch>
                  <a:fillRect l="-1170" t="-2148"/>
                </a:stretch>
              </a:blipFill>
            </p:spPr>
            <p:txBody>
              <a:bodyPr/>
              <a:lstStyle/>
              <a:p>
                <a:r>
                  <a:rPr lang="en-VN">
                    <a:noFill/>
                  </a:rPr>
                  <a:t> </a:t>
                </a:r>
              </a:p>
            </p:txBody>
          </p:sp>
        </mc:Fallback>
      </mc:AlternateContent>
      <p:pic>
        <p:nvPicPr>
          <p:cNvPr id="6" name="Picture 5">
            <a:extLst>
              <a:ext uri="{FF2B5EF4-FFF2-40B4-BE49-F238E27FC236}">
                <a16:creationId xmlns:a16="http://schemas.microsoft.com/office/drawing/2014/main" id="{B0E7D852-7510-F25B-621C-F241205CE6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0935" y="3211576"/>
            <a:ext cx="4140200" cy="736600"/>
          </a:xfrm>
          <a:prstGeom prst="rect">
            <a:avLst/>
          </a:prstGeom>
        </p:spPr>
      </p:pic>
    </p:spTree>
    <p:extLst>
      <p:ext uri="{BB962C8B-B14F-4D97-AF65-F5344CB8AC3E}">
        <p14:creationId xmlns:p14="http://schemas.microsoft.com/office/powerpoint/2010/main" val="3120723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r>
              <a:rPr lang="en-US"/>
              <a:t>2. Bài toán UAV</a:t>
            </a:r>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12</a:t>
            </a:fld>
            <a:endParaRPr lang="en-US" dirty="0"/>
          </a:p>
        </p:txBody>
      </p:sp>
      <p:pic>
        <p:nvPicPr>
          <p:cNvPr id="7" name="Picture 6">
            <a:extLst>
              <a:ext uri="{FF2B5EF4-FFF2-40B4-BE49-F238E27FC236}">
                <a16:creationId xmlns:a16="http://schemas.microsoft.com/office/drawing/2014/main" id="{88827AEF-198D-87D9-7169-5A43E952B2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468" y="1002556"/>
            <a:ext cx="4364597" cy="2876286"/>
          </a:xfrm>
          <a:prstGeom prst="rect">
            <a:avLst/>
          </a:prstGeom>
        </p:spPr>
      </p:pic>
      <p:sp>
        <p:nvSpPr>
          <p:cNvPr id="8" name="TextBox 7">
            <a:extLst>
              <a:ext uri="{FF2B5EF4-FFF2-40B4-BE49-F238E27FC236}">
                <a16:creationId xmlns:a16="http://schemas.microsoft.com/office/drawing/2014/main" id="{1D032EDE-DE63-49FE-02EC-2A668F57A147}"/>
              </a:ext>
            </a:extLst>
          </p:cNvPr>
          <p:cNvSpPr txBox="1"/>
          <p:nvPr/>
        </p:nvSpPr>
        <p:spPr>
          <a:xfrm>
            <a:off x="472272" y="752521"/>
            <a:ext cx="2561599" cy="369332"/>
          </a:xfrm>
          <a:prstGeom prst="rect">
            <a:avLst/>
          </a:prstGeom>
          <a:noFill/>
        </p:spPr>
        <p:txBody>
          <a:bodyPr wrap="none" rtlCol="0">
            <a:spAutoFit/>
          </a:bodyPr>
          <a:lstStyle/>
          <a:p>
            <a:r>
              <a:rPr lang="en-VN"/>
              <a:t>1. Quỹ đạo của PSO và FA</a:t>
            </a:r>
          </a:p>
        </p:txBody>
      </p:sp>
      <p:pic>
        <p:nvPicPr>
          <p:cNvPr id="10" name="Picture 9">
            <a:extLst>
              <a:ext uri="{FF2B5EF4-FFF2-40B4-BE49-F238E27FC236}">
                <a16:creationId xmlns:a16="http://schemas.microsoft.com/office/drawing/2014/main" id="{CD4E177A-CB74-DE62-5EE3-4C54800F1F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8065" y="1002556"/>
            <a:ext cx="4540020" cy="2876286"/>
          </a:xfrm>
          <a:prstGeom prst="rect">
            <a:avLst/>
          </a:prstGeom>
        </p:spPr>
      </p:pic>
      <p:pic>
        <p:nvPicPr>
          <p:cNvPr id="12" name="Picture 11">
            <a:extLst>
              <a:ext uri="{FF2B5EF4-FFF2-40B4-BE49-F238E27FC236}">
                <a16:creationId xmlns:a16="http://schemas.microsoft.com/office/drawing/2014/main" id="{2406996F-CF08-F98E-EB75-C4694D85F2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049" y="3878842"/>
            <a:ext cx="4457035" cy="2797560"/>
          </a:xfrm>
          <a:prstGeom prst="rect">
            <a:avLst/>
          </a:prstGeom>
        </p:spPr>
      </p:pic>
      <p:pic>
        <p:nvPicPr>
          <p:cNvPr id="14" name="Picture 13">
            <a:extLst>
              <a:ext uri="{FF2B5EF4-FFF2-40B4-BE49-F238E27FC236}">
                <a16:creationId xmlns:a16="http://schemas.microsoft.com/office/drawing/2014/main" id="{9AF0F49A-2400-356C-8A29-B1F6604265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0363" y="3878402"/>
            <a:ext cx="4455424" cy="2876286"/>
          </a:xfrm>
          <a:prstGeom prst="rect">
            <a:avLst/>
          </a:prstGeom>
        </p:spPr>
      </p:pic>
    </p:spTree>
    <p:extLst>
      <p:ext uri="{BB962C8B-B14F-4D97-AF65-F5344CB8AC3E}">
        <p14:creationId xmlns:p14="http://schemas.microsoft.com/office/powerpoint/2010/main" val="3651498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525B5-F3BF-84E4-BB60-5C99B4B5BF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B5537A-5939-BB72-4734-7B3F2AF19DD2}"/>
              </a:ext>
            </a:extLst>
          </p:cNvPr>
          <p:cNvSpPr>
            <a:spLocks noGrp="1"/>
          </p:cNvSpPr>
          <p:nvPr>
            <p:ph type="title"/>
          </p:nvPr>
        </p:nvSpPr>
        <p:spPr/>
        <p:txBody>
          <a:bodyPr/>
          <a:lstStyle/>
          <a:p>
            <a:r>
              <a:rPr lang="en-US"/>
              <a:t>2. Bài toán UAV</a:t>
            </a:r>
          </a:p>
        </p:txBody>
      </p:sp>
      <p:sp>
        <p:nvSpPr>
          <p:cNvPr id="5" name="Slide Number Placeholder 4">
            <a:extLst>
              <a:ext uri="{FF2B5EF4-FFF2-40B4-BE49-F238E27FC236}">
                <a16:creationId xmlns:a16="http://schemas.microsoft.com/office/drawing/2014/main" id="{0622B425-9752-2422-E4AA-523F4C3F0051}"/>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
        <p:nvSpPr>
          <p:cNvPr id="8" name="TextBox 7">
            <a:extLst>
              <a:ext uri="{FF2B5EF4-FFF2-40B4-BE49-F238E27FC236}">
                <a16:creationId xmlns:a16="http://schemas.microsoft.com/office/drawing/2014/main" id="{D14C5A33-434B-DE25-BD1B-AED99E532FEA}"/>
              </a:ext>
            </a:extLst>
          </p:cNvPr>
          <p:cNvSpPr txBox="1"/>
          <p:nvPr/>
        </p:nvSpPr>
        <p:spPr>
          <a:xfrm>
            <a:off x="472272" y="752521"/>
            <a:ext cx="3981539" cy="369332"/>
          </a:xfrm>
          <a:prstGeom prst="rect">
            <a:avLst/>
          </a:prstGeom>
          <a:noFill/>
        </p:spPr>
        <p:txBody>
          <a:bodyPr wrap="none" rtlCol="0">
            <a:spAutoFit/>
          </a:bodyPr>
          <a:lstStyle/>
          <a:p>
            <a:r>
              <a:rPr lang="en-VN"/>
              <a:t>2. Thời gian chạy 10 lần của 2 thuật toán</a:t>
            </a:r>
          </a:p>
        </p:txBody>
      </p:sp>
      <p:graphicFrame>
        <p:nvGraphicFramePr>
          <p:cNvPr id="3" name="Table 2">
            <a:extLst>
              <a:ext uri="{FF2B5EF4-FFF2-40B4-BE49-F238E27FC236}">
                <a16:creationId xmlns:a16="http://schemas.microsoft.com/office/drawing/2014/main" id="{D0F188B3-A65C-E18F-0FDE-3E8AB5511762}"/>
              </a:ext>
            </a:extLst>
          </p:cNvPr>
          <p:cNvGraphicFramePr>
            <a:graphicFrameLocks noGrp="1"/>
          </p:cNvGraphicFramePr>
          <p:nvPr>
            <p:extLst>
              <p:ext uri="{D42A27DB-BD31-4B8C-83A1-F6EECF244321}">
                <p14:modId xmlns:p14="http://schemas.microsoft.com/office/powerpoint/2010/main" val="2082162804"/>
              </p:ext>
            </p:extLst>
          </p:nvPr>
        </p:nvGraphicFramePr>
        <p:xfrm>
          <a:off x="235077" y="1344022"/>
          <a:ext cx="8582571" cy="1112520"/>
        </p:xfrm>
        <a:graphic>
          <a:graphicData uri="http://schemas.openxmlformats.org/drawingml/2006/table">
            <a:tbl>
              <a:tblPr firstRow="1" bandRow="1">
                <a:tableStyleId>{5C22544A-7EE6-4342-B048-85BDC9FD1C3A}</a:tableStyleId>
              </a:tblPr>
              <a:tblGrid>
                <a:gridCol w="744855">
                  <a:extLst>
                    <a:ext uri="{9D8B030D-6E8A-4147-A177-3AD203B41FA5}">
                      <a16:colId xmlns:a16="http://schemas.microsoft.com/office/drawing/2014/main" val="332837587"/>
                    </a:ext>
                  </a:extLst>
                </a:gridCol>
                <a:gridCol w="783771">
                  <a:extLst>
                    <a:ext uri="{9D8B030D-6E8A-4147-A177-3AD203B41FA5}">
                      <a16:colId xmlns:a16="http://schemas.microsoft.com/office/drawing/2014/main" val="306189776"/>
                    </a:ext>
                  </a:extLst>
                </a:gridCol>
                <a:gridCol w="813917">
                  <a:extLst>
                    <a:ext uri="{9D8B030D-6E8A-4147-A177-3AD203B41FA5}">
                      <a16:colId xmlns:a16="http://schemas.microsoft.com/office/drawing/2014/main" val="3728822918"/>
                    </a:ext>
                  </a:extLst>
                </a:gridCol>
                <a:gridCol w="798053">
                  <a:extLst>
                    <a:ext uri="{9D8B030D-6E8A-4147-A177-3AD203B41FA5}">
                      <a16:colId xmlns:a16="http://schemas.microsoft.com/office/drawing/2014/main" val="252263174"/>
                    </a:ext>
                  </a:extLst>
                </a:gridCol>
                <a:gridCol w="777425">
                  <a:extLst>
                    <a:ext uri="{9D8B030D-6E8A-4147-A177-3AD203B41FA5}">
                      <a16:colId xmlns:a16="http://schemas.microsoft.com/office/drawing/2014/main" val="615295643"/>
                    </a:ext>
                  </a:extLst>
                </a:gridCol>
                <a:gridCol w="777425">
                  <a:extLst>
                    <a:ext uri="{9D8B030D-6E8A-4147-A177-3AD203B41FA5}">
                      <a16:colId xmlns:a16="http://schemas.microsoft.com/office/drawing/2014/main" val="2097632419"/>
                    </a:ext>
                  </a:extLst>
                </a:gridCol>
                <a:gridCol w="777425">
                  <a:extLst>
                    <a:ext uri="{9D8B030D-6E8A-4147-A177-3AD203B41FA5}">
                      <a16:colId xmlns:a16="http://schemas.microsoft.com/office/drawing/2014/main" val="4025957875"/>
                    </a:ext>
                  </a:extLst>
                </a:gridCol>
                <a:gridCol w="777425">
                  <a:extLst>
                    <a:ext uri="{9D8B030D-6E8A-4147-A177-3AD203B41FA5}">
                      <a16:colId xmlns:a16="http://schemas.microsoft.com/office/drawing/2014/main" val="3079561727"/>
                    </a:ext>
                  </a:extLst>
                </a:gridCol>
                <a:gridCol w="777425">
                  <a:extLst>
                    <a:ext uri="{9D8B030D-6E8A-4147-A177-3AD203B41FA5}">
                      <a16:colId xmlns:a16="http://schemas.microsoft.com/office/drawing/2014/main" val="817744137"/>
                    </a:ext>
                  </a:extLst>
                </a:gridCol>
                <a:gridCol w="777425">
                  <a:extLst>
                    <a:ext uri="{9D8B030D-6E8A-4147-A177-3AD203B41FA5}">
                      <a16:colId xmlns:a16="http://schemas.microsoft.com/office/drawing/2014/main" val="67035902"/>
                    </a:ext>
                  </a:extLst>
                </a:gridCol>
                <a:gridCol w="777425">
                  <a:extLst>
                    <a:ext uri="{9D8B030D-6E8A-4147-A177-3AD203B41FA5}">
                      <a16:colId xmlns:a16="http://schemas.microsoft.com/office/drawing/2014/main" val="2091699771"/>
                    </a:ext>
                  </a:extLst>
                </a:gridCol>
              </a:tblGrid>
              <a:tr h="370840">
                <a:tc>
                  <a:txBody>
                    <a:bodyPr/>
                    <a:lstStyle/>
                    <a:p>
                      <a:endParaRPr lang="en-VN" sz="1600"/>
                    </a:p>
                  </a:txBody>
                  <a:tcPr/>
                </a:tc>
                <a:tc>
                  <a:txBody>
                    <a:bodyPr/>
                    <a:lstStyle/>
                    <a:p>
                      <a:r>
                        <a:rPr lang="en-VN" sz="1600"/>
                        <a:t>1</a:t>
                      </a:r>
                    </a:p>
                  </a:txBody>
                  <a:tcPr/>
                </a:tc>
                <a:tc>
                  <a:txBody>
                    <a:bodyPr/>
                    <a:lstStyle/>
                    <a:p>
                      <a:r>
                        <a:rPr lang="en-VN" sz="1600"/>
                        <a:t>2</a:t>
                      </a:r>
                    </a:p>
                  </a:txBody>
                  <a:tcPr/>
                </a:tc>
                <a:tc>
                  <a:txBody>
                    <a:bodyPr/>
                    <a:lstStyle/>
                    <a:p>
                      <a:r>
                        <a:rPr lang="en-VN" sz="1600"/>
                        <a:t>3</a:t>
                      </a:r>
                    </a:p>
                  </a:txBody>
                  <a:tcPr/>
                </a:tc>
                <a:tc>
                  <a:txBody>
                    <a:bodyPr/>
                    <a:lstStyle/>
                    <a:p>
                      <a:r>
                        <a:rPr lang="en-VN" sz="1600"/>
                        <a:t>4</a:t>
                      </a:r>
                    </a:p>
                  </a:txBody>
                  <a:tcPr/>
                </a:tc>
                <a:tc>
                  <a:txBody>
                    <a:bodyPr/>
                    <a:lstStyle/>
                    <a:p>
                      <a:r>
                        <a:rPr lang="en-VN" sz="1600"/>
                        <a:t>5</a:t>
                      </a:r>
                    </a:p>
                  </a:txBody>
                  <a:tcPr/>
                </a:tc>
                <a:tc>
                  <a:txBody>
                    <a:bodyPr/>
                    <a:lstStyle/>
                    <a:p>
                      <a:r>
                        <a:rPr lang="en-VN" sz="1600"/>
                        <a:t>6</a:t>
                      </a:r>
                    </a:p>
                  </a:txBody>
                  <a:tcPr/>
                </a:tc>
                <a:tc>
                  <a:txBody>
                    <a:bodyPr/>
                    <a:lstStyle/>
                    <a:p>
                      <a:r>
                        <a:rPr lang="en-VN" sz="1600"/>
                        <a:t>7</a:t>
                      </a:r>
                    </a:p>
                  </a:txBody>
                  <a:tcPr/>
                </a:tc>
                <a:tc>
                  <a:txBody>
                    <a:bodyPr/>
                    <a:lstStyle/>
                    <a:p>
                      <a:r>
                        <a:rPr lang="en-VN" sz="1600"/>
                        <a:t>8</a:t>
                      </a:r>
                    </a:p>
                  </a:txBody>
                  <a:tcPr/>
                </a:tc>
                <a:tc>
                  <a:txBody>
                    <a:bodyPr/>
                    <a:lstStyle/>
                    <a:p>
                      <a:r>
                        <a:rPr lang="en-VN" sz="1600"/>
                        <a:t>9 </a:t>
                      </a:r>
                    </a:p>
                  </a:txBody>
                  <a:tcPr/>
                </a:tc>
                <a:tc>
                  <a:txBody>
                    <a:bodyPr/>
                    <a:lstStyle/>
                    <a:p>
                      <a:r>
                        <a:rPr lang="en-VN" sz="1600"/>
                        <a:t>10</a:t>
                      </a:r>
                    </a:p>
                  </a:txBody>
                  <a:tcPr/>
                </a:tc>
                <a:extLst>
                  <a:ext uri="{0D108BD9-81ED-4DB2-BD59-A6C34878D82A}">
                    <a16:rowId xmlns:a16="http://schemas.microsoft.com/office/drawing/2014/main" val="1630754493"/>
                  </a:ext>
                </a:extLst>
              </a:tr>
              <a:tr h="370840">
                <a:tc>
                  <a:txBody>
                    <a:bodyPr/>
                    <a:lstStyle/>
                    <a:p>
                      <a:r>
                        <a:rPr lang="en-VN" sz="1600"/>
                        <a:t>PSO</a:t>
                      </a:r>
                    </a:p>
                  </a:txBody>
                  <a:tcPr/>
                </a:tc>
                <a:tc>
                  <a:txBody>
                    <a:bodyPr/>
                    <a:lstStyle/>
                    <a:p>
                      <a:r>
                        <a:rPr lang="en-VN" sz="1600"/>
                        <a:t>0.31</a:t>
                      </a:r>
                    </a:p>
                  </a:txBody>
                  <a:tcPr/>
                </a:tc>
                <a:tc>
                  <a:txBody>
                    <a:bodyPr/>
                    <a:lstStyle/>
                    <a:p>
                      <a:r>
                        <a:rPr lang="en-VN" sz="1600"/>
                        <a:t>0.42</a:t>
                      </a:r>
                    </a:p>
                  </a:txBody>
                  <a:tcPr/>
                </a:tc>
                <a:tc>
                  <a:txBody>
                    <a:bodyPr/>
                    <a:lstStyle/>
                    <a:p>
                      <a:r>
                        <a:rPr lang="en-VN" sz="1600">
                          <a:solidFill>
                            <a:schemeClr val="tx1"/>
                          </a:solidFill>
                        </a:rPr>
                        <a:t>0.30</a:t>
                      </a:r>
                    </a:p>
                  </a:txBody>
                  <a:tcPr/>
                </a:tc>
                <a:tc>
                  <a:txBody>
                    <a:bodyPr/>
                    <a:lstStyle/>
                    <a:p>
                      <a:r>
                        <a:rPr lang="en-VN" sz="1600"/>
                        <a:t>0.30</a:t>
                      </a:r>
                    </a:p>
                  </a:txBody>
                  <a:tcPr/>
                </a:tc>
                <a:tc>
                  <a:txBody>
                    <a:bodyPr/>
                    <a:lstStyle/>
                    <a:p>
                      <a:r>
                        <a:rPr lang="en-VN" sz="1600"/>
                        <a:t>0.29</a:t>
                      </a:r>
                    </a:p>
                  </a:txBody>
                  <a:tcPr/>
                </a:tc>
                <a:tc>
                  <a:txBody>
                    <a:bodyPr/>
                    <a:lstStyle/>
                    <a:p>
                      <a:r>
                        <a:rPr lang="en-VN" sz="1600"/>
                        <a:t>0.29</a:t>
                      </a:r>
                    </a:p>
                  </a:txBody>
                  <a:tcPr/>
                </a:tc>
                <a:tc>
                  <a:txBody>
                    <a:bodyPr/>
                    <a:lstStyle/>
                    <a:p>
                      <a:r>
                        <a:rPr lang="en-VN" sz="1600"/>
                        <a:t>0.31</a:t>
                      </a:r>
                    </a:p>
                  </a:txBody>
                  <a:tcPr/>
                </a:tc>
                <a:tc>
                  <a:txBody>
                    <a:bodyPr/>
                    <a:lstStyle/>
                    <a:p>
                      <a:r>
                        <a:rPr lang="en-VN" sz="1600"/>
                        <a:t>0.30</a:t>
                      </a:r>
                    </a:p>
                  </a:txBody>
                  <a:tcPr/>
                </a:tc>
                <a:tc>
                  <a:txBody>
                    <a:bodyPr/>
                    <a:lstStyle/>
                    <a:p>
                      <a:r>
                        <a:rPr lang="en-VN" sz="1600"/>
                        <a:t>0.31</a:t>
                      </a:r>
                    </a:p>
                  </a:txBody>
                  <a:tcPr/>
                </a:tc>
                <a:tc>
                  <a:txBody>
                    <a:bodyPr/>
                    <a:lstStyle/>
                    <a:p>
                      <a:r>
                        <a:rPr lang="en-VN" sz="1600"/>
                        <a:t>0.31</a:t>
                      </a:r>
                    </a:p>
                  </a:txBody>
                  <a:tcPr/>
                </a:tc>
                <a:extLst>
                  <a:ext uri="{0D108BD9-81ED-4DB2-BD59-A6C34878D82A}">
                    <a16:rowId xmlns:a16="http://schemas.microsoft.com/office/drawing/2014/main" val="3891201546"/>
                  </a:ext>
                </a:extLst>
              </a:tr>
              <a:tr h="370840">
                <a:tc>
                  <a:txBody>
                    <a:bodyPr/>
                    <a:lstStyle/>
                    <a:p>
                      <a:r>
                        <a:rPr lang="en-US" sz="1600"/>
                        <a:t>FA</a:t>
                      </a:r>
                      <a:endParaRPr lang="en-VN" sz="1600"/>
                    </a:p>
                  </a:txBody>
                  <a:tcPr/>
                </a:tc>
                <a:tc>
                  <a:txBody>
                    <a:bodyPr/>
                    <a:lstStyle/>
                    <a:p>
                      <a:r>
                        <a:rPr lang="en-VN" sz="1600"/>
                        <a:t>0.38</a:t>
                      </a:r>
                    </a:p>
                  </a:txBody>
                  <a:tcPr/>
                </a:tc>
                <a:tc>
                  <a:txBody>
                    <a:bodyPr/>
                    <a:lstStyle/>
                    <a:p>
                      <a:r>
                        <a:rPr lang="en-VN" sz="1600"/>
                        <a:t>0.62</a:t>
                      </a:r>
                    </a:p>
                  </a:txBody>
                  <a:tcPr/>
                </a:tc>
                <a:tc>
                  <a:txBody>
                    <a:bodyPr/>
                    <a:lstStyle/>
                    <a:p>
                      <a:r>
                        <a:rPr lang="en-VN" sz="1600"/>
                        <a:t>0.37</a:t>
                      </a:r>
                    </a:p>
                  </a:txBody>
                  <a:tcPr/>
                </a:tc>
                <a:tc>
                  <a:txBody>
                    <a:bodyPr/>
                    <a:lstStyle/>
                    <a:p>
                      <a:r>
                        <a:rPr lang="en-VN" sz="1600"/>
                        <a:t>0.36</a:t>
                      </a:r>
                    </a:p>
                  </a:txBody>
                  <a:tcPr/>
                </a:tc>
                <a:tc>
                  <a:txBody>
                    <a:bodyPr/>
                    <a:lstStyle/>
                    <a:p>
                      <a:r>
                        <a:rPr lang="en-VN" sz="1600"/>
                        <a:t>0.40</a:t>
                      </a:r>
                    </a:p>
                  </a:txBody>
                  <a:tcPr/>
                </a:tc>
                <a:tc>
                  <a:txBody>
                    <a:bodyPr/>
                    <a:lstStyle/>
                    <a:p>
                      <a:r>
                        <a:rPr lang="en-VN" sz="1600"/>
                        <a:t>0.36</a:t>
                      </a:r>
                    </a:p>
                  </a:txBody>
                  <a:tcPr/>
                </a:tc>
                <a:tc>
                  <a:txBody>
                    <a:bodyPr/>
                    <a:lstStyle/>
                    <a:p>
                      <a:r>
                        <a:rPr lang="en-VN" sz="1600"/>
                        <a:t>0.37</a:t>
                      </a:r>
                    </a:p>
                  </a:txBody>
                  <a:tcPr/>
                </a:tc>
                <a:tc>
                  <a:txBody>
                    <a:bodyPr/>
                    <a:lstStyle/>
                    <a:p>
                      <a:r>
                        <a:rPr lang="en-VN" sz="1600">
                          <a:solidFill>
                            <a:schemeClr val="tx1"/>
                          </a:solidFill>
                        </a:rPr>
                        <a:t>0.37</a:t>
                      </a:r>
                    </a:p>
                  </a:txBody>
                  <a:tcPr/>
                </a:tc>
                <a:tc>
                  <a:txBody>
                    <a:bodyPr/>
                    <a:lstStyle/>
                    <a:p>
                      <a:r>
                        <a:rPr lang="en-VN" sz="1600"/>
                        <a:t>0.38</a:t>
                      </a:r>
                    </a:p>
                  </a:txBody>
                  <a:tcPr/>
                </a:tc>
                <a:tc>
                  <a:txBody>
                    <a:bodyPr/>
                    <a:lstStyle/>
                    <a:p>
                      <a:r>
                        <a:rPr lang="en-VN" sz="1600"/>
                        <a:t>0.39</a:t>
                      </a:r>
                    </a:p>
                  </a:txBody>
                  <a:tcPr/>
                </a:tc>
                <a:extLst>
                  <a:ext uri="{0D108BD9-81ED-4DB2-BD59-A6C34878D82A}">
                    <a16:rowId xmlns:a16="http://schemas.microsoft.com/office/drawing/2014/main" val="1935210751"/>
                  </a:ext>
                </a:extLst>
              </a:tr>
            </a:tbl>
          </a:graphicData>
        </a:graphic>
      </p:graphicFrame>
      <p:graphicFrame>
        <p:nvGraphicFramePr>
          <p:cNvPr id="4" name="Table 3">
            <a:extLst>
              <a:ext uri="{FF2B5EF4-FFF2-40B4-BE49-F238E27FC236}">
                <a16:creationId xmlns:a16="http://schemas.microsoft.com/office/drawing/2014/main" id="{5854E1A9-0CE5-4E72-5190-F199E8790C43}"/>
              </a:ext>
            </a:extLst>
          </p:cNvPr>
          <p:cNvGraphicFramePr>
            <a:graphicFrameLocks noGrp="1"/>
          </p:cNvGraphicFramePr>
          <p:nvPr>
            <p:extLst>
              <p:ext uri="{D42A27DB-BD31-4B8C-83A1-F6EECF244321}">
                <p14:modId xmlns:p14="http://schemas.microsoft.com/office/powerpoint/2010/main" val="4220067841"/>
              </p:ext>
            </p:extLst>
          </p:nvPr>
        </p:nvGraphicFramePr>
        <p:xfrm>
          <a:off x="2664941" y="2696922"/>
          <a:ext cx="3577740" cy="1854200"/>
        </p:xfrm>
        <a:graphic>
          <a:graphicData uri="http://schemas.openxmlformats.org/drawingml/2006/table">
            <a:tbl>
              <a:tblPr firstRow="1" bandRow="1">
                <a:tableStyleId>{5C22544A-7EE6-4342-B048-85BDC9FD1C3A}</a:tableStyleId>
              </a:tblPr>
              <a:tblGrid>
                <a:gridCol w="1192580">
                  <a:extLst>
                    <a:ext uri="{9D8B030D-6E8A-4147-A177-3AD203B41FA5}">
                      <a16:colId xmlns:a16="http://schemas.microsoft.com/office/drawing/2014/main" val="3350943489"/>
                    </a:ext>
                  </a:extLst>
                </a:gridCol>
                <a:gridCol w="1192580">
                  <a:extLst>
                    <a:ext uri="{9D8B030D-6E8A-4147-A177-3AD203B41FA5}">
                      <a16:colId xmlns:a16="http://schemas.microsoft.com/office/drawing/2014/main" val="3349197219"/>
                    </a:ext>
                  </a:extLst>
                </a:gridCol>
                <a:gridCol w="1192580">
                  <a:extLst>
                    <a:ext uri="{9D8B030D-6E8A-4147-A177-3AD203B41FA5}">
                      <a16:colId xmlns:a16="http://schemas.microsoft.com/office/drawing/2014/main" val="4024859513"/>
                    </a:ext>
                  </a:extLst>
                </a:gridCol>
              </a:tblGrid>
              <a:tr h="370840">
                <a:tc>
                  <a:txBody>
                    <a:bodyPr/>
                    <a:lstStyle/>
                    <a:p>
                      <a:endParaRPr lang="en-VN"/>
                    </a:p>
                  </a:txBody>
                  <a:tcPr/>
                </a:tc>
                <a:tc>
                  <a:txBody>
                    <a:bodyPr/>
                    <a:lstStyle/>
                    <a:p>
                      <a:r>
                        <a:rPr lang="en-VN"/>
                        <a:t>PSO</a:t>
                      </a:r>
                    </a:p>
                  </a:txBody>
                  <a:tcPr/>
                </a:tc>
                <a:tc>
                  <a:txBody>
                    <a:bodyPr/>
                    <a:lstStyle/>
                    <a:p>
                      <a:r>
                        <a:rPr lang="en-VN"/>
                        <a:t>FA</a:t>
                      </a:r>
                    </a:p>
                  </a:txBody>
                  <a:tcPr/>
                </a:tc>
                <a:extLst>
                  <a:ext uri="{0D108BD9-81ED-4DB2-BD59-A6C34878D82A}">
                    <a16:rowId xmlns:a16="http://schemas.microsoft.com/office/drawing/2014/main" val="1843886446"/>
                  </a:ext>
                </a:extLst>
              </a:tr>
              <a:tr h="370840">
                <a:tc>
                  <a:txBody>
                    <a:bodyPr/>
                    <a:lstStyle/>
                    <a:p>
                      <a:r>
                        <a:rPr lang="en-VN"/>
                        <a:t>Mean</a:t>
                      </a:r>
                    </a:p>
                  </a:txBody>
                  <a:tcPr/>
                </a:tc>
                <a:tc>
                  <a:txBody>
                    <a:bodyPr/>
                    <a:lstStyle/>
                    <a:p>
                      <a:r>
                        <a:rPr lang="en-VN"/>
                        <a:t>0.314</a:t>
                      </a:r>
                    </a:p>
                  </a:txBody>
                  <a:tcPr/>
                </a:tc>
                <a:tc>
                  <a:txBody>
                    <a:bodyPr/>
                    <a:lstStyle/>
                    <a:p>
                      <a:r>
                        <a:rPr lang="en-VN"/>
                        <a:t>0.4</a:t>
                      </a:r>
                    </a:p>
                  </a:txBody>
                  <a:tcPr/>
                </a:tc>
                <a:extLst>
                  <a:ext uri="{0D108BD9-81ED-4DB2-BD59-A6C34878D82A}">
                    <a16:rowId xmlns:a16="http://schemas.microsoft.com/office/drawing/2014/main" val="3361586733"/>
                  </a:ext>
                </a:extLst>
              </a:tr>
              <a:tr h="370840">
                <a:tc>
                  <a:txBody>
                    <a:bodyPr/>
                    <a:lstStyle/>
                    <a:p>
                      <a:r>
                        <a:rPr lang="en-VN"/>
                        <a:t>std</a:t>
                      </a:r>
                    </a:p>
                  </a:txBody>
                  <a:tcPr/>
                </a:tc>
                <a:tc>
                  <a:txBody>
                    <a:bodyPr/>
                    <a:lstStyle/>
                    <a:p>
                      <a:r>
                        <a:rPr lang="en-VN"/>
                        <a:t>0.038</a:t>
                      </a:r>
                    </a:p>
                  </a:txBody>
                  <a:tcPr/>
                </a:tc>
                <a:tc>
                  <a:txBody>
                    <a:bodyPr/>
                    <a:lstStyle/>
                    <a:p>
                      <a:r>
                        <a:rPr lang="en-VN"/>
                        <a:t>0.078</a:t>
                      </a:r>
                    </a:p>
                  </a:txBody>
                  <a:tcPr/>
                </a:tc>
                <a:extLst>
                  <a:ext uri="{0D108BD9-81ED-4DB2-BD59-A6C34878D82A}">
                    <a16:rowId xmlns:a16="http://schemas.microsoft.com/office/drawing/2014/main" val="924936979"/>
                  </a:ext>
                </a:extLst>
              </a:tr>
              <a:tr h="370840">
                <a:tc>
                  <a:txBody>
                    <a:bodyPr/>
                    <a:lstStyle/>
                    <a:p>
                      <a:r>
                        <a:rPr lang="en-VN"/>
                        <a:t>Min</a:t>
                      </a:r>
                    </a:p>
                  </a:txBody>
                  <a:tcPr/>
                </a:tc>
                <a:tc>
                  <a:txBody>
                    <a:bodyPr/>
                    <a:lstStyle/>
                    <a:p>
                      <a:r>
                        <a:rPr lang="en-VN"/>
                        <a:t>0.29</a:t>
                      </a:r>
                    </a:p>
                  </a:txBody>
                  <a:tcPr/>
                </a:tc>
                <a:tc>
                  <a:txBody>
                    <a:bodyPr/>
                    <a:lstStyle/>
                    <a:p>
                      <a:r>
                        <a:rPr lang="en-VN"/>
                        <a:t>0.36</a:t>
                      </a:r>
                    </a:p>
                  </a:txBody>
                  <a:tcPr/>
                </a:tc>
                <a:extLst>
                  <a:ext uri="{0D108BD9-81ED-4DB2-BD59-A6C34878D82A}">
                    <a16:rowId xmlns:a16="http://schemas.microsoft.com/office/drawing/2014/main" val="1020672369"/>
                  </a:ext>
                </a:extLst>
              </a:tr>
              <a:tr h="370840">
                <a:tc>
                  <a:txBody>
                    <a:bodyPr/>
                    <a:lstStyle/>
                    <a:p>
                      <a:r>
                        <a:rPr lang="en-VN"/>
                        <a:t>Max</a:t>
                      </a:r>
                    </a:p>
                  </a:txBody>
                  <a:tcPr/>
                </a:tc>
                <a:tc>
                  <a:txBody>
                    <a:bodyPr/>
                    <a:lstStyle/>
                    <a:p>
                      <a:r>
                        <a:rPr lang="en-VN"/>
                        <a:t>0.42</a:t>
                      </a:r>
                    </a:p>
                  </a:txBody>
                  <a:tcPr/>
                </a:tc>
                <a:tc>
                  <a:txBody>
                    <a:bodyPr/>
                    <a:lstStyle/>
                    <a:p>
                      <a:r>
                        <a:rPr lang="en-VN"/>
                        <a:t>0.62</a:t>
                      </a:r>
                    </a:p>
                  </a:txBody>
                  <a:tcPr/>
                </a:tc>
                <a:extLst>
                  <a:ext uri="{0D108BD9-81ED-4DB2-BD59-A6C34878D82A}">
                    <a16:rowId xmlns:a16="http://schemas.microsoft.com/office/drawing/2014/main" val="2867370097"/>
                  </a:ext>
                </a:extLst>
              </a:tr>
            </a:tbl>
          </a:graphicData>
        </a:graphic>
      </p:graphicFrame>
      <p:sp>
        <p:nvSpPr>
          <p:cNvPr id="6" name="TextBox 5">
            <a:extLst>
              <a:ext uri="{FF2B5EF4-FFF2-40B4-BE49-F238E27FC236}">
                <a16:creationId xmlns:a16="http://schemas.microsoft.com/office/drawing/2014/main" id="{C8356854-8B26-C45E-B112-205B9AD5C08B}"/>
              </a:ext>
            </a:extLst>
          </p:cNvPr>
          <p:cNvSpPr txBox="1"/>
          <p:nvPr/>
        </p:nvSpPr>
        <p:spPr>
          <a:xfrm>
            <a:off x="235077" y="4623112"/>
            <a:ext cx="8130340" cy="1200329"/>
          </a:xfrm>
          <a:prstGeom prst="rect">
            <a:avLst/>
          </a:prstGeom>
          <a:noFill/>
        </p:spPr>
        <p:txBody>
          <a:bodyPr wrap="square" rtlCol="0">
            <a:spAutoFit/>
          </a:bodyPr>
          <a:lstStyle/>
          <a:p>
            <a:r>
              <a:rPr lang="en-VN"/>
              <a:t>Nhận xét: </a:t>
            </a:r>
          </a:p>
          <a:p>
            <a:pPr marL="285750" indent="-285750">
              <a:buFont typeface="Arial" panose="020B0604020202020204" pitchFamily="34" charset="0"/>
              <a:buChar char="•"/>
            </a:pPr>
            <a:r>
              <a:rPr lang="en-VN"/>
              <a:t>Cả 2 thuật toán cho ra kết quả đường đi giống nhau nhưng PSO có thời gian chạy tốt hơn FA khoảng 20% và độ ổn định tốt hơn với độ lệch chuẩn chỉ 0.03 so với 0.078 của FA.</a:t>
            </a:r>
          </a:p>
        </p:txBody>
      </p:sp>
    </p:spTree>
    <p:extLst>
      <p:ext uri="{BB962C8B-B14F-4D97-AF65-F5344CB8AC3E}">
        <p14:creationId xmlns:p14="http://schemas.microsoft.com/office/powerpoint/2010/main" val="4277645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364</TotalTime>
  <Words>907</Words>
  <Application>Microsoft Macintosh PowerPoint</Application>
  <PresentationFormat>On-screen Show (4:3)</PresentationFormat>
  <Paragraphs>194</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Cambria Math</vt:lpstr>
      <vt:lpstr>Consolas</vt:lpstr>
      <vt:lpstr>Lato</vt:lpstr>
      <vt:lpstr>Wingdings</vt:lpstr>
      <vt:lpstr>Office Theme</vt:lpstr>
      <vt:lpstr>PowerPoint Presentation</vt:lpstr>
      <vt:lpstr>1. Bài toán TSP</vt:lpstr>
      <vt:lpstr>1. Bài toán TSP</vt:lpstr>
      <vt:lpstr>1. Bài toán TSP</vt:lpstr>
      <vt:lpstr>1. Bài toán TSP</vt:lpstr>
      <vt:lpstr>1. Bài toán TSP</vt:lpstr>
      <vt:lpstr>1. Bài toán TSP</vt:lpstr>
      <vt:lpstr>1. Bài toán TSP</vt:lpstr>
      <vt:lpstr>1. Bài toán TSP</vt:lpstr>
      <vt:lpstr>1. Bài toán TSP</vt:lpstr>
      <vt:lpstr>1. Bài toán TSP</vt:lpstr>
      <vt:lpstr>2. Bài toán UAV</vt:lpstr>
      <vt:lpstr>2. Bài toán UAV</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Hoang Minh</cp:lastModifiedBy>
  <cp:revision>15</cp:revision>
  <dcterms:created xsi:type="dcterms:W3CDTF">2021-05-28T04:32:29Z</dcterms:created>
  <dcterms:modified xsi:type="dcterms:W3CDTF">2026-04-26T08:07:19Z</dcterms:modified>
</cp:coreProperties>
</file>