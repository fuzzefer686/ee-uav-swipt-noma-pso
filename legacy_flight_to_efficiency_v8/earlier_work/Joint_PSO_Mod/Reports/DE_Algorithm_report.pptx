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9"/>
  </p:notesMasterIdLst>
  <p:handoutMasterIdLst>
    <p:handoutMasterId r:id="rId20"/>
  </p:handoutMasterIdLst>
  <p:sldIdLst>
    <p:sldId id="257" r:id="rId2"/>
    <p:sldId id="265" r:id="rId3"/>
    <p:sldId id="275" r:id="rId4"/>
    <p:sldId id="276" r:id="rId5"/>
    <p:sldId id="261" r:id="rId6"/>
    <p:sldId id="277" r:id="rId7"/>
    <p:sldId id="279" r:id="rId8"/>
    <p:sldId id="280" r:id="rId9"/>
    <p:sldId id="278" r:id="rId10"/>
    <p:sldId id="281" r:id="rId11"/>
    <p:sldId id="266" r:id="rId12"/>
    <p:sldId id="285" r:id="rId13"/>
    <p:sldId id="286" r:id="rId14"/>
    <p:sldId id="284" r:id="rId15"/>
    <p:sldId id="282" r:id="rId16"/>
    <p:sldId id="269" r:id="rId17"/>
    <p:sldId id="283" r:id="rId18"/>
  </p:sldIdLst>
  <p:sldSz cx="9144000" cy="6858000" type="screen4x3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41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8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06:26:42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06:26:42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9T06:26:42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56268-40C2-0121-16DF-CD446A5C9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6D2518-D903-FBD2-5148-ACA916550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16931-05FC-DE14-DFFF-D5C67D27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85049-0B97-EF4D-8373-9F154D2D47FB}" type="datetimeFigureOut">
              <a:t>9/4/26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D13EC-E84A-2AAF-8E9D-59DB8A76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30B16-E6C2-9DC8-BCF6-939E1832C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C75B-EC3A-B646-BA6A-AA5166D4BC85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1459548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1BCD0-3F99-B496-BDCF-26C643B99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42F25-61FF-6C6F-686F-F25E4279C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0146-ED09-4B46-D1BA-C40CC2C80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85049-0B97-EF4D-8373-9F154D2D47FB}" type="datetimeFigureOut">
              <a:t>9/4/26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57911-497B-648C-2247-AFB7E324A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4A445-8F80-DFFA-4FC2-E4F5E28B7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C75B-EC3A-B646-BA6A-AA5166D4BC85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7925281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737BF-D342-DF31-98F5-03C874D64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B98A8-FFA2-9631-F351-165A20AF9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93589-0361-D66D-FC77-57917714A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85049-0B97-EF4D-8373-9F154D2D47FB}" type="datetimeFigureOut">
              <a:t>9/4/26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CE513-FF78-3C6B-EFCA-F0AC1A855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083D9-0044-E92B-71B8-169CF4E73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C75B-EC3A-B646-BA6A-AA5166D4BC85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9177681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B7B70-4B5E-FEAA-33F2-0EA72DE8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59253-2A4D-E6C6-B6DC-88713FCCA4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7B4D8E-BE33-BDC8-A411-A1965D86E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E73BC-BD76-04F5-C751-61B079328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85049-0B97-EF4D-8373-9F154D2D47FB}" type="datetimeFigureOut">
              <a:t>9/4/26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29CD-9D89-1BDD-910A-1A9C1A4F3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0CE2F-4C3E-BA09-1559-61DA338A2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C75B-EC3A-B646-BA6A-AA5166D4BC85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907986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A9191-7FD2-6DD2-A80C-7F3DDBABC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22711-E02E-48BB-B45C-958888D5C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F5CAF-213D-B4A9-60C0-90BB9846E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CC48D-6618-7817-66FB-70BAFC0B03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074CB6-8A0A-5FB0-BF81-8759EBC5EC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72C8E1-19D2-8D18-D0D8-E58143053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85049-0B97-EF4D-8373-9F154D2D47FB}" type="datetimeFigureOut">
              <a:t>9/4/26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AE24E8-FB3C-6787-720C-0C42E0E51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68A1DF-A2DF-6B4C-43BB-4851015CA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C75B-EC3A-B646-BA6A-AA5166D4BC85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0078514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17D15-F7A6-6349-BC05-3AA3086F0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7ED32C-CC5F-0338-91B9-402081E01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85049-0B97-EF4D-8373-9F154D2D47FB}" type="datetimeFigureOut">
              <a:t>9/4/26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970E5E-1F34-B044-D197-5E1C92655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13B7CB-95C0-FD6D-C942-DFD340212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C75B-EC3A-B646-BA6A-AA5166D4BC85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58403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FCD8E0-8A3A-555F-7A08-86432F21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85049-0B97-EF4D-8373-9F154D2D47FB}" type="datetimeFigureOut">
              <a:t>9/4/26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BECB9-649D-CAF1-CD12-D8EB0DA8B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4F747-E94D-8E67-7030-A8C051BD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C75B-EC3A-B646-BA6A-AA5166D4BC85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3145143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96CC-D197-B5D6-AF5A-CF334FC32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A3F7F-7156-C17C-4894-6315B6ED4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95836-C7B9-C657-F92F-6F84E390B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D1335-C9C2-B93B-1B5E-FD21B415F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85049-0B97-EF4D-8373-9F154D2D47FB}" type="datetimeFigureOut">
              <a:t>9/4/26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875B2-1AB3-AC11-1792-66167B6A1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E2913-E335-2830-50BD-C3BCE1E86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C75B-EC3A-B646-BA6A-AA5166D4BC85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8657992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B45F-7B49-9B85-D5EA-D1BC554D0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DB02ED-D520-542E-1226-A6DF906BFC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E059C-5DE9-2D26-63FE-9C2A295F3A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0DA9B-732B-8DAC-C04D-80B24B65B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85049-0B97-EF4D-8373-9F154D2D47FB}" type="datetimeFigureOut">
              <a:t>9/4/26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3BFBE-5D57-CEF0-1FF6-7B1E4BD1A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9F483-65DD-A36F-EB2C-7E19FE495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C75B-EC3A-B646-BA6A-AA5166D4BC85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9472370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33A91-B8D1-63A6-A128-E1AC7A87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99025-79E8-77DC-C75B-AAF3030ED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0BA8D-D7D6-2358-3E00-67FFBE275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85049-0B97-EF4D-8373-9F154D2D47FB}" type="datetimeFigureOut">
              <a:t>9/4/26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2B7D3-E972-686C-CBFA-66CE20DDB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3E483-590B-6A90-4F8B-B9840648F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C75B-EC3A-B646-BA6A-AA5166D4BC85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517828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0F3900-3BDD-AB82-8F28-3A4DE06B9C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BBD5DD-47BA-FCF5-0475-1450DB9BD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C76B2-F9AC-052B-62A2-61EAF89F6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85049-0B97-EF4D-8373-9F154D2D47FB}" type="datetimeFigureOut">
              <a:t>9/4/26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699AC-8239-A442-6DFD-61146DB4D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F6A86-BD55-D4FF-A89A-EDA948CD6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C75B-EC3A-B646-BA6A-AA5166D4BC85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9122623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2655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52686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4/9/26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7272453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4/9/26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7066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4/9/26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5133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4/9/26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4/9/26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4/9/26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4/9/26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4/9/26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D30027-C1B9-97BC-6667-D120CB5C6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B9796-27CE-D5CF-11D7-C0BF60EDF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73E17-13E0-81AB-C47C-88A0825C2C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F85049-0B97-EF4D-8373-9F154D2D47FB}" type="datetimeFigureOut">
              <a:t>9/4/26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D70A3-AE79-2F44-DCB5-AD8236B14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46029-A139-9301-710F-87102A646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59C75B-EC3A-B646-BA6A-AA5166D4BC85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09641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683" r:id="rId17"/>
    <p:sldLayoutId id="2147483679" r:id="rId18"/>
    <p:sldLayoutId id="2147483680" r:id="rId19"/>
    <p:sldLayoutId id="2147483681" r:id="rId20"/>
    <p:sldLayoutId id="2147483682" r:id="rId2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1" y="2341461"/>
            <a:ext cx="7157562" cy="21750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Báo cáo về thuật toán DE (Differential Evolution) và so sánh với PSO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1" y="3781168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1. Nhắc lại về thuật toán PSO và mô hình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EE6634-DA39-8A00-E176-97EE9DB213AA}"/>
                  </a:ext>
                </a:extLst>
              </p:cNvPr>
              <p:cNvSpPr txBox="1"/>
              <p:nvPr/>
            </p:nvSpPr>
            <p:spPr>
              <a:xfrm>
                <a:off x="235077" y="932427"/>
                <a:ext cx="7950467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>
                    <a:cs typeface="Times New Roman" panose="02020603050405020304" pitchFamily="18" charset="0"/>
                  </a:rPr>
                  <a:t>Các hạt (tương ứng 1 particle) đại diện cho một nghiệm tiềm năng và sở hữu thông tin về: </a:t>
                </a:r>
              </a:p>
              <a:p>
                <a:pPr marL="285750" indent="-285750">
                  <a:buFontTx/>
                  <a:buChar char="-"/>
                </a:pPr>
                <a:r>
                  <a:rPr lang="en-VN">
                    <a:cs typeface="Times New Roman" panose="02020603050405020304" pitchFamily="18" charset="0"/>
                  </a:rPr>
                  <a:t>Vị trí hiện tại x</a:t>
                </a:r>
              </a:p>
              <a:p>
                <a:pPr marL="285750" indent="-285750">
                  <a:buFontTx/>
                  <a:buChar char="-"/>
                </a:pPr>
                <a:r>
                  <a:rPr lang="en-VN">
                    <a:cs typeface="Times New Roman" panose="02020603050405020304" pitchFamily="18" charset="0"/>
                  </a:rPr>
                  <a:t>Vận tốc hướng tới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V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VN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</m:oMath>
                </a14:m>
                <a:endParaRPr lang="en-VN">
                  <a:cs typeface="Times New Roman" panose="02020603050405020304" pitchFamily="18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VN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b="0" i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VN" i="0">
                            <a:latin typeface="Cambria Math" panose="02040503050406030204" pitchFamily="18" charset="0"/>
                          </a:rPr>
                          <m:t>Best</m:t>
                        </m:r>
                      </m:sub>
                    </m:sSub>
                    <m:r>
                      <a:rPr lang="vi-VN" b="0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vi-VN" i="0">
                        <a:latin typeface="Cambria Math" panose="02040503050406030204" pitchFamily="18" charset="0"/>
                      </a:rPr>
                      <m:t>v</m:t>
                    </m:r>
                    <m:r>
                      <a:rPr lang="vi-VN" i="0">
                        <a:latin typeface="Cambria Math" panose="02040503050406030204" pitchFamily="18" charset="0"/>
                      </a:rPr>
                      <m:t>à </m:t>
                    </m:r>
                    <m:sSub>
                      <m:sSubPr>
                        <m:ctrlPr>
                          <a:rPr lang="en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i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VN" i="0">
                            <a:latin typeface="Cambria Math" panose="02040503050406030204" pitchFamily="18" charset="0"/>
                          </a:rPr>
                          <m:t>Best</m:t>
                        </m:r>
                      </m:sub>
                    </m:sSub>
                  </m:oMath>
                </a14:m>
                <a:r>
                  <a:rPr lang="en-VN">
                    <a:cs typeface="Times New Roman" panose="02020603050405020304" pitchFamily="18" charset="0"/>
                  </a:rPr>
                  <a:t> ứng với Vị trí tốt nhất cục bộ và Vị trí tốt nhất toàn thể.</a:t>
                </a:r>
              </a:p>
              <a:p>
                <a:r>
                  <a:rPr lang="en-VN">
                    <a:cs typeface="Times New Roman" panose="02020603050405020304" pitchFamily="18" charset="0"/>
                  </a:rPr>
                  <a:t>Sau mỗi bước lặp, các hạt cập nhật trạng thái: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VN">
                    <a:cs typeface="Times New Roman" panose="02020603050405020304" pitchFamily="18" charset="0"/>
                  </a:rPr>
                  <a:t>Giữ nguyên hướng di chuyển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VN">
                    <a:cs typeface="Times New Roman" panose="02020603050405020304" pitchFamily="18" charset="0"/>
                  </a:rPr>
                  <a:t>Hướng về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VN">
                            <a:latin typeface="Cambria Math" panose="02040503050406030204" pitchFamily="18" charset="0"/>
                          </a:rPr>
                          <m:t>Best</m:t>
                        </m:r>
                      </m:sub>
                    </m:sSub>
                    <m:r>
                      <a:rPr lang="vi-V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VN"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VN">
                    <a:cs typeface="Times New Roman" panose="02020603050405020304" pitchFamily="18" charset="0"/>
                  </a:rPr>
                  <a:t>Hướng về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VN">
                            <a:latin typeface="Cambria Math" panose="02040503050406030204" pitchFamily="18" charset="0"/>
                          </a:rPr>
                          <m:t>Best</m:t>
                        </m:r>
                      </m:sub>
                    </m:sSub>
                    <m:r>
                      <a:rPr lang="vi-V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VN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EE6634-DA39-8A00-E176-97EE9DB21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77" y="932427"/>
                <a:ext cx="7950467" cy="2585323"/>
              </a:xfrm>
              <a:prstGeom prst="rect">
                <a:avLst/>
              </a:prstGeom>
              <a:blipFill>
                <a:blip r:embed="rId2"/>
                <a:stretch>
                  <a:fillRect l="-638" t="-980" r="-638" b="-343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A981A32-929D-DA0E-F694-D6CDC1A4D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599" y="3207619"/>
            <a:ext cx="5445723" cy="2914154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30313">
              <a:schemeClr val="accent1">
                <a:alpha val="40000"/>
              </a:schemeClr>
            </a:glo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30026-5F3F-D773-0E3F-0474A70BA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AB60C3-EC53-0BBB-FBA6-05B7F10E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821155-3FE8-2FD9-51F1-56B326AAA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1. Nhắc lại về thuật toán PSO và mô hình</a:t>
            </a:r>
          </a:p>
        </p:txBody>
      </p:sp>
      <p:sp>
        <p:nvSpPr>
          <p:cNvPr id="4" name="AutoShape 2" descr=", do AI tạo">
            <a:extLst>
              <a:ext uri="{FF2B5EF4-FFF2-40B4-BE49-F238E27FC236}">
                <a16:creationId xmlns:a16="http://schemas.microsoft.com/office/drawing/2014/main" id="{1C1AC3D1-892B-271F-E7C9-1DED2CF2A0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V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860242-360D-2CAA-0007-3537A4F541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69375"/>
            <a:ext cx="7772400" cy="431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248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5F6D6-D157-2D7F-0302-2E2FDE44B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707690-1447-0BA7-B671-5A5CA4DC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6ADDF8-1D6F-4B90-2E53-01331075E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1. Nhắc lại về thuật toán PSO và mô hình</a:t>
            </a:r>
          </a:p>
        </p:txBody>
      </p:sp>
      <p:sp>
        <p:nvSpPr>
          <p:cNvPr id="4" name="AutoShape 2" descr=", do AI tạo">
            <a:extLst>
              <a:ext uri="{FF2B5EF4-FFF2-40B4-BE49-F238E27FC236}">
                <a16:creationId xmlns:a16="http://schemas.microsoft.com/office/drawing/2014/main" id="{1E384A51-740E-9A03-C9A2-9CCC7C7D1C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078BE0-752C-06A3-6226-2B38F5662DEE}"/>
              </a:ext>
            </a:extLst>
          </p:cNvPr>
          <p:cNvSpPr txBox="1"/>
          <p:nvPr/>
        </p:nvSpPr>
        <p:spPr>
          <a:xfrm>
            <a:off x="320355" y="918619"/>
            <a:ext cx="87577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000"/>
              <a:t>Nhận xét về thuật toán PSO:</a:t>
            </a:r>
          </a:p>
          <a:p>
            <a:pPr marL="342900" indent="-342900">
              <a:buFontTx/>
              <a:buChar char="-"/>
            </a:pPr>
            <a:r>
              <a:rPr lang="en-VN" sz="2000"/>
              <a:t>Tốc độ hội tụ rất nhanh</a:t>
            </a:r>
          </a:p>
          <a:p>
            <a:pPr marL="342900" indent="-342900">
              <a:buFontTx/>
              <a:buChar char="-"/>
            </a:pPr>
            <a:r>
              <a:rPr lang="en-VN" sz="2000"/>
              <a:t>Nếu G</a:t>
            </a:r>
            <a:r>
              <a:rPr lang="en-US" sz="2000"/>
              <a:t>Best là 1 cái bẫy, sẽ không có đường lùi, sự đa dạng -&gt; 0</a:t>
            </a:r>
          </a:p>
          <a:p>
            <a:r>
              <a:rPr lang="en-US" sz="2000"/>
              <a:t>Mô phỏng có các đặc điểm sau: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Cố định hướng đi theo trục 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Tọa độ Z của UAV thường được kéo xuống thấp để tăng cường tín hiệu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Tọa độ Z thường được điều chỉnh ở step 1 và cố định đến step cuối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UAV chủ yếu thay đổi tọa độ ở trục X.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Vùng do thám UAV(chạy PSO) là một mặt phẳng bị giới hạn như hình dưới.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FD0988-7B90-C75C-B29A-8D9ACEA5AC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932" y="3698789"/>
            <a:ext cx="4779335" cy="265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19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/>
              <a:t>2. Thuật toán DE (Differential Evolution)</a:t>
            </a:r>
          </a:p>
        </p:txBody>
      </p:sp>
      <p:pic>
        <p:nvPicPr>
          <p:cNvPr id="6" name="Differential Evolution Algorithm - (360p).mp4">
            <a:hlinkClick r:id="" action="ppaction://media"/>
            <a:extLst>
              <a:ext uri="{FF2B5EF4-FFF2-40B4-BE49-F238E27FC236}">
                <a16:creationId xmlns:a16="http://schemas.microsoft.com/office/drawing/2014/main" id="{3856808F-CE3B-6C3C-ED02-30BE2404FA4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24000" y="1143000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73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/>
              <a:t>2. Thuật toán DE (Differential Evolution)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5C55C2-76AC-BC75-E191-71AC63F74C29}"/>
              </a:ext>
            </a:extLst>
          </p:cNvPr>
          <p:cNvSpPr txBox="1"/>
          <p:nvPr/>
        </p:nvSpPr>
        <p:spPr>
          <a:xfrm>
            <a:off x="387178" y="1186687"/>
            <a:ext cx="79646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/>
              <a:t>1. Mutation (Đột biến)</a:t>
            </a:r>
          </a:p>
          <a:p>
            <a:r>
              <a:rPr lang="en-VN"/>
              <a:t>Thuật toán DE về cơ bản giống PSO là đều có các hạt(particals) đi dò đường, nhưng</a:t>
            </a:r>
          </a:p>
          <a:p>
            <a:r>
              <a:rPr lang="en-VN"/>
              <a:t>DE tạo ra các tọa độ bay mới bằng cách lai tạo.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45085C-3990-D754-9E28-BCEE994A1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86" y="2557957"/>
            <a:ext cx="7772400" cy="26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070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F1EB7-B1F4-1DCE-F362-15D0C12F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05C3CF-107E-F620-88A7-83E653516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5F99CB-1175-9FA3-7E74-17856C358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/>
              <a:t>2. Thuật toán DE (Differential Evolution)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F64449-1D26-FF3B-0D64-E2FF8751FCF3}"/>
              </a:ext>
            </a:extLst>
          </p:cNvPr>
          <p:cNvSpPr txBox="1"/>
          <p:nvPr/>
        </p:nvSpPr>
        <p:spPr>
          <a:xfrm>
            <a:off x="387178" y="1186687"/>
            <a:ext cx="2374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/>
              <a:t>2. </a:t>
            </a:r>
            <a:r>
              <a:rPr lang="vi-VN"/>
              <a:t>Crossover (Lai tạo)</a:t>
            </a:r>
          </a:p>
          <a:p>
            <a:endParaRPr lang="vi-V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D133A1-C876-B28F-8742-4C61A099D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24" y="1485138"/>
            <a:ext cx="7467771" cy="452911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E165E0F-2D53-D669-3D27-BD0CBF221921}"/>
              </a:ext>
            </a:extLst>
          </p:cNvPr>
          <p:cNvSpPr/>
          <p:nvPr/>
        </p:nvSpPr>
        <p:spPr>
          <a:xfrm>
            <a:off x="2619632" y="1833018"/>
            <a:ext cx="4917990" cy="2593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12872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38AFC-080F-9867-EC50-E85901A50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32D5C1-5CC2-A3B3-BE2F-BB9A2346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EF5455-74CA-E13C-C60B-8235C7A93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/>
              <a:t>2. Thuật toán DE (Differential Evolution)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1B15B8-17FB-BC71-5B5D-82B7EA640985}"/>
              </a:ext>
            </a:extLst>
          </p:cNvPr>
          <p:cNvSpPr txBox="1"/>
          <p:nvPr/>
        </p:nvSpPr>
        <p:spPr>
          <a:xfrm>
            <a:off x="387178" y="1186687"/>
            <a:ext cx="7982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2. </a:t>
            </a:r>
            <a:r>
              <a:rPr lang="vi-VN"/>
              <a:t>Crossover (Lai tạo)</a:t>
            </a:r>
          </a:p>
        </p:txBody>
      </p:sp>
      <p:sp>
        <p:nvSpPr>
          <p:cNvPr id="9" name="AutoShape 2" descr="Illustration of mutation (red) and crossover (blue) in differential... |  Download Scientific Diagram">
            <a:extLst>
              <a:ext uri="{FF2B5EF4-FFF2-40B4-BE49-F238E27FC236}">
                <a16:creationId xmlns:a16="http://schemas.microsoft.com/office/drawing/2014/main" id="{DE5D7371-0FBE-0DB1-20B8-97EE11766E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VN"/>
          </a:p>
        </p:txBody>
      </p:sp>
      <p:sp>
        <p:nvSpPr>
          <p:cNvPr id="10" name="AutoShape 4" descr="Illustration of mutation (red) and crossover (blue) in differential... |  Download Scientific Diagram">
            <a:extLst>
              <a:ext uri="{FF2B5EF4-FFF2-40B4-BE49-F238E27FC236}">
                <a16:creationId xmlns:a16="http://schemas.microsoft.com/office/drawing/2014/main" id="{839F3CE1-9558-C63A-1137-89DDD36B55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F7A02D-3119-FB56-E475-CB0EC56B1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217" y="1556019"/>
            <a:ext cx="6262593" cy="441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585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621B9-F986-973D-973B-33F497619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BF83E3-BDC8-9B23-874D-65953C4A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DF3984-7CBA-79B9-4BF4-B89331C5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/>
              <a:t>2. Thuật toán DE (Differential Evolution)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098269-C397-C0B7-E839-C0695F5467BA}"/>
                  </a:ext>
                </a:extLst>
              </p:cNvPr>
              <p:cNvSpPr txBox="1"/>
              <p:nvPr/>
            </p:nvSpPr>
            <p:spPr>
              <a:xfrm>
                <a:off x="387178" y="1186687"/>
                <a:ext cx="798246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/>
                  <a:t>3. </a:t>
                </a:r>
                <a:r>
                  <a:rPr lang="vi-VN"/>
                  <a:t>Selection (Lựa chọn)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vi-VN"/>
                  <a:t>	Sau crossover thì ta có tọa độ mới. Bằng cách lắp tọa độ mới vào hàm mục tiêu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vi-VN"/>
                  <a:t>(Min Achievable Rates) và áp dụng thuật toán tham lam với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vi-VN"/>
                  <a:t> của tọa độ cũ và mới, tọa độ nào cho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vi-VN"/>
                  <a:t> cao hơn sẽ được cập nhật vị trí mới của hạt.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098269-C397-C0B7-E839-C0695F546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78" y="1186687"/>
                <a:ext cx="7982465" cy="1477328"/>
              </a:xfrm>
              <a:prstGeom prst="rect">
                <a:avLst/>
              </a:prstGeom>
              <a:blipFill>
                <a:blip r:embed="rId2"/>
                <a:stretch>
                  <a:fillRect l="-635" t="-2564" b="-598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3B81DE6-6900-6687-9348-67078BF602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110" y="3578036"/>
            <a:ext cx="58166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79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A7067-C955-5BD3-BBCE-DEF81C916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0836D8-6ACA-483D-3821-95B47A98F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3133A3-86FE-BCC9-66A5-54FC42B4E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/>
              <a:t>2. Thuật toán DE (Differential Evolution)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68C2E9-795C-13FE-C728-938F7ADBD9C1}"/>
              </a:ext>
            </a:extLst>
          </p:cNvPr>
          <p:cNvSpPr txBox="1"/>
          <p:nvPr/>
        </p:nvSpPr>
        <p:spPr>
          <a:xfrm>
            <a:off x="387178" y="1186687"/>
            <a:ext cx="798246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4. Nhận xét về giải thuật DE</a:t>
            </a:r>
          </a:p>
          <a:p>
            <a:endParaRPr lang="vi-V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/>
              <a:t>Cơ chế đột biến và lai tạo luôn ném các hạt ra xa nhau để rà sóat không gian liên tục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/>
              <a:t>Nếu có 2 đỉnh, luôn có những cá thể tìm thấy cả 2 đỉnh, hoặc tìm được đỉnh cao hơn.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/>
              <a:t>Hiệu suất của DE rất ổn định nhờ cơ chế đột biến, lai tạo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/>
              <a:t>Tốc độ hội tụ chậm do phải đột biến, lai tạo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/>
              <a:t>Hiệu năng của thuật toán DE phụ thuộc vào 2 chỉ số: Hệ số đột biến F và Tỷ lệ lai ghép CR.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/>
          </a:p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58869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3. So sánh thuật toán PSO và DE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52C51BB-45FE-C6E9-C270-D53F4D433D5E}"/>
                  </a:ext>
                </a:extLst>
              </p14:cNvPr>
              <p14:cNvContentPartPr/>
              <p14:nvPr/>
            </p14:nvContentPartPr>
            <p14:xfrm>
              <a:off x="-709048" y="1403678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52C51BB-45FE-C6E9-C270-D53F4D433D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715168" y="139755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FE22171-D0B8-CB22-7AF6-EE641135D79A}"/>
                  </a:ext>
                </a:extLst>
              </p:cNvPr>
              <p:cNvSpPr txBox="1"/>
              <p:nvPr/>
            </p:nvSpPr>
            <p:spPr>
              <a:xfrm>
                <a:off x="250937" y="923185"/>
                <a:ext cx="8673846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/>
                  <a:t>MÔ PHỎNG THAY ĐỔI:   3 BSs -&gt; 5 BSs , 3 G</a:t>
                </a:r>
                <a:r>
                  <a:rPr lang="en-US"/>
                  <a:t>Us -&gt; 10 GUs,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GU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vi-VN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vi-VN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dis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VN"/>
                  <a:t> 25%,75% -&gt; 100%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FE22171-D0B8-CB22-7AF6-EE641135D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37" y="923185"/>
                <a:ext cx="8673846" cy="381515"/>
              </a:xfrm>
              <a:prstGeom prst="rect">
                <a:avLst/>
              </a:prstGeom>
              <a:blipFill>
                <a:blip r:embed="rId4"/>
                <a:stretch>
                  <a:fillRect l="-585" t="-6452" r="-146" b="-2258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AD440A82-9139-6D78-81CD-C6CE83120F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56" y="1304700"/>
            <a:ext cx="7772400" cy="502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7497E-5B00-6829-5290-8E545F32F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301562-C59D-1B90-410D-31060DF3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AC4EA3-DFF1-538B-9173-ED7C4ABAE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3. So sánh thuật toán PSO và DE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7FE7B4F-84FD-2509-9F66-EAF5A588A0C1}"/>
                  </a:ext>
                </a:extLst>
              </p14:cNvPr>
              <p14:cNvContentPartPr/>
              <p14:nvPr/>
            </p14:nvContentPartPr>
            <p14:xfrm>
              <a:off x="-709048" y="1403678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7FE7B4F-84FD-2509-9F66-EAF5A588A0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715168" y="139755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E1AFCC-9DB0-A97F-8799-B9FA0F4D4ABB}"/>
                  </a:ext>
                </a:extLst>
              </p:cNvPr>
              <p:cNvSpPr txBox="1"/>
              <p:nvPr/>
            </p:nvSpPr>
            <p:spPr>
              <a:xfrm>
                <a:off x="273056" y="1022162"/>
                <a:ext cx="8651727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VN"/>
                  <a:t>MÔ PHỎNG THAY ĐỔI:   3 BSs -&gt; 5 BSs , 3 G</a:t>
                </a:r>
                <a:r>
                  <a:rPr lang="en-US"/>
                  <a:t>Us -&gt; 10 GUs,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GU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vi-VN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vi-VN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dis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VN"/>
                  <a:t> 25%,75% -&gt; 100%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E1AFCC-9DB0-A97F-8799-B9FA0F4D4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56" y="1022162"/>
                <a:ext cx="8651727" cy="381515"/>
              </a:xfrm>
              <a:prstGeom prst="rect">
                <a:avLst/>
              </a:prstGeom>
              <a:blipFill>
                <a:blip r:embed="rId4"/>
                <a:stretch>
                  <a:fillRect l="-587" t="-6452" r="-440" b="-2258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EB37125-A3D4-EB08-E7FE-619360E220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16934"/>
            <a:ext cx="7772400" cy="494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00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02E7-B33A-409B-B200-7F6570386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41B7FC-B637-75BE-FD6C-5EB6DF471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FCBA2D-FEDE-A012-2E40-C107DE18B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3. So sánh thuật toán PSO và DE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934D11D-665B-4445-E368-51EF9B91CC73}"/>
                  </a:ext>
                </a:extLst>
              </p14:cNvPr>
              <p14:cNvContentPartPr/>
              <p14:nvPr/>
            </p14:nvContentPartPr>
            <p14:xfrm>
              <a:off x="-709048" y="1403678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934D11D-665B-4445-E368-51EF9B91CC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715168" y="139755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989803-DE54-CDA0-A3EA-3A834E1D3C70}"/>
                  </a:ext>
                </a:extLst>
              </p:cNvPr>
              <p:cNvSpPr txBox="1"/>
              <p:nvPr/>
            </p:nvSpPr>
            <p:spPr>
              <a:xfrm>
                <a:off x="237960" y="1022163"/>
                <a:ext cx="8670963" cy="381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VN"/>
                  <a:t>MÔ PHỎNG THAY ĐỔI:   3 BSs -&gt; 5 BSs , 3 G</a:t>
                </a:r>
                <a:r>
                  <a:rPr lang="en-US"/>
                  <a:t>Us -&gt; 10 GUs,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GU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vi-VN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vi-VN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dis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VN"/>
                  <a:t> 25%,75% -&gt; 100%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989803-DE54-CDA0-A3EA-3A834E1D3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60" y="1022163"/>
                <a:ext cx="8670963" cy="381515"/>
              </a:xfrm>
              <a:prstGeom prst="rect">
                <a:avLst/>
              </a:prstGeom>
              <a:blipFill>
                <a:blip r:embed="rId4"/>
                <a:stretch>
                  <a:fillRect l="-585" t="-6452" r="-146" b="-2258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796B8F3-84AF-CE94-879F-FDDF499BF8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403678"/>
            <a:ext cx="7772400" cy="4968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988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41D14-D770-2535-7D3E-83DD48812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308380-86A6-04DD-8AD0-FBE90399B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B5C4F1-1F51-2F5C-F333-0A8AFDF4E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3. So sánh thuật toán PSO và DE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06A6BE-DB1B-4F7F-FE25-593B638F5DC1}"/>
              </a:ext>
            </a:extLst>
          </p:cNvPr>
          <p:cNvGraphicFramePr>
            <a:graphicFrameLocks noGrp="1"/>
          </p:cNvGraphicFramePr>
          <p:nvPr/>
        </p:nvGraphicFramePr>
        <p:xfrm>
          <a:off x="426719" y="906112"/>
          <a:ext cx="8313019" cy="401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228">
                  <a:extLst>
                    <a:ext uri="{9D8B030D-6E8A-4147-A177-3AD203B41FA5}">
                      <a16:colId xmlns:a16="http://schemas.microsoft.com/office/drawing/2014/main" val="620149157"/>
                    </a:ext>
                  </a:extLst>
                </a:gridCol>
                <a:gridCol w="2723950">
                  <a:extLst>
                    <a:ext uri="{9D8B030D-6E8A-4147-A177-3AD203B41FA5}">
                      <a16:colId xmlns:a16="http://schemas.microsoft.com/office/drawing/2014/main" val="1422584360"/>
                    </a:ext>
                  </a:extLst>
                </a:gridCol>
                <a:gridCol w="3368841">
                  <a:extLst>
                    <a:ext uri="{9D8B030D-6E8A-4147-A177-3AD203B41FA5}">
                      <a16:colId xmlns:a16="http://schemas.microsoft.com/office/drawing/2014/main" val="3655862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VN"/>
                        <a:t>Tiêu chí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/>
                        <a:t>PSO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/>
                        <a:t>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983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/>
                        <a:t>Cơ chế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/>
                        <a:t>Học hỏi kinh nghiệm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/>
                        <a:t>Tiến hóa đột biến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17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/>
                        <a:t>Tốc độ hội tụ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/>
                        <a:t>Nhanh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/>
                        <a:t>Chậm</a:t>
                      </a:r>
                    </a:p>
                    <a:p>
                      <a:r>
                        <a:rPr lang="en-VN"/>
                        <a:t>(Phải thử lai tạo)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672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/>
                        <a:t>Xử lý đỉnh giả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/>
                        <a:t>Kém(Dễ mắc bẫy)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/>
                        <a:t>Xuất sắc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588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/>
                        <a:t>Duy trì sự đa dạng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/>
                        <a:t>Giảm rất nhanh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/>
                        <a:t>Bảo toàn tốt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241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/>
                        <a:t>Cơ chế dịch chuyển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/>
                        <a:t>Luôn đi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/>
                        <a:t>Chỉ đi nếu tốt hơn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310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/>
                        <a:t>Chi phí tính toán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/>
                        <a:t>Rẻ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/>
                        <a:t>Cao hơn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541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/>
                        <a:t>Tham số cài đặt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/>
                        <a:t>Dễ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/>
                        <a:t>Khó hơn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821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Ứ</a:t>
                      </a:r>
                      <a:r>
                        <a:rPr lang="en-VN"/>
                        <a:t>ng dụng UAV SWIPT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/>
                        <a:t>Phù hợp bản đồ trơn chu, ít nhiễu. </a:t>
                      </a:r>
                    </a:p>
                    <a:p>
                      <a:endParaRPr lang="en-VN"/>
                    </a:p>
                    <a:p>
                      <a:r>
                        <a:rPr lang="en-VN"/>
                        <a:t>-&gt; Phù hợp trong bài toán đơn giản/ thử nghiệm.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/>
                        <a:t>Xử lý tốt môi trường NOMA nhiều nhiễu, phức tạp, cần đảm bảo tốc độ mạng cho GU xa nhất.</a:t>
                      </a:r>
                    </a:p>
                    <a:p>
                      <a:r>
                        <a:rPr lang="en-VN"/>
                        <a:t>-&gt; Phù hợp các bài toán phức tạp/ thực tế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15174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F3D9A74-4E3A-E8A3-16A7-3A159275F2B6}"/>
              </a:ext>
            </a:extLst>
          </p:cNvPr>
          <p:cNvSpPr txBox="1"/>
          <p:nvPr/>
        </p:nvSpPr>
        <p:spPr>
          <a:xfrm>
            <a:off x="426719" y="5605112"/>
            <a:ext cx="8688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b="1"/>
              <a:t>Lưu ý: Trong 1 số mô phỏng nhẹ(như trong bài báo), hiệu năng của PSO sẽ cao hơn xấp xỉ</a:t>
            </a:r>
          </a:p>
          <a:p>
            <a:r>
              <a:rPr lang="en-VN" b="1"/>
              <a:t>DE do định lý NFL ( The No Free Lunch ). Nguyên nhân là do không gian dữ liệu quá nhỏ.</a:t>
            </a:r>
          </a:p>
        </p:txBody>
      </p:sp>
    </p:spTree>
    <p:extLst>
      <p:ext uri="{BB962C8B-B14F-4D97-AF65-F5344CB8AC3E}">
        <p14:creationId xmlns:p14="http://schemas.microsoft.com/office/powerpoint/2010/main" val="3021658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B816C0-4843-022A-0AD7-6D2FDA31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4D8D36-4B94-F7BC-C487-FB4C4A85F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4. Một số giải thuật hiện đại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68C20D-5584-1BE2-DFD1-414D30ABE1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683" y="1547826"/>
            <a:ext cx="8674100" cy="5024300"/>
          </a:xfrm>
        </p:spPr>
        <p:txBody>
          <a:bodyPr/>
          <a:lstStyle/>
          <a:p>
            <a:r>
              <a:rPr lang="en-VN"/>
              <a:t>GWO (Gray Wolf Optimizer - 2014)</a:t>
            </a:r>
          </a:p>
          <a:p>
            <a:pPr lvl="1"/>
            <a:r>
              <a:rPr lang="en-VN"/>
              <a:t>Giống PSO nhưng có 4 G</a:t>
            </a:r>
            <a:r>
              <a:rPr lang="en-US"/>
              <a:t>b</a:t>
            </a:r>
            <a:r>
              <a:rPr lang="en-VN"/>
              <a:t>est (Alpha, Beta, Delta, Omega)</a:t>
            </a:r>
          </a:p>
          <a:p>
            <a:r>
              <a:rPr lang="en-VN"/>
              <a:t>WOA (Whale Optimization Algorithm - 2016)</a:t>
            </a:r>
          </a:p>
          <a:p>
            <a:pPr lvl="1"/>
            <a:r>
              <a:rPr lang="en-VN"/>
              <a:t>Random lựa chọn: Bơi thẳng(giống PSO) hoặc bơi theo hình xoắn ốc.</a:t>
            </a:r>
          </a:p>
        </p:txBody>
      </p:sp>
      <p:pic>
        <p:nvPicPr>
          <p:cNvPr id="7170" name="Picture 2" descr="The mechanism of the Whale Optimization Algorithm (WOA) | Download  Scientific Diagram">
            <a:extLst>
              <a:ext uri="{FF2B5EF4-FFF2-40B4-BE49-F238E27FC236}">
                <a16:creationId xmlns:a16="http://schemas.microsoft.com/office/drawing/2014/main" id="{7725F333-E042-FE1C-E2A6-79EA4FF2D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213" y="3667872"/>
            <a:ext cx="6557319" cy="227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0165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1F162-126A-8930-18C1-39B7D2109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CE8864-70C4-64EC-C2F1-86D18EA79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59A522-4B76-6B99-1CCF-0A2D8508E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5. Một số hướng đi khác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57E85A-2642-4449-1988-8DDF00037245}"/>
              </a:ext>
            </a:extLst>
          </p:cNvPr>
          <p:cNvSpPr txBox="1"/>
          <p:nvPr/>
        </p:nvSpPr>
        <p:spPr>
          <a:xfrm>
            <a:off x="609600" y="1136822"/>
            <a:ext cx="857247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VN"/>
              <a:t>Tinh chỉnh kiến trúc mô hình (SWIPT(PS) + NOMA)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VN"/>
              <a:t>Nvidia Cosmos (Physical AI): Đánh giá môi trường qua camera (tránh vật thể bay)</a:t>
            </a:r>
          </a:p>
          <a:p>
            <a:pPr marL="342900" indent="-342900">
              <a:buFont typeface="+mj-lt"/>
              <a:buAutoNum type="arabicPeriod"/>
            </a:pPr>
            <a:r>
              <a:rPr lang="en-VN"/>
              <a:t>Lựa chọn thuật toán tốt hơn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VN"/>
              <a:t>Các thuật toán bầy đàn hiện đại (GWO, WOA,…)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VN"/>
              <a:t>UAV thích nghi môi trường real-time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VN"/>
              <a:t>Deep Reinforcement Learning: Thích nghi với thay đổi vi phân</a:t>
            </a:r>
          </a:p>
        </p:txBody>
      </p:sp>
    </p:spTree>
    <p:extLst>
      <p:ext uri="{BB962C8B-B14F-4D97-AF65-F5344CB8AC3E}">
        <p14:creationId xmlns:p14="http://schemas.microsoft.com/office/powerpoint/2010/main" val="269867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3660</TotalTime>
  <Words>959</Words>
  <Application>Microsoft Macintosh PowerPoint</Application>
  <PresentationFormat>On-screen Show (4:3)</PresentationFormat>
  <Paragraphs>111</Paragraphs>
  <Slides>17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Cambria Math</vt:lpstr>
      <vt:lpstr>Lato</vt:lpstr>
      <vt:lpstr>Times New Roman</vt:lpstr>
      <vt:lpstr>Office Theme</vt:lpstr>
      <vt:lpstr>PowerPoint Presentation</vt:lpstr>
      <vt:lpstr>1. Nhắc lại về thuật toán PSO và mô hình</vt:lpstr>
      <vt:lpstr>1. Nhắc lại về thuật toán PSO và mô hình</vt:lpstr>
      <vt:lpstr>1. Nhắc lại về thuật toán PSO và mô hình</vt:lpstr>
      <vt:lpstr>2. Thuật toán DE (Differential Evolution)</vt:lpstr>
      <vt:lpstr>2. Thuật toán DE (Differential Evolution)</vt:lpstr>
      <vt:lpstr>2. Thuật toán DE (Differential Evolution)</vt:lpstr>
      <vt:lpstr>2. Thuật toán DE (Differential Evolution)</vt:lpstr>
      <vt:lpstr>2. Thuật toán DE (Differential Evolution)</vt:lpstr>
      <vt:lpstr>2. Thuật toán DE (Differential Evolution)</vt:lpstr>
      <vt:lpstr>3. So sánh thuật toán PSO và DE</vt:lpstr>
      <vt:lpstr>3. So sánh thuật toán PSO và DE</vt:lpstr>
      <vt:lpstr>3. So sánh thuật toán PSO và DE</vt:lpstr>
      <vt:lpstr>3. So sánh thuật toán PSO và DE</vt:lpstr>
      <vt:lpstr>4. Một số giải thuật hiện đại</vt:lpstr>
      <vt:lpstr>PowerPoint Presentation</vt:lpstr>
      <vt:lpstr>5. Một số hướng đi khác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Hoang Minh</cp:lastModifiedBy>
  <cp:revision>19</cp:revision>
  <dcterms:created xsi:type="dcterms:W3CDTF">2021-05-28T04:32:29Z</dcterms:created>
  <dcterms:modified xsi:type="dcterms:W3CDTF">2026-04-09T07:08:57Z</dcterms:modified>
</cp:coreProperties>
</file>