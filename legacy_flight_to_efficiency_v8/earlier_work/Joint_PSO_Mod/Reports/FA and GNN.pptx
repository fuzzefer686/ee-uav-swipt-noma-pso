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13"/>
  </p:notesMasterIdLst>
  <p:handoutMasterIdLst>
    <p:handoutMasterId r:id="rId14"/>
  </p:handoutMasterIdLst>
  <p:sldIdLst>
    <p:sldId id="257" r:id="rId2"/>
    <p:sldId id="265" r:id="rId3"/>
    <p:sldId id="266" r:id="rId4"/>
    <p:sldId id="270" r:id="rId5"/>
    <p:sldId id="261" r:id="rId6"/>
    <p:sldId id="271" r:id="rId7"/>
    <p:sldId id="272" r:id="rId8"/>
    <p:sldId id="273" r:id="rId9"/>
    <p:sldId id="274" r:id="rId10"/>
    <p:sldId id="275" r:id="rId11"/>
    <p:sldId id="269"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694" autoAdjust="0"/>
    <p:restoredTop sz="94660"/>
  </p:normalViewPr>
  <p:slideViewPr>
    <p:cSldViewPr snapToGrid="0">
      <p:cViewPr>
        <p:scale>
          <a:sx n="130" d="100"/>
          <a:sy n="130" d="100"/>
        </p:scale>
        <p:origin x="87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4/15/26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4/15/26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4/15/26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4/15/26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4/15/26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4/15/26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4/15/26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4/15/26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4/15/26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4/15/26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4/15/26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83" r:id="rId5"/>
    <p:sldLayoutId id="2147483679" r:id="rId6"/>
    <p:sldLayoutId id="2147483680" r:id="rId7"/>
    <p:sldLayoutId id="2147483681" r:id="rId8"/>
    <p:sldLayoutId id="2147483682" r:id="rId9"/>
    <p:sldLayoutId id="214748367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doi.org/10.1016/j.dcan.2022.05.014" TargetMode="Externa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jpeg"/><Relationship Id="rId2" Type="http://schemas.openxmlformats.org/officeDocument/2006/relationships/image" Target="../media/image18.png"/><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670864"/>
            <a:ext cx="7342482" cy="2593127"/>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000" dirty="0"/>
              <a:t>Báo cáo về Firefly Alg, các thuật toán metaheuristic và</a:t>
            </a:r>
          </a:p>
          <a:p>
            <a:r>
              <a:rPr lang="en-US" sz="4000" dirty="0"/>
              <a:t>tóm tắt về GNN.</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a:t>Các ý chính:</a:t>
            </a:r>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2</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a:t>1. Thuật toán Firefly Algorithm (FA)</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p:txBody>
          <a:bodyPr/>
          <a:lstStyle/>
          <a:p>
            <a:r>
              <a:rPr lang="en-US"/>
              <a:t>Tóm tắt hoạt động chính</a:t>
            </a:r>
          </a:p>
          <a:p>
            <a:pPr lvl="1"/>
            <a:r>
              <a:rPr lang="en-US"/>
              <a:t>Thiết lập thông số cơ bản, định nghĩa hàm mục tiêu</a:t>
            </a:r>
          </a:p>
          <a:p>
            <a:pPr lvl="1"/>
            <a:r>
              <a:rPr lang="en-US"/>
              <a:t>Khởi tạo quần thể đom đóm trong miền xác định</a:t>
            </a:r>
          </a:p>
          <a:p>
            <a:pPr lvl="1"/>
            <a:r>
              <a:rPr lang="en-US"/>
              <a:t>Với mỗi con, xác định hàm mục tiêu</a:t>
            </a:r>
          </a:p>
          <a:p>
            <a:pPr lvl="2"/>
            <a:r>
              <a:rPr lang="en-US"/>
              <a:t>Với toàn bộ cá thể, so sánh mỗi con với nhau, nếu hàm mục tiêu tốt hơn thì chấp nhận di chuyển.</a:t>
            </a:r>
          </a:p>
          <a:p>
            <a:pPr lvl="2"/>
            <a:r>
              <a:rPr lang="en-US"/>
              <a:t>Cập nhật vị trí dựa trên hàm hấp dẫn và di chuyển.</a:t>
            </a:r>
          </a:p>
          <a:p>
            <a:pPr lvl="2"/>
            <a:r>
              <a:rPr lang="en-US"/>
              <a:t>Cập nhật lại hàm mục tiêu.</a:t>
            </a:r>
          </a:p>
          <a:p>
            <a:pPr lvl="1"/>
            <a:r>
              <a:rPr lang="en-US"/>
              <a:t>Xếp hạng các con đom đóm và tìm ra con cho hàm mục tiêu tốt nhất.</a:t>
            </a:r>
          </a:p>
          <a:p>
            <a:pPr lvl="1"/>
            <a:endParaRPr lang="en-US"/>
          </a:p>
        </p:txBody>
      </p:sp>
    </p:spTree>
    <p:extLst>
      <p:ext uri="{BB962C8B-B14F-4D97-AF65-F5344CB8AC3E}">
        <p14:creationId xmlns:p14="http://schemas.microsoft.com/office/powerpoint/2010/main" val="29236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a:t>1. Thuật toán Firefly Algorithm (FA)</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a:xfrm>
                <a:off x="234823" y="984823"/>
                <a:ext cx="8674100" cy="5132832"/>
              </a:xfrm>
            </p:spPr>
            <p:txBody>
              <a:bodyPr/>
              <a:lstStyle/>
              <a:p>
                <a:r>
                  <a:rPr lang="en-US"/>
                  <a:t>Định nghĩa hàm mục tiêu (hàm Ackley):</a:t>
                </a:r>
              </a:p>
              <a:p>
                <a:pPr marL="457200" lvl="1" indent="0">
                  <a:buNone/>
                </a:pPr>
                <a:endParaRPr lang="en-US"/>
              </a:p>
              <a:p>
                <a:pPr marL="457200" lvl="1" indent="0">
                  <a:buNone/>
                </a:pPr>
                <a:endParaRPr lang="en-US"/>
              </a:p>
              <a:p>
                <a:pPr lvl="1">
                  <a:buFont typeface="Wingdings" pitchFamily="2" charset="2"/>
                  <a:buChar char="è"/>
                </a:pPr>
                <a:r>
                  <a:rPr lang="en-US"/>
                  <a:t>Xác định độ sáng của từng con trong đàn,</a:t>
                </a:r>
              </a:p>
              <a:p>
                <a:pPr lvl="1">
                  <a:buFont typeface="Wingdings" pitchFamily="2" charset="2"/>
                  <a:buChar char="è"/>
                </a:pPr>
                <a:r>
                  <a:rPr lang="en-US"/>
                  <a:t>Nếu </a:t>
                </a:r>
                <a14:m>
                  <m:oMath xmlns:m="http://schemas.openxmlformats.org/officeDocument/2006/math">
                    <m:r>
                      <m:rPr>
                        <m:sty m:val="p"/>
                      </m:rPr>
                      <a:rPr lang="en-US" i="1">
                        <a:latin typeface="Cambria Math" panose="02040503050406030204" pitchFamily="18" charset="0"/>
                      </a:rPr>
                      <m:t>f</m:t>
                    </m:r>
                    <m:d>
                      <m:dPr>
                        <m:ctrlPr>
                          <a:rPr lang="vi-VN" b="0" i="1">
                            <a:latin typeface="Cambria Math" panose="02040503050406030204" pitchFamily="18" charset="0"/>
                          </a:rPr>
                        </m:ctrlPr>
                      </m:dPr>
                      <m:e>
                        <m:sSub>
                          <m:sSubPr>
                            <m:ctrlPr>
                              <a:rPr lang="vi-VN" b="0" i="1">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j</m:t>
                            </m:r>
                          </m:sub>
                        </m:sSub>
                      </m:e>
                    </m:d>
                    <m:r>
                      <a:rPr lang="vi-VN" b="0" i="1">
                        <a:latin typeface="Cambria Math" panose="02040503050406030204" pitchFamily="18" charset="0"/>
                      </a:rPr>
                      <m:t>&lt;</m:t>
                    </m:r>
                    <m:r>
                      <m:rPr>
                        <m:sty m:val="p"/>
                      </m:rPr>
                      <a:rPr lang="vi-VN" i="1">
                        <a:latin typeface="Cambria Math" panose="02040503050406030204" pitchFamily="18" charset="0"/>
                      </a:rPr>
                      <m:t>f</m:t>
                    </m:r>
                    <m:r>
                      <a:rPr lang="vi-VN" b="0" i="1">
                        <a:latin typeface="Cambria Math" panose="02040503050406030204" pitchFamily="18" charset="0"/>
                      </a:rPr>
                      <m:t>(</m:t>
                    </m:r>
                    <m:sSub>
                      <m:sSubPr>
                        <m:ctrlPr>
                          <a:rPr lang="vi-VN" b="0" i="1">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i</m:t>
                        </m:r>
                      </m:sub>
                    </m:sSub>
                    <m:r>
                      <a:rPr lang="vi-VN" b="0" i="1">
                        <a:latin typeface="Cambria Math" panose="02040503050406030204" pitchFamily="18" charset="0"/>
                      </a:rPr>
                      <m:t>)</m:t>
                    </m:r>
                  </m:oMath>
                </a14:m>
                <a:r>
                  <a:rPr lang="en-US"/>
                  <a:t> thì chấp nhận di chuyển</a:t>
                </a:r>
              </a:p>
              <a:p>
                <a:pPr marL="0" indent="0">
                  <a:buNone/>
                </a:pPr>
                <a:endParaRPr lang="en-US"/>
              </a:p>
              <a:p>
                <a:r>
                  <a:rPr lang="vi-VN" sz="1800"/>
                  <a:t>Các hàm benchmark như Ackley hay Rastrigin được sử dụng trực tiếp làm hàm mục tiêu, từ đó xác định cường độ ánh sáng của các cá thể để điều khiển quá trình di chuyển.</a:t>
                </a:r>
              </a:p>
              <a:p>
                <a:r>
                  <a:rPr lang="vi-VN" sz="1800"/>
                  <a:t>Trong bài toán UAV, hàm mục tiêu trên sẽ được thay bằng hàm Minimun Achievable Rate.</a:t>
                </a:r>
                <a:endParaRPr lang="en-US" sz="1800"/>
              </a:p>
              <a:p>
                <a:endParaRPr lang="en-US"/>
              </a:p>
              <a:p>
                <a:pPr lvl="1"/>
                <a:endParaRPr lang="en-US"/>
              </a:p>
            </p:txBody>
          </p:sp>
        </mc:Choice>
        <mc:Fallback>
          <p:sp>
            <p:nvSpPr>
              <p:cNvPr id="4" name="Text Placeholder 3">
                <a:extLst>
                  <a:ext uri="{FF2B5EF4-FFF2-40B4-BE49-F238E27FC236}">
                    <a16:creationId xmlns:a16="http://schemas.microsoft.com/office/drawing/2014/main" id="{BC311219-8684-45FC-A126-E067924AC7F7}"/>
                  </a:ext>
                </a:extLst>
              </p:cNvPr>
              <p:cNvSpPr>
                <a:spLocks noGrp="1" noRot="1" noChangeAspect="1" noMove="1" noResize="1" noEditPoints="1" noAdjustHandles="1" noChangeArrowheads="1" noChangeShapeType="1" noTextEdit="1"/>
              </p:cNvSpPr>
              <p:nvPr>
                <p:ph type="body" sz="quarter" idx="13"/>
              </p:nvPr>
            </p:nvSpPr>
            <p:spPr>
              <a:xfrm>
                <a:off x="234823" y="984823"/>
                <a:ext cx="8674100" cy="5132832"/>
              </a:xfrm>
              <a:blipFill>
                <a:blip r:embed="rId2"/>
                <a:stretch>
                  <a:fillRect l="-1170" t="-2222" r="-731"/>
                </a:stretch>
              </a:blipFill>
            </p:spPr>
            <p:txBody>
              <a:bodyPr/>
              <a:lstStyle/>
              <a:p>
                <a:r>
                  <a:rPr lang="en-VN">
                    <a:noFill/>
                  </a:rPr>
                  <a:t> </a:t>
                </a:r>
              </a:p>
            </p:txBody>
          </p:sp>
        </mc:Fallback>
      </mc:AlternateContent>
      <p:pic>
        <p:nvPicPr>
          <p:cNvPr id="6" name="Picture 5">
            <a:extLst>
              <a:ext uri="{FF2B5EF4-FFF2-40B4-BE49-F238E27FC236}">
                <a16:creationId xmlns:a16="http://schemas.microsoft.com/office/drawing/2014/main" id="{EE19B991-12FE-EA75-0E81-B3EEAE4CCF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023" y="1457903"/>
            <a:ext cx="7251700" cy="622300"/>
          </a:xfrm>
          <a:prstGeom prst="rect">
            <a:avLst/>
          </a:prstGeom>
        </p:spPr>
      </p:pic>
    </p:spTree>
    <p:extLst>
      <p:ext uri="{BB962C8B-B14F-4D97-AF65-F5344CB8AC3E}">
        <p14:creationId xmlns:p14="http://schemas.microsoft.com/office/powerpoint/2010/main" val="2751358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4</a:t>
            </a:fld>
            <a:endParaRPr lang="en-US" dirty="0"/>
          </a:p>
        </p:txBody>
      </p:sp>
      <p:pic>
        <p:nvPicPr>
          <p:cNvPr id="7" name="Content Placeholder 6">
            <a:extLst>
              <a:ext uri="{FF2B5EF4-FFF2-40B4-BE49-F238E27FC236}">
                <a16:creationId xmlns:a16="http://schemas.microsoft.com/office/drawing/2014/main" id="{8CD42DA4-A543-D667-B61F-B4F1790C2DA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43451" y="1998146"/>
            <a:ext cx="8057097" cy="3527604"/>
          </a:xfrm>
          <a:prstGeom prst="rect">
            <a:avLst/>
          </a:prstGeom>
        </p:spPr>
      </p:pic>
      <p:sp>
        <p:nvSpPr>
          <p:cNvPr id="8" name="TextBox 7">
            <a:extLst>
              <a:ext uri="{FF2B5EF4-FFF2-40B4-BE49-F238E27FC236}">
                <a16:creationId xmlns:a16="http://schemas.microsoft.com/office/drawing/2014/main" id="{2851DC82-447F-8BE2-DE5F-31D88EBC5773}"/>
              </a:ext>
            </a:extLst>
          </p:cNvPr>
          <p:cNvSpPr txBox="1"/>
          <p:nvPr/>
        </p:nvSpPr>
        <p:spPr>
          <a:xfrm>
            <a:off x="2858703" y="1309036"/>
            <a:ext cx="3574120" cy="369332"/>
          </a:xfrm>
          <a:prstGeom prst="rect">
            <a:avLst/>
          </a:prstGeom>
          <a:noFill/>
        </p:spPr>
        <p:txBody>
          <a:bodyPr wrap="none" rtlCol="0">
            <a:spAutoFit/>
          </a:bodyPr>
          <a:lstStyle/>
          <a:p>
            <a:r>
              <a:rPr lang="en-VN"/>
              <a:t>Hàm Ackley, chuyên về local minima</a:t>
            </a:r>
          </a:p>
        </p:txBody>
      </p:sp>
      <p:sp>
        <p:nvSpPr>
          <p:cNvPr id="9" name="Title 2">
            <a:extLst>
              <a:ext uri="{FF2B5EF4-FFF2-40B4-BE49-F238E27FC236}">
                <a16:creationId xmlns:a16="http://schemas.microsoft.com/office/drawing/2014/main" id="{91FEFACB-351B-10A6-D71E-162A5B4554E7}"/>
              </a:ext>
            </a:extLst>
          </p:cNvPr>
          <p:cNvSpPr>
            <a:spLocks noGrp="1"/>
          </p:cNvSpPr>
          <p:nvPr>
            <p:ph type="title"/>
          </p:nvPr>
        </p:nvSpPr>
        <p:spPr>
          <a:xfrm>
            <a:off x="235077" y="78613"/>
            <a:ext cx="8673846" cy="451739"/>
          </a:xfrm>
        </p:spPr>
        <p:txBody>
          <a:bodyPr/>
          <a:lstStyle/>
          <a:p>
            <a:r>
              <a:rPr lang="en-US"/>
              <a:t>1. Thuật toán Firefly Algorithm (FA)</a:t>
            </a:r>
          </a:p>
        </p:txBody>
      </p:sp>
    </p:spTree>
    <p:extLst>
      <p:ext uri="{BB962C8B-B14F-4D97-AF65-F5344CB8AC3E}">
        <p14:creationId xmlns:p14="http://schemas.microsoft.com/office/powerpoint/2010/main" val="1341840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5</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en-US"/>
              <a:t>1. Thuật toán Firefly Algorithm (FA)</a:t>
            </a:r>
          </a:p>
        </p:txBody>
      </p:sp>
      <mc:AlternateContent xmlns:mc="http://schemas.openxmlformats.org/markup-compatibility/2006">
        <mc:Choice xmlns:a14="http://schemas.microsoft.com/office/drawing/2010/main" Requires="a14">
          <p:sp>
            <p:nvSpPr>
              <p:cNvPr id="7" name="Content Placeholder 3">
                <a:extLst>
                  <a:ext uri="{FF2B5EF4-FFF2-40B4-BE49-F238E27FC236}">
                    <a16:creationId xmlns:a16="http://schemas.microsoft.com/office/drawing/2014/main" id="{E57437F8-CEB9-DE60-72BB-17F2BC095C3D}"/>
                  </a:ext>
                </a:extLst>
              </p:cNvPr>
              <p:cNvSpPr txBox="1">
                <a:spLocks/>
              </p:cNvSpPr>
              <p:nvPr/>
            </p:nvSpPr>
            <p:spPr>
              <a:xfrm>
                <a:off x="215848" y="777303"/>
                <a:ext cx="8674100" cy="53033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Định nghĩa hàm hấp dẫn</a:t>
                </a:r>
              </a:p>
              <a:p>
                <a:pPr lvl="1"/>
                <a:r>
                  <a:rPr lang="vi-VN"/>
                  <a:t>Công thức cường độ ánh sáng:				</a:t>
                </a:r>
              </a:p>
              <a:p>
                <a:pPr marL="457200" lvl="1" indent="0">
                  <a:buNone/>
                </a:pPr>
                <a:r>
                  <a:rPr lang="vi-VN"/>
                  <a:t>				 </a:t>
                </a:r>
                <a14:m>
                  <m:oMath xmlns:m="http://schemas.openxmlformats.org/officeDocument/2006/math">
                    <m:r>
                      <m:rPr>
                        <m:sty m:val="p"/>
                      </m:rPr>
                      <a:rPr lang="vi-VN" i="1">
                        <a:latin typeface="Cambria Math" panose="02040503050406030204" pitchFamily="18" charset="0"/>
                      </a:rPr>
                      <m:t>B</m:t>
                    </m:r>
                    <m:r>
                      <a:rPr lang="vi-VN" b="0" i="1">
                        <a:latin typeface="Cambria Math" panose="02040503050406030204" pitchFamily="18" charset="0"/>
                      </a:rPr>
                      <m:t>=</m:t>
                    </m:r>
                    <m:sSub>
                      <m:sSubPr>
                        <m:ctrlPr>
                          <a:rPr lang="vi-VN" i="1">
                            <a:latin typeface="Cambria Math" panose="02040503050406030204" pitchFamily="18" charset="0"/>
                          </a:rPr>
                        </m:ctrlPr>
                      </m:sSubPr>
                      <m:e>
                        <m:r>
                          <m:rPr>
                            <m:sty m:val="p"/>
                          </m:rPr>
                          <a:rPr lang="vi-VN" i="1">
                            <a:latin typeface="Cambria Math" panose="02040503050406030204" pitchFamily="18" charset="0"/>
                          </a:rPr>
                          <m:t>B</m:t>
                        </m:r>
                      </m:e>
                      <m:sub>
                        <m:r>
                          <a:rPr lang="vi-VN" b="0" i="1">
                            <a:latin typeface="Cambria Math" panose="02040503050406030204" pitchFamily="18" charset="0"/>
                          </a:rPr>
                          <m:t>0</m:t>
                        </m:r>
                      </m:sub>
                    </m:sSub>
                    <m:sSup>
                      <m:sSupPr>
                        <m:ctrlPr>
                          <a:rPr lang="vi-VN" i="1">
                            <a:latin typeface="Cambria Math" panose="02040503050406030204" pitchFamily="18" charset="0"/>
                          </a:rPr>
                        </m:ctrlPr>
                      </m:sSupPr>
                      <m:e>
                        <m:r>
                          <m:rPr>
                            <m:sty m:val="p"/>
                          </m:rPr>
                          <a:rPr lang="vi-VN" i="1">
                            <a:latin typeface="Cambria Math" panose="02040503050406030204" pitchFamily="18" charset="0"/>
                          </a:rPr>
                          <m:t>e</m:t>
                        </m:r>
                      </m:e>
                      <m:sup>
                        <m:r>
                          <a:rPr lang="vi-VN" b="0" i="1">
                            <a:latin typeface="Cambria Math" panose="02040503050406030204" pitchFamily="18" charset="0"/>
                          </a:rPr>
                          <m:t>−</m:t>
                        </m:r>
                        <m:r>
                          <a:rPr lang="vi-VN" b="0" i="1">
                            <a:latin typeface="Cambria Math" panose="02040503050406030204" pitchFamily="18" charset="0"/>
                            <a:ea typeface="Cambria Math" panose="02040503050406030204" pitchFamily="18" charset="0"/>
                          </a:rPr>
                          <m:t>𝛾</m:t>
                        </m:r>
                        <m:sSup>
                          <m:sSupPr>
                            <m:ctrlPr>
                              <a:rPr lang="vi-VN" b="0" i="1">
                                <a:latin typeface="Cambria Math" panose="02040503050406030204" pitchFamily="18" charset="0"/>
                                <a:ea typeface="Cambria Math" panose="02040503050406030204" pitchFamily="18" charset="0"/>
                              </a:rPr>
                            </m:ctrlPr>
                          </m:sSupPr>
                          <m:e>
                            <m:r>
                              <m:rPr>
                                <m:sty m:val="p"/>
                              </m:rPr>
                              <a:rPr lang="vi-VN" i="1">
                                <a:latin typeface="Cambria Math" panose="02040503050406030204" pitchFamily="18" charset="0"/>
                                <a:ea typeface="Cambria Math" panose="02040503050406030204" pitchFamily="18" charset="0"/>
                              </a:rPr>
                              <m:t>r</m:t>
                            </m:r>
                          </m:e>
                          <m:sup>
                            <m:r>
                              <a:rPr lang="vi-VN" b="0" i="1">
                                <a:latin typeface="Cambria Math" panose="02040503050406030204" pitchFamily="18" charset="0"/>
                                <a:ea typeface="Cambria Math" panose="02040503050406030204" pitchFamily="18" charset="0"/>
                              </a:rPr>
                              <m:t>2</m:t>
                            </m:r>
                          </m:sup>
                        </m:sSup>
                      </m:sup>
                    </m:sSup>
                  </m:oMath>
                </a14:m>
                <a:endParaRPr lang="vi-VN"/>
              </a:p>
              <a:p>
                <a:pPr lvl="2"/>
                <a14:m>
                  <m:oMath xmlns:m="http://schemas.openxmlformats.org/officeDocument/2006/math">
                    <m:r>
                      <m:rPr>
                        <m:sty m:val="p"/>
                      </m:rPr>
                      <a:rPr lang="vi-VN" i="1">
                        <a:latin typeface="Cambria Math" panose="02040503050406030204" pitchFamily="18" charset="0"/>
                      </a:rPr>
                      <m:t>B</m:t>
                    </m:r>
                    <m:r>
                      <a:rPr lang="vi-VN" b="0" i="1">
                        <a:latin typeface="Cambria Math" panose="02040503050406030204" pitchFamily="18" charset="0"/>
                      </a:rPr>
                      <m:t>,</m:t>
                    </m:r>
                    <m:sSub>
                      <m:sSubPr>
                        <m:ctrlPr>
                          <a:rPr lang="vi-VN" i="1">
                            <a:latin typeface="Cambria Math" panose="02040503050406030204" pitchFamily="18" charset="0"/>
                          </a:rPr>
                        </m:ctrlPr>
                      </m:sSubPr>
                      <m:e>
                        <m:r>
                          <m:rPr>
                            <m:sty m:val="p"/>
                          </m:rPr>
                          <a:rPr lang="vi-VN" i="1">
                            <a:latin typeface="Cambria Math" panose="02040503050406030204" pitchFamily="18" charset="0"/>
                          </a:rPr>
                          <m:t>B</m:t>
                        </m:r>
                      </m:e>
                      <m:sub>
                        <m:r>
                          <a:rPr lang="vi-VN" i="1">
                            <a:latin typeface="Cambria Math" panose="02040503050406030204" pitchFamily="18" charset="0"/>
                          </a:rPr>
                          <m:t>0</m:t>
                        </m:r>
                      </m:sub>
                    </m:sSub>
                  </m:oMath>
                </a14:m>
                <a:r>
                  <a:rPr lang="en-US"/>
                  <a:t>: Độ hấp dẫn</a:t>
                </a:r>
              </a:p>
              <a:p>
                <a:pPr lvl="2"/>
                <a:r>
                  <a:rPr lang="en-US"/>
                  <a:t>r: khoảng cách giữa 2 con đom đóm</a:t>
                </a:r>
              </a:p>
              <a:p>
                <a:pPr lvl="2"/>
                <a14:m>
                  <m:oMath xmlns:m="http://schemas.openxmlformats.org/officeDocument/2006/math">
                    <m:r>
                      <a:rPr lang="vi-VN" i="1">
                        <a:latin typeface="Cambria Math" panose="02040503050406030204" pitchFamily="18" charset="0"/>
                        <a:ea typeface="Cambria Math" panose="02040503050406030204" pitchFamily="18" charset="0"/>
                      </a:rPr>
                      <m:t>𝛾</m:t>
                    </m:r>
                  </m:oMath>
                </a14:m>
                <a:r>
                  <a:rPr lang="en-US"/>
                  <a:t>: Hệ số suy giảm ánh sáng</a:t>
                </a:r>
              </a:p>
              <a:p>
                <a:pPr marL="914400" lvl="2" indent="0">
                  <a:buNone/>
                </a:pPr>
                <a:r>
                  <a:rPr lang="en-US"/>
                  <a:t>-&gt; Quyết định mức độ di chuyển</a:t>
                </a:r>
              </a:p>
              <a:p>
                <a:r>
                  <a:rPr lang="en-US"/>
                  <a:t>Định nghĩa hàm dịch chuyển</a:t>
                </a:r>
              </a:p>
              <a:p>
                <a:pPr lvl="1"/>
                <a:r>
                  <a:rPr lang="vi-VN"/>
                  <a:t>Công thức cập nhật vị trí</a:t>
                </a:r>
              </a:p>
              <a:p>
                <a:pPr marL="457200" lvl="1"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n-US" sz="2000" i="1">
                              <a:latin typeface="Cambria Math" panose="02040503050406030204" pitchFamily="18" charset="0"/>
                            </a:rPr>
                            <m:t>x</m:t>
                          </m:r>
                        </m:e>
                        <m:sub>
                          <m:r>
                            <m:rPr>
                              <m:sty m:val="p"/>
                            </m:rPr>
                            <a:rPr lang="en-US" sz="2000" i="1">
                              <a:latin typeface="Cambria Math" panose="02040503050406030204" pitchFamily="18" charset="0"/>
                            </a:rPr>
                            <m:t>i</m:t>
                          </m:r>
                        </m:sub>
                      </m:sSub>
                      <m:r>
                        <a:rPr lang="vi-VN" sz="2000" b="0" i="1">
                          <a:latin typeface="Cambria Math" panose="02040503050406030204" pitchFamily="18" charset="0"/>
                        </a:rPr>
                        <m:t>=</m:t>
                      </m:r>
                      <m:sSub>
                        <m:sSubPr>
                          <m:ctrlPr>
                            <a:rPr lang="vi-VN" sz="2000" b="0" i="1">
                              <a:latin typeface="Cambria Math" panose="02040503050406030204" pitchFamily="18" charset="0"/>
                            </a:rPr>
                          </m:ctrlPr>
                        </m:sSubPr>
                        <m:e>
                          <m:r>
                            <m:rPr>
                              <m:sty m:val="p"/>
                            </m:rPr>
                            <a:rPr lang="vi-VN" sz="2000" i="1">
                              <a:latin typeface="Cambria Math" panose="02040503050406030204" pitchFamily="18" charset="0"/>
                            </a:rPr>
                            <m:t>x</m:t>
                          </m:r>
                        </m:e>
                        <m:sub>
                          <m:r>
                            <m:rPr>
                              <m:sty m:val="p"/>
                            </m:rPr>
                            <a:rPr lang="vi-VN" sz="2000" i="1">
                              <a:latin typeface="Cambria Math" panose="02040503050406030204" pitchFamily="18" charset="0"/>
                            </a:rPr>
                            <m:t>i</m:t>
                          </m:r>
                        </m:sub>
                      </m:sSub>
                      <m:r>
                        <a:rPr lang="vi-VN" sz="2000" b="0" i="1">
                          <a:latin typeface="Cambria Math" panose="02040503050406030204" pitchFamily="18" charset="0"/>
                        </a:rPr>
                        <m:t>+</m:t>
                      </m:r>
                      <m:r>
                        <m:rPr>
                          <m:sty m:val="p"/>
                        </m:rPr>
                        <a:rPr lang="vi-VN" sz="2000" i="1">
                          <a:latin typeface="Cambria Math" panose="02040503050406030204" pitchFamily="18" charset="0"/>
                        </a:rPr>
                        <m:t>B</m:t>
                      </m:r>
                      <m:d>
                        <m:dPr>
                          <m:ctrlPr>
                            <a:rPr lang="vi-VN" sz="2000" b="0" i="1">
                              <a:latin typeface="Cambria Math" panose="02040503050406030204" pitchFamily="18" charset="0"/>
                            </a:rPr>
                          </m:ctrlPr>
                        </m:dPr>
                        <m:e>
                          <m:sSub>
                            <m:sSubPr>
                              <m:ctrlPr>
                                <a:rPr lang="vi-VN" sz="2000" i="1">
                                  <a:latin typeface="Cambria Math" panose="02040503050406030204" pitchFamily="18" charset="0"/>
                                </a:rPr>
                              </m:ctrlPr>
                            </m:sSubPr>
                            <m:e>
                              <m:r>
                                <m:rPr>
                                  <m:sty m:val="p"/>
                                </m:rPr>
                                <a:rPr lang="vi-VN" sz="2000" i="1">
                                  <a:latin typeface="Cambria Math" panose="02040503050406030204" pitchFamily="18" charset="0"/>
                                </a:rPr>
                                <m:t>x</m:t>
                              </m:r>
                            </m:e>
                            <m:sub>
                              <m:r>
                                <m:rPr>
                                  <m:sty m:val="p"/>
                                </m:rPr>
                                <a:rPr lang="vi-VN" sz="2000" i="1">
                                  <a:latin typeface="Cambria Math" panose="02040503050406030204" pitchFamily="18" charset="0"/>
                                </a:rPr>
                                <m:t>j</m:t>
                              </m:r>
                            </m:sub>
                          </m:sSub>
                          <m:r>
                            <a:rPr lang="vi-VN" sz="2000" b="0" i="1">
                              <a:latin typeface="Cambria Math" panose="02040503050406030204" pitchFamily="18" charset="0"/>
                            </a:rPr>
                            <m:t>−</m:t>
                          </m:r>
                          <m:sSub>
                            <m:sSubPr>
                              <m:ctrlPr>
                                <a:rPr lang="vi-VN" sz="2000" i="1">
                                  <a:latin typeface="Cambria Math" panose="02040503050406030204" pitchFamily="18" charset="0"/>
                                </a:rPr>
                              </m:ctrlPr>
                            </m:sSubPr>
                            <m:e>
                              <m:r>
                                <m:rPr>
                                  <m:sty m:val="p"/>
                                </m:rPr>
                                <a:rPr lang="vi-VN" sz="2000" i="1">
                                  <a:latin typeface="Cambria Math" panose="02040503050406030204" pitchFamily="18" charset="0"/>
                                </a:rPr>
                                <m:t>x</m:t>
                              </m:r>
                            </m:e>
                            <m:sub>
                              <m:r>
                                <m:rPr>
                                  <m:sty m:val="p"/>
                                </m:rPr>
                                <a:rPr lang="vi-VN" sz="2000" i="1">
                                  <a:latin typeface="Cambria Math" panose="02040503050406030204" pitchFamily="18" charset="0"/>
                                </a:rPr>
                                <m:t>i</m:t>
                              </m:r>
                            </m:sub>
                          </m:sSub>
                        </m:e>
                      </m:d>
                      <m:r>
                        <a:rPr lang="vi-VN" sz="2000" b="0" i="1">
                          <a:latin typeface="Cambria Math" panose="02040503050406030204" pitchFamily="18" charset="0"/>
                        </a:rPr>
                        <m:t>+</m:t>
                      </m:r>
                      <m:r>
                        <a:rPr lang="vi-VN" sz="2000" b="0" i="1">
                          <a:latin typeface="Cambria Math" panose="02040503050406030204" pitchFamily="18" charset="0"/>
                          <a:ea typeface="Cambria Math" panose="02040503050406030204" pitchFamily="18" charset="0"/>
                        </a:rPr>
                        <m:t>𝛼𝜖</m:t>
                      </m:r>
                    </m:oMath>
                  </m:oMathPara>
                </a14:m>
                <a:endParaRPr lang="en-US" sz="2000"/>
              </a:p>
              <a:p>
                <a:pPr lvl="2"/>
                <a14:m>
                  <m:oMath xmlns:m="http://schemas.openxmlformats.org/officeDocument/2006/math">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x</m:t>
                        </m:r>
                      </m:e>
                      <m:sub>
                        <m:r>
                          <m:rPr>
                            <m:sty m:val="p"/>
                          </m:rPr>
                          <a:rPr lang="en-US" sz="1600" i="1">
                            <a:latin typeface="Cambria Math" panose="02040503050406030204" pitchFamily="18" charset="0"/>
                          </a:rPr>
                          <m:t>i</m:t>
                        </m:r>
                      </m:sub>
                    </m:sSub>
                    <m:r>
                      <a:rPr lang="vi-VN" sz="1600" b="0" i="1">
                        <a:latin typeface="Cambria Math" panose="02040503050406030204" pitchFamily="18" charset="0"/>
                      </a:rPr>
                      <m:t>,</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x</m:t>
                        </m:r>
                      </m:e>
                      <m:sub>
                        <m:r>
                          <m:rPr>
                            <m:sty m:val="p"/>
                          </m:rPr>
                          <a:rPr lang="en-US" sz="1600" i="1">
                            <a:latin typeface="Cambria Math" panose="02040503050406030204" pitchFamily="18" charset="0"/>
                          </a:rPr>
                          <m:t>j</m:t>
                        </m:r>
                      </m:sub>
                    </m:sSub>
                  </m:oMath>
                </a14:m>
                <a:r>
                  <a:rPr lang="en-US" sz="1600"/>
                  <a:t>: Vị trí hiện tại và vị trí cần xét.</a:t>
                </a:r>
              </a:p>
              <a:p>
                <a:pPr lvl="2"/>
                <a:r>
                  <a:rPr lang="en-US" sz="1600"/>
                  <a:t>B: Độ hẫp dẫn</a:t>
                </a:r>
              </a:p>
              <a:p>
                <a:pPr lvl="2"/>
                <a14:m>
                  <m:oMath xmlns:m="http://schemas.openxmlformats.org/officeDocument/2006/math">
                    <m:r>
                      <a:rPr lang="vi-VN" sz="1600" i="1">
                        <a:latin typeface="Cambria Math" panose="02040503050406030204" pitchFamily="18" charset="0"/>
                        <a:ea typeface="Cambria Math" panose="02040503050406030204" pitchFamily="18" charset="0"/>
                      </a:rPr>
                      <m:t>𝛼𝜖</m:t>
                    </m:r>
                    <m:r>
                      <a:rPr lang="vi-VN" sz="1600" b="0" i="1">
                        <a:latin typeface="Cambria Math" panose="02040503050406030204" pitchFamily="18" charset="0"/>
                        <a:ea typeface="Cambria Math" panose="02040503050406030204" pitchFamily="18" charset="0"/>
                      </a:rPr>
                      <m:t>:</m:t>
                    </m:r>
                  </m:oMath>
                </a14:m>
                <a:r>
                  <a:rPr lang="en-US" sz="1600"/>
                  <a:t> Số sinh ngẫu nhiên, </a:t>
                </a:r>
                <a14:m>
                  <m:oMath xmlns:m="http://schemas.openxmlformats.org/officeDocument/2006/math">
                    <m:r>
                      <a:rPr lang="vi-VN" sz="1600" i="1">
                        <a:latin typeface="Cambria Math" panose="02040503050406030204" pitchFamily="18" charset="0"/>
                        <a:ea typeface="Cambria Math" panose="02040503050406030204" pitchFamily="18" charset="0"/>
                      </a:rPr>
                      <m:t>𝛼</m:t>
                    </m:r>
                  </m:oMath>
                </a14:m>
                <a:r>
                  <a:rPr lang="en-US" sz="1600"/>
                  <a:t> là hệ số ngẫu nhiên,</a:t>
                </a:r>
                <a:r>
                  <a:rPr lang="vi-VN" sz="1600">
                    <a:ea typeface="Cambria Math" panose="02040503050406030204" pitchFamily="18" charset="0"/>
                  </a:rPr>
                  <a:t> </a:t>
                </a:r>
                <a14:m>
                  <m:oMath xmlns:m="http://schemas.openxmlformats.org/officeDocument/2006/math">
                    <m:r>
                      <a:rPr lang="vi-VN" sz="1600" i="1">
                        <a:latin typeface="Cambria Math" panose="02040503050406030204" pitchFamily="18" charset="0"/>
                        <a:ea typeface="Cambria Math" panose="02040503050406030204" pitchFamily="18" charset="0"/>
                      </a:rPr>
                      <m:t>𝜖</m:t>
                    </m:r>
                    <m:r>
                      <a:rPr lang="vi-VN" sz="1600" i="1">
                        <a:latin typeface="Cambria Math" panose="02040503050406030204" pitchFamily="18" charset="0"/>
                        <a:ea typeface="Cambria Math" panose="02040503050406030204" pitchFamily="18" charset="0"/>
                      </a:rPr>
                      <m:t>~</m:t>
                    </m:r>
                    <m:r>
                      <m:rPr>
                        <m:sty m:val="p"/>
                      </m:rPr>
                      <a:rPr lang="vi-VN" sz="1600" i="1">
                        <a:latin typeface="Cambria Math" panose="02040503050406030204" pitchFamily="18" charset="0"/>
                        <a:ea typeface="Cambria Math" panose="02040503050406030204" pitchFamily="18" charset="0"/>
                      </a:rPr>
                      <m:t>Uniform</m:t>
                    </m:r>
                    <m:r>
                      <a:rPr lang="vi-VN" sz="1600" b="0" i="1">
                        <a:latin typeface="Cambria Math" panose="02040503050406030204" pitchFamily="18" charset="0"/>
                        <a:ea typeface="Cambria Math" panose="02040503050406030204" pitchFamily="18" charset="0"/>
                      </a:rPr>
                      <m:t>(−1,1)</m:t>
                    </m:r>
                  </m:oMath>
                </a14:m>
                <a:r>
                  <a:rPr lang="en-US" sz="1600"/>
                  <a:t> được lấy ngẫu nhiên theo phân phối đều từ -1 đến 1.</a:t>
                </a:r>
              </a:p>
              <a:p>
                <a:pPr marL="914400" lvl="2" indent="0">
                  <a:buNone/>
                </a:pPr>
                <a:r>
                  <a:rPr lang="en-US" sz="1600"/>
                  <a:t>-&gt; Quyết định di chuyển</a:t>
                </a:r>
              </a:p>
            </p:txBody>
          </p:sp>
        </mc:Choice>
        <mc:Fallback>
          <p:sp>
            <p:nvSpPr>
              <p:cNvPr id="7" name="Content Placeholder 3">
                <a:extLst>
                  <a:ext uri="{FF2B5EF4-FFF2-40B4-BE49-F238E27FC236}">
                    <a16:creationId xmlns:a16="http://schemas.microsoft.com/office/drawing/2014/main" id="{E57437F8-CEB9-DE60-72BB-17F2BC095C3D}"/>
                  </a:ext>
                </a:extLst>
              </p:cNvPr>
              <p:cNvSpPr txBox="1">
                <a:spLocks noRot="1" noChangeAspect="1" noMove="1" noResize="1" noEditPoints="1" noAdjustHandles="1" noChangeArrowheads="1" noChangeShapeType="1" noTextEdit="1"/>
              </p:cNvSpPr>
              <p:nvPr/>
            </p:nvSpPr>
            <p:spPr>
              <a:xfrm>
                <a:off x="215848" y="777303"/>
                <a:ext cx="8674100" cy="5303393"/>
              </a:xfrm>
              <a:prstGeom prst="rect">
                <a:avLst/>
              </a:prstGeom>
              <a:blipFill>
                <a:blip r:embed="rId2"/>
                <a:stretch>
                  <a:fillRect l="-1170" t="-1914" b="-478"/>
                </a:stretch>
              </a:blipFill>
            </p:spPr>
            <p:txBody>
              <a:bodyPr/>
              <a:lstStyle/>
              <a:p>
                <a:r>
                  <a:rPr lang="en-VN">
                    <a:noFill/>
                  </a:rPr>
                  <a:t> </a:t>
                </a:r>
              </a:p>
            </p:txBody>
          </p:sp>
        </mc:Fallback>
      </mc:AlternateContent>
    </p:spTree>
    <p:extLst>
      <p:ext uri="{BB962C8B-B14F-4D97-AF65-F5344CB8AC3E}">
        <p14:creationId xmlns:p14="http://schemas.microsoft.com/office/powerpoint/2010/main" val="64084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a:t>2. So sánh các thuật toán trong họ Metaheuristic</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6</a:t>
            </a:fld>
            <a:endParaRPr lang="en-US" dirty="0"/>
          </a:p>
        </p:txBody>
      </p:sp>
      <p:graphicFrame>
        <p:nvGraphicFramePr>
          <p:cNvPr id="7" name="Table 6">
            <a:extLst>
              <a:ext uri="{FF2B5EF4-FFF2-40B4-BE49-F238E27FC236}">
                <a16:creationId xmlns:a16="http://schemas.microsoft.com/office/drawing/2014/main" id="{1F4D5600-8C8B-A6C0-0E97-8744B4DE7ED6}"/>
              </a:ext>
            </a:extLst>
          </p:cNvPr>
          <p:cNvGraphicFramePr>
            <a:graphicFrameLocks noGrp="1"/>
          </p:cNvGraphicFramePr>
          <p:nvPr>
            <p:extLst>
              <p:ext uri="{D42A27DB-BD31-4B8C-83A1-F6EECF244321}">
                <p14:modId xmlns:p14="http://schemas.microsoft.com/office/powerpoint/2010/main" val="1952520555"/>
              </p:ext>
            </p:extLst>
          </p:nvPr>
        </p:nvGraphicFramePr>
        <p:xfrm>
          <a:off x="542223" y="1483627"/>
          <a:ext cx="8059553" cy="3444510"/>
        </p:xfrm>
        <a:graphic>
          <a:graphicData uri="http://schemas.openxmlformats.org/drawingml/2006/table">
            <a:tbl>
              <a:tblPr firstRow="1" bandRow="1">
                <a:tableStyleId>{5C22544A-7EE6-4342-B048-85BDC9FD1C3A}</a:tableStyleId>
              </a:tblPr>
              <a:tblGrid>
                <a:gridCol w="1611911">
                  <a:extLst>
                    <a:ext uri="{9D8B030D-6E8A-4147-A177-3AD203B41FA5}">
                      <a16:colId xmlns:a16="http://schemas.microsoft.com/office/drawing/2014/main" val="2347062141"/>
                    </a:ext>
                  </a:extLst>
                </a:gridCol>
                <a:gridCol w="1740115">
                  <a:extLst>
                    <a:ext uri="{9D8B030D-6E8A-4147-A177-3AD203B41FA5}">
                      <a16:colId xmlns:a16="http://schemas.microsoft.com/office/drawing/2014/main" val="4257220389"/>
                    </a:ext>
                  </a:extLst>
                </a:gridCol>
                <a:gridCol w="1483705">
                  <a:extLst>
                    <a:ext uri="{9D8B030D-6E8A-4147-A177-3AD203B41FA5}">
                      <a16:colId xmlns:a16="http://schemas.microsoft.com/office/drawing/2014/main" val="3855803324"/>
                    </a:ext>
                  </a:extLst>
                </a:gridCol>
                <a:gridCol w="1611911">
                  <a:extLst>
                    <a:ext uri="{9D8B030D-6E8A-4147-A177-3AD203B41FA5}">
                      <a16:colId xmlns:a16="http://schemas.microsoft.com/office/drawing/2014/main" val="2892812250"/>
                    </a:ext>
                  </a:extLst>
                </a:gridCol>
                <a:gridCol w="1611911">
                  <a:extLst>
                    <a:ext uri="{9D8B030D-6E8A-4147-A177-3AD203B41FA5}">
                      <a16:colId xmlns:a16="http://schemas.microsoft.com/office/drawing/2014/main" val="275670423"/>
                    </a:ext>
                  </a:extLst>
                </a:gridCol>
              </a:tblGrid>
              <a:tr h="521820">
                <a:tc>
                  <a:txBody>
                    <a:bodyPr/>
                    <a:lstStyle/>
                    <a:p>
                      <a:pPr>
                        <a:buNone/>
                      </a:pPr>
                      <a:r>
                        <a:rPr lang="en-US" sz="1400"/>
                        <a:t>Thuật toán</a:t>
                      </a:r>
                    </a:p>
                  </a:txBody>
                  <a:tcPr marL="45057" marR="45057" marT="22529" marB="22529" anchor="ctr"/>
                </a:tc>
                <a:tc>
                  <a:txBody>
                    <a:bodyPr/>
                    <a:lstStyle/>
                    <a:p>
                      <a:pPr>
                        <a:buNone/>
                      </a:pPr>
                      <a:r>
                        <a:rPr lang="vi-VN" sz="1400"/>
                        <a:t>Ý tưởng</a:t>
                      </a:r>
                    </a:p>
                  </a:txBody>
                  <a:tcPr marL="45057" marR="45057" marT="22529" marB="22529" anchor="ctr"/>
                </a:tc>
                <a:tc>
                  <a:txBody>
                    <a:bodyPr/>
                    <a:lstStyle/>
                    <a:p>
                      <a:pPr>
                        <a:buNone/>
                      </a:pPr>
                      <a:r>
                        <a:rPr lang="en-US" sz="1400"/>
                        <a:t>Mạnh nhất ở</a:t>
                      </a:r>
                    </a:p>
                  </a:txBody>
                  <a:tcPr marL="45057" marR="45057" marT="22529" marB="22529" anchor="ctr"/>
                </a:tc>
                <a:tc>
                  <a:txBody>
                    <a:bodyPr/>
                    <a:lstStyle/>
                    <a:p>
                      <a:pPr>
                        <a:buNone/>
                      </a:pPr>
                      <a:r>
                        <a:rPr lang="en-US" sz="1400"/>
                        <a:t>Điểm yếu</a:t>
                      </a:r>
                    </a:p>
                  </a:txBody>
                  <a:tcPr marL="45057" marR="45057" marT="22529" marB="22529" anchor="ctr"/>
                </a:tc>
                <a:tc>
                  <a:txBody>
                    <a:bodyPr/>
                    <a:lstStyle/>
                    <a:p>
                      <a:pPr>
                        <a:buNone/>
                      </a:pPr>
                      <a:r>
                        <a:rPr lang="en-US" sz="1400"/>
                        <a:t>Bài toán UAV</a:t>
                      </a:r>
                    </a:p>
                  </a:txBody>
                  <a:tcPr marL="45057" marR="45057" marT="22529" marB="22529" anchor="ctr"/>
                </a:tc>
                <a:extLst>
                  <a:ext uri="{0D108BD9-81ED-4DB2-BD59-A6C34878D82A}">
                    <a16:rowId xmlns:a16="http://schemas.microsoft.com/office/drawing/2014/main" val="721030109"/>
                  </a:ext>
                </a:extLst>
              </a:tr>
              <a:tr h="521820">
                <a:tc>
                  <a:txBody>
                    <a:bodyPr/>
                    <a:lstStyle/>
                    <a:p>
                      <a:pPr>
                        <a:buNone/>
                      </a:pPr>
                      <a:r>
                        <a:rPr lang="en-US" sz="1400"/>
                        <a:t>ES (Eagle Strategy)</a:t>
                      </a:r>
                    </a:p>
                  </a:txBody>
                  <a:tcPr marL="45057" marR="45057" marT="22529" marB="22529" anchor="ctr"/>
                </a:tc>
                <a:tc>
                  <a:txBody>
                    <a:bodyPr/>
                    <a:lstStyle/>
                    <a:p>
                      <a:pPr>
                        <a:buNone/>
                      </a:pPr>
                      <a:r>
                        <a:rPr lang="en-US" sz="1400"/>
                        <a:t>Đột biến+PP Gauss</a:t>
                      </a:r>
                    </a:p>
                  </a:txBody>
                  <a:tcPr marL="45057" marR="45057" marT="22529" marB="22529" anchor="ctr"/>
                </a:tc>
                <a:tc>
                  <a:txBody>
                    <a:bodyPr/>
                    <a:lstStyle/>
                    <a:p>
                      <a:pPr>
                        <a:buNone/>
                      </a:pPr>
                      <a:r>
                        <a:rPr lang="en-US" sz="1400"/>
                        <a:t>Continuous</a:t>
                      </a:r>
                    </a:p>
                  </a:txBody>
                  <a:tcPr marL="45057" marR="45057" marT="22529" marB="22529" anchor="ctr"/>
                </a:tc>
                <a:tc>
                  <a:txBody>
                    <a:bodyPr/>
                    <a:lstStyle/>
                    <a:p>
                      <a:pPr>
                        <a:buNone/>
                      </a:pPr>
                      <a:r>
                        <a:rPr lang="en-US" sz="1400"/>
                        <a:t>Ít đa dạng+dễ kẹt</a:t>
                      </a:r>
                    </a:p>
                  </a:txBody>
                  <a:tcPr marL="45057" marR="45057" marT="22529" marB="22529" anchor="ctr"/>
                </a:tc>
                <a:tc>
                  <a:txBody>
                    <a:bodyPr/>
                    <a:lstStyle/>
                    <a:p>
                      <a:pPr>
                        <a:buNone/>
                      </a:pPr>
                      <a:r>
                        <a:rPr lang="en-US" sz="1400"/>
                        <a:t>Bài toán liên tục, cần độ chính xác cao</a:t>
                      </a:r>
                    </a:p>
                  </a:txBody>
                  <a:tcPr marL="45057" marR="45057" marT="22529" marB="22529" anchor="ctr"/>
                </a:tc>
                <a:extLst>
                  <a:ext uri="{0D108BD9-81ED-4DB2-BD59-A6C34878D82A}">
                    <a16:rowId xmlns:a16="http://schemas.microsoft.com/office/drawing/2014/main" val="2647064638"/>
                  </a:ext>
                </a:extLst>
              </a:tr>
              <a:tr h="521820">
                <a:tc>
                  <a:txBody>
                    <a:bodyPr/>
                    <a:lstStyle/>
                    <a:p>
                      <a:pPr>
                        <a:buNone/>
                      </a:pPr>
                      <a:r>
                        <a:rPr lang="en-US" sz="1400"/>
                        <a:t>FA (Firefly Alg)</a:t>
                      </a:r>
                    </a:p>
                  </a:txBody>
                  <a:tcPr marL="45057" marR="45057" marT="22529" marB="22529" anchor="ctr"/>
                </a:tc>
                <a:tc>
                  <a:txBody>
                    <a:bodyPr/>
                    <a:lstStyle/>
                    <a:p>
                      <a:pPr>
                        <a:buNone/>
                      </a:pPr>
                      <a:r>
                        <a:rPr lang="en-US" sz="1400"/>
                        <a:t>Ánh sáng</a:t>
                      </a:r>
                    </a:p>
                  </a:txBody>
                  <a:tcPr marL="45057" marR="45057" marT="22529" marB="22529" anchor="ctr"/>
                </a:tc>
                <a:tc>
                  <a:txBody>
                    <a:bodyPr/>
                    <a:lstStyle/>
                    <a:p>
                      <a:pPr>
                        <a:buNone/>
                      </a:pPr>
                      <a:r>
                        <a:rPr lang="en-US" sz="1400"/>
                        <a:t>Tránh local</a:t>
                      </a:r>
                    </a:p>
                  </a:txBody>
                  <a:tcPr marL="45057" marR="45057" marT="22529" marB="22529" anchor="ctr"/>
                </a:tc>
                <a:tc>
                  <a:txBody>
                    <a:bodyPr/>
                    <a:lstStyle/>
                    <a:p>
                      <a:pPr>
                        <a:buNone/>
                      </a:pPr>
                      <a:r>
                        <a:rPr lang="en-US" sz="1400"/>
                        <a:t>Chậm</a:t>
                      </a:r>
                    </a:p>
                  </a:txBody>
                  <a:tcPr marL="45057" marR="45057" marT="22529" marB="22529" anchor="ctr"/>
                </a:tc>
                <a:tc>
                  <a:txBody>
                    <a:bodyPr/>
                    <a:lstStyle/>
                    <a:p>
                      <a:pPr>
                        <a:buNone/>
                      </a:pPr>
                      <a:r>
                        <a:rPr lang="en-US" sz="1400"/>
                        <a:t>Tránh vật cản</a:t>
                      </a:r>
                    </a:p>
                  </a:txBody>
                  <a:tcPr marL="45057" marR="45057" marT="22529" marB="22529" anchor="ctr"/>
                </a:tc>
                <a:extLst>
                  <a:ext uri="{0D108BD9-81ED-4DB2-BD59-A6C34878D82A}">
                    <a16:rowId xmlns:a16="http://schemas.microsoft.com/office/drawing/2014/main" val="3355797405"/>
                  </a:ext>
                </a:extLst>
              </a:tr>
              <a:tr h="521820">
                <a:tc>
                  <a:txBody>
                    <a:bodyPr/>
                    <a:lstStyle/>
                    <a:p>
                      <a:pPr>
                        <a:buNone/>
                      </a:pPr>
                      <a:r>
                        <a:rPr lang="en-US" sz="1400"/>
                        <a:t>PSO</a:t>
                      </a:r>
                    </a:p>
                  </a:txBody>
                  <a:tcPr marL="45057" marR="45057" marT="22529" marB="22529" anchor="ctr"/>
                </a:tc>
                <a:tc>
                  <a:txBody>
                    <a:bodyPr/>
                    <a:lstStyle/>
                    <a:p>
                      <a:pPr>
                        <a:buNone/>
                      </a:pPr>
                      <a:r>
                        <a:rPr lang="en-US" sz="1400"/>
                        <a:t>Bầy đàn</a:t>
                      </a:r>
                    </a:p>
                  </a:txBody>
                  <a:tcPr marL="45057" marR="45057" marT="22529" marB="22529" anchor="ctr"/>
                </a:tc>
                <a:tc>
                  <a:txBody>
                    <a:bodyPr/>
                    <a:lstStyle/>
                    <a:p>
                      <a:pPr>
                        <a:buNone/>
                      </a:pPr>
                      <a:r>
                        <a:rPr lang="en-US" sz="1400"/>
                        <a:t>Nhanh</a:t>
                      </a:r>
                    </a:p>
                  </a:txBody>
                  <a:tcPr marL="45057" marR="45057" marT="22529" marB="22529" anchor="ctr"/>
                </a:tc>
                <a:tc>
                  <a:txBody>
                    <a:bodyPr/>
                    <a:lstStyle/>
                    <a:p>
                      <a:pPr>
                        <a:buNone/>
                      </a:pPr>
                      <a:r>
                        <a:rPr lang="en-US" sz="1400"/>
                        <a:t>Kẹt local</a:t>
                      </a:r>
                    </a:p>
                  </a:txBody>
                  <a:tcPr marL="45057" marR="45057" marT="22529" marB="22529" anchor="ctr"/>
                </a:tc>
                <a:tc>
                  <a:txBody>
                    <a:bodyPr/>
                    <a:lstStyle/>
                    <a:p>
                      <a:pPr>
                        <a:buNone/>
                      </a:pPr>
                      <a:r>
                        <a:rPr lang="en-US" sz="1400"/>
                        <a:t>Tìm nhanh đường gần nhất</a:t>
                      </a:r>
                    </a:p>
                  </a:txBody>
                  <a:tcPr marL="45057" marR="45057" marT="22529" marB="22529" anchor="ctr"/>
                </a:tc>
                <a:extLst>
                  <a:ext uri="{0D108BD9-81ED-4DB2-BD59-A6C34878D82A}">
                    <a16:rowId xmlns:a16="http://schemas.microsoft.com/office/drawing/2014/main" val="4264674992"/>
                  </a:ext>
                </a:extLst>
              </a:tr>
              <a:tr h="835410">
                <a:tc>
                  <a:txBody>
                    <a:bodyPr/>
                    <a:lstStyle/>
                    <a:p>
                      <a:pPr>
                        <a:buNone/>
                      </a:pPr>
                      <a:r>
                        <a:rPr lang="en-US" sz="1400"/>
                        <a:t>DE</a:t>
                      </a:r>
                    </a:p>
                  </a:txBody>
                  <a:tcPr marL="45057" marR="45057" marT="22529" marB="22529" anchor="ctr"/>
                </a:tc>
                <a:tc>
                  <a:txBody>
                    <a:bodyPr/>
                    <a:lstStyle/>
                    <a:p>
                      <a:pPr>
                        <a:buNone/>
                      </a:pPr>
                      <a:r>
                        <a:rPr lang="en-US" sz="1400"/>
                        <a:t>Vector diff+đột biến</a:t>
                      </a:r>
                    </a:p>
                  </a:txBody>
                  <a:tcPr marL="45057" marR="45057" marT="22529" marB="22529" anchor="ctr"/>
                </a:tc>
                <a:tc>
                  <a:txBody>
                    <a:bodyPr/>
                    <a:lstStyle/>
                    <a:p>
                      <a:pPr>
                        <a:buNone/>
                      </a:pPr>
                      <a:r>
                        <a:rPr lang="en-US" sz="1400"/>
                        <a:t>Rất mạnh continuous</a:t>
                      </a:r>
                    </a:p>
                  </a:txBody>
                  <a:tcPr marL="45057" marR="45057" marT="22529" marB="22529" anchor="ctr"/>
                </a:tc>
                <a:tc>
                  <a:txBody>
                    <a:bodyPr/>
                    <a:lstStyle/>
                    <a:p>
                      <a:pPr>
                        <a:buNone/>
                      </a:pPr>
                      <a:r>
                        <a:rPr lang="en-US" sz="1400"/>
                        <a:t>Nhạy tham số</a:t>
                      </a:r>
                    </a:p>
                  </a:txBody>
                  <a:tcPr marL="45057" marR="45057" marT="22529" marB="22529" anchor="ctr"/>
                </a:tc>
                <a:tc>
                  <a:txBody>
                    <a:bodyPr/>
                    <a:lstStyle/>
                    <a:p>
                      <a:pPr>
                        <a:buNone/>
                      </a:pPr>
                      <a:r>
                        <a:rPr lang="en-US" sz="1400"/>
                        <a:t>Vị trí chính xác</a:t>
                      </a:r>
                    </a:p>
                  </a:txBody>
                  <a:tcPr marL="45057" marR="45057" marT="22529" marB="22529" anchor="ctr"/>
                </a:tc>
                <a:extLst>
                  <a:ext uri="{0D108BD9-81ED-4DB2-BD59-A6C34878D82A}">
                    <a16:rowId xmlns:a16="http://schemas.microsoft.com/office/drawing/2014/main" val="1510685298"/>
                  </a:ext>
                </a:extLst>
              </a:tr>
              <a:tr h="521820">
                <a:tc>
                  <a:txBody>
                    <a:bodyPr/>
                    <a:lstStyle/>
                    <a:p>
                      <a:pPr>
                        <a:buNone/>
                      </a:pPr>
                      <a:r>
                        <a:rPr lang="en-US" sz="1400"/>
                        <a:t>ABC (Bee Colony)</a:t>
                      </a:r>
                    </a:p>
                  </a:txBody>
                  <a:tcPr marL="45057" marR="45057" marT="22529" marB="22529" anchor="ctr"/>
                </a:tc>
                <a:tc>
                  <a:txBody>
                    <a:bodyPr/>
                    <a:lstStyle/>
                    <a:p>
                      <a:pPr>
                        <a:buNone/>
                      </a:pPr>
                      <a:r>
                        <a:rPr lang="en-US" sz="1400"/>
                        <a:t>Ong</a:t>
                      </a:r>
                    </a:p>
                  </a:txBody>
                  <a:tcPr marL="45057" marR="45057" marT="22529" marB="22529" anchor="ctr"/>
                </a:tc>
                <a:tc>
                  <a:txBody>
                    <a:bodyPr/>
                    <a:lstStyle/>
                    <a:p>
                      <a:pPr>
                        <a:buNone/>
                      </a:pPr>
                      <a:r>
                        <a:rPr lang="en-US" sz="1400"/>
                        <a:t>Cân bằng tốt</a:t>
                      </a:r>
                    </a:p>
                  </a:txBody>
                  <a:tcPr marL="45057" marR="45057" marT="22529" marB="22529" anchor="ctr"/>
                </a:tc>
                <a:tc>
                  <a:txBody>
                    <a:bodyPr/>
                    <a:lstStyle/>
                    <a:p>
                      <a:pPr>
                        <a:buNone/>
                      </a:pPr>
                      <a:r>
                        <a:rPr lang="en-US" sz="1400"/>
                        <a:t>Hội tụ chậm</a:t>
                      </a:r>
                    </a:p>
                  </a:txBody>
                  <a:tcPr marL="45057" marR="45057" marT="22529" marB="22529" anchor="ctr"/>
                </a:tc>
                <a:tc>
                  <a:txBody>
                    <a:bodyPr/>
                    <a:lstStyle/>
                    <a:p>
                      <a:pPr>
                        <a:buNone/>
                      </a:pPr>
                      <a:r>
                        <a:rPr lang="en-US" sz="1400"/>
                        <a:t>Khám phá không gian lớn, ko rõ</a:t>
                      </a:r>
                    </a:p>
                  </a:txBody>
                  <a:tcPr marL="45057" marR="45057" marT="22529" marB="22529" anchor="ctr"/>
                </a:tc>
                <a:extLst>
                  <a:ext uri="{0D108BD9-81ED-4DB2-BD59-A6C34878D82A}">
                    <a16:rowId xmlns:a16="http://schemas.microsoft.com/office/drawing/2014/main" val="3136914926"/>
                  </a:ext>
                </a:extLst>
              </a:tr>
            </a:tbl>
          </a:graphicData>
        </a:graphic>
      </p:graphicFrame>
    </p:spTree>
    <p:extLst>
      <p:ext uri="{BB962C8B-B14F-4D97-AF65-F5344CB8AC3E}">
        <p14:creationId xmlns:p14="http://schemas.microsoft.com/office/powerpoint/2010/main" val="3651498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r>
              <a:rPr lang="en-US"/>
              <a:t>3. Mạng đồ thị nơ ron (Graph Neural Network)</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D7A5E0C5-7F9C-BDE6-162B-F94E54DA8B01}"/>
                  </a:ext>
                </a:extLst>
              </p:cNvPr>
              <p:cNvSpPr>
                <a:spLocks noGrp="1"/>
              </p:cNvSpPr>
              <p:nvPr>
                <p:ph type="body" sz="quarter" idx="13"/>
              </p:nvPr>
            </p:nvSpPr>
            <p:spPr>
              <a:xfrm>
                <a:off x="234950" y="1117014"/>
                <a:ext cx="8674100" cy="4868449"/>
              </a:xfrm>
            </p:spPr>
            <p:txBody>
              <a:bodyPr/>
              <a:lstStyle/>
              <a:p>
                <a:pPr marL="0" indent="0">
                  <a:buNone/>
                </a:pPr>
                <a:r>
                  <a:rPr lang="en-US" sz="2400"/>
                  <a:t>1. GNN là gì? Tại sao lại dùng GNN cho bài toán UAV?</a:t>
                </a:r>
              </a:p>
              <a:p>
                <a:pPr lvl="1"/>
                <a:r>
                  <a:rPr lang="en-US" sz="2000"/>
                  <a:t>GNN là một mô hình học sâu (DL) dùng để xử lý dữ liệu đồ thị.</a:t>
                </a:r>
              </a:p>
              <a:p>
                <a:pPr lvl="1"/>
                <a:r>
                  <a:rPr lang="en-US" sz="2000"/>
                  <a:t>Đồ thị cơ bản bao gồm: Node(Đỉnh) và Edge(Cạnh), đối với UAV sẽ là Node(Vị trí) và Edge(đường bay).</a:t>
                </a:r>
              </a:p>
              <a:p>
                <a:pPr marL="457200" lvl="1" indent="0">
                  <a:buNone/>
                </a:pPr>
                <a:r>
                  <a:rPr lang="en-US" sz="200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a:t> Path Planning: GNN học đường nào tốt, vùng nào nguy hiểm.</a:t>
                </a:r>
              </a:p>
              <a:p>
                <a:pPr marL="457200" lvl="1" indent="0">
                  <a:buNone/>
                </a:pPr>
                <a:r>
                  <a:rPr lang="en-US" sz="200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a:t> Multi-UAV: Phối hợp đội hình bay, tránh va chạm. </a:t>
                </a:r>
                <a:r>
                  <a:rPr lang="en-US">
                    <a:hlinkClick r:id="rId2" tooltip="Persistent link using digital object identifier"/>
                  </a:rPr>
                  <a:t>Link</a:t>
                </a:r>
                <a:endParaRPr lang="en-US" sz="2000"/>
              </a:p>
              <a:p>
                <a:pPr marL="457200" lvl="1" indent="0">
                  <a:buNone/>
                </a:pPr>
                <a:r>
                  <a:rPr lang="en-US" sz="200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a:t> Dynamic Env: GNN học môi trường biến động để thích nghi tốt.</a:t>
                </a:r>
              </a:p>
              <a:p>
                <a:pPr marL="0" indent="0">
                  <a:buNone/>
                </a:pPr>
                <a:endParaRPr lang="en-US" sz="2400"/>
              </a:p>
            </p:txBody>
          </p:sp>
        </mc:Choice>
        <mc:Fallback>
          <p:sp>
            <p:nvSpPr>
              <p:cNvPr id="4" name="Text Placeholder 3">
                <a:extLst>
                  <a:ext uri="{FF2B5EF4-FFF2-40B4-BE49-F238E27FC236}">
                    <a16:creationId xmlns:a16="http://schemas.microsoft.com/office/drawing/2014/main" id="{D7A5E0C5-7F9C-BDE6-162B-F94E54DA8B01}"/>
                  </a:ext>
                </a:extLst>
              </p:cNvPr>
              <p:cNvSpPr>
                <a:spLocks noGrp="1" noRot="1" noChangeAspect="1" noMove="1" noResize="1" noEditPoints="1" noAdjustHandles="1" noChangeArrowheads="1" noChangeShapeType="1" noTextEdit="1"/>
              </p:cNvSpPr>
              <p:nvPr>
                <p:ph type="body" sz="quarter" idx="13"/>
              </p:nvPr>
            </p:nvSpPr>
            <p:spPr>
              <a:xfrm>
                <a:off x="234950" y="1117014"/>
                <a:ext cx="8674100" cy="4868449"/>
              </a:xfrm>
              <a:blipFill>
                <a:blip r:embed="rId3"/>
                <a:stretch>
                  <a:fillRect l="-1023" t="-1558"/>
                </a:stretch>
              </a:blipFill>
            </p:spPr>
            <p:txBody>
              <a:bodyPr/>
              <a:lstStyle/>
              <a:p>
                <a:r>
                  <a:rPr lang="en-VN">
                    <a:noFill/>
                  </a:rPr>
                  <a:t> </a:t>
                </a:r>
              </a:p>
            </p:txBody>
          </p:sp>
        </mc:Fallback>
      </mc:AlternateContent>
      <p:pic>
        <p:nvPicPr>
          <p:cNvPr id="2050" name="Picture 2" descr="Fig. 1">
            <a:extLst>
              <a:ext uri="{FF2B5EF4-FFF2-40B4-BE49-F238E27FC236}">
                <a16:creationId xmlns:a16="http://schemas.microsoft.com/office/drawing/2014/main" id="{93633A4A-109D-C07A-2F2A-59C764CFA3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8200" y="3534363"/>
            <a:ext cx="4927600" cy="245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728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6" name="Title 2">
            <a:extLst>
              <a:ext uri="{FF2B5EF4-FFF2-40B4-BE49-F238E27FC236}">
                <a16:creationId xmlns:a16="http://schemas.microsoft.com/office/drawing/2014/main" id="{CB06FA4A-A3DB-AE9B-DCFD-BC30B73D64C2}"/>
              </a:ext>
            </a:extLst>
          </p:cNvPr>
          <p:cNvSpPr>
            <a:spLocks noGrp="1"/>
          </p:cNvSpPr>
          <p:nvPr>
            <p:ph type="title"/>
          </p:nvPr>
        </p:nvSpPr>
        <p:spPr/>
        <p:txBody>
          <a:bodyPr/>
          <a:lstStyle/>
          <a:p>
            <a:r>
              <a:rPr lang="en-US"/>
              <a:t>3. Mạng đồ thị nơ ron (Graph Neural Network)</a:t>
            </a:r>
          </a:p>
        </p:txBody>
      </p:sp>
      <p:sp>
        <p:nvSpPr>
          <p:cNvPr id="7" name="Text Placeholder 3">
            <a:extLst>
              <a:ext uri="{FF2B5EF4-FFF2-40B4-BE49-F238E27FC236}">
                <a16:creationId xmlns:a16="http://schemas.microsoft.com/office/drawing/2014/main" id="{0AD83BD7-DDF3-2F95-2077-4E87099DB53F}"/>
              </a:ext>
            </a:extLst>
          </p:cNvPr>
          <p:cNvSpPr txBox="1">
            <a:spLocks/>
          </p:cNvSpPr>
          <p:nvPr/>
        </p:nvSpPr>
        <p:spPr>
          <a:xfrm>
            <a:off x="234823" y="886007"/>
            <a:ext cx="8674100" cy="48684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t>2. Message Passing</a:t>
            </a:r>
          </a:p>
          <a:p>
            <a:pPr marL="914400" lvl="1" indent="-457200">
              <a:buFont typeface="+mj-lt"/>
              <a:buAutoNum type="arabicPeriod"/>
            </a:pPr>
            <a:r>
              <a:rPr lang="en-US" sz="2000"/>
              <a:t>Message: Node i nhận thông tin từ node j</a:t>
            </a:r>
          </a:p>
          <a:p>
            <a:pPr marL="914400" lvl="1" indent="-457200">
              <a:buFont typeface="+mj-lt"/>
              <a:buAutoNum type="arabicPeriod"/>
            </a:pPr>
            <a:r>
              <a:rPr lang="en-US" sz="2000"/>
              <a:t>Aggregate: Tổng hợp tất cả message mà i nhận được (sum,mean,max)</a:t>
            </a:r>
          </a:p>
          <a:p>
            <a:pPr lvl="2"/>
            <a:r>
              <a:rPr lang="en-US" sz="1600"/>
              <a:t>Cách chọn aggregate ảnh hưởng đến toàn mạng và hiệu suất UAV</a:t>
            </a:r>
          </a:p>
          <a:p>
            <a:pPr lvl="3"/>
            <a:r>
              <a:rPr lang="en-US" sz="1400"/>
              <a:t>Tránh va chạm: Max</a:t>
            </a:r>
          </a:p>
          <a:p>
            <a:pPr lvl="3"/>
            <a:r>
              <a:rPr lang="en-US" sz="1400"/>
              <a:t>Tối ưu đường đi: Mean</a:t>
            </a:r>
          </a:p>
          <a:p>
            <a:pPr lvl="3"/>
            <a:r>
              <a:rPr lang="en-US" sz="1400"/>
              <a:t>Đánh giá vùng: Sum</a:t>
            </a:r>
          </a:p>
          <a:p>
            <a:pPr lvl="3"/>
            <a:r>
              <a:rPr lang="en-US" sz="1400"/>
              <a:t>Môi trường phức tạp: Kết hợp</a:t>
            </a:r>
          </a:p>
          <a:p>
            <a:pPr marL="914400" lvl="1" indent="-457200">
              <a:buFont typeface="+mj-lt"/>
              <a:buAutoNum type="arabicPeriod"/>
            </a:pPr>
            <a:r>
              <a:rPr lang="en-US" sz="2000"/>
              <a:t>Update: Cập nhật node</a:t>
            </a:r>
          </a:p>
          <a:p>
            <a:pPr marL="914400" lvl="1" indent="-457200">
              <a:buFont typeface="+mj-lt"/>
              <a:buAutoNum type="arabicPeriod"/>
            </a:pPr>
            <a:endParaRPr lang="en-US" sz="2000"/>
          </a:p>
          <a:p>
            <a:pPr marL="457200" lvl="1" indent="0">
              <a:buNone/>
            </a:pPr>
            <a:r>
              <a:rPr lang="vi-VN" sz="1600"/>
              <a:t>Lưu ý: Lựa chọn hàm aggregate trong Graph Neural Network có ảnh hưởng trực tiếp đến khả năng học biểu diễn và hiệu suất của mô hình, đặc biệt trong bài toán UAV, nơi các tiêu chí như an toàn, chi phí và môi trường truyền có thể yêu cầu các chiến lược tổng hợp khác nhau.</a:t>
            </a:r>
            <a:endParaRPr lang="en-US" sz="1600"/>
          </a:p>
        </p:txBody>
      </p:sp>
    </p:spTree>
    <p:extLst>
      <p:ext uri="{BB962C8B-B14F-4D97-AF65-F5344CB8AC3E}">
        <p14:creationId xmlns:p14="http://schemas.microsoft.com/office/powerpoint/2010/main" val="2581069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4" name="Text Placeholder 3">
            <a:extLst>
              <a:ext uri="{FF2B5EF4-FFF2-40B4-BE49-F238E27FC236}">
                <a16:creationId xmlns:a16="http://schemas.microsoft.com/office/drawing/2014/main" id="{C2E5BA0D-33C2-2FFC-BFBC-D1CF38376477}"/>
              </a:ext>
            </a:extLst>
          </p:cNvPr>
          <p:cNvSpPr>
            <a:spLocks noGrp="1"/>
          </p:cNvSpPr>
          <p:nvPr>
            <p:ph type="body" sz="quarter" idx="13"/>
          </p:nvPr>
        </p:nvSpPr>
        <p:spPr/>
        <p:txBody>
          <a:bodyPr/>
          <a:lstStyle/>
          <a:p>
            <a:pPr marL="0" indent="0">
              <a:buNone/>
            </a:pPr>
            <a:r>
              <a:rPr lang="en-US"/>
              <a:t>2. Message Passing</a:t>
            </a:r>
          </a:p>
          <a:p>
            <a:pPr lvl="1"/>
            <a:r>
              <a:rPr lang="en-US"/>
              <a:t>Message:</a:t>
            </a:r>
          </a:p>
          <a:p>
            <a:pPr lvl="1"/>
            <a:endParaRPr lang="en-US"/>
          </a:p>
          <a:p>
            <a:pPr lvl="1"/>
            <a:endParaRPr lang="en-US"/>
          </a:p>
          <a:p>
            <a:pPr lvl="1"/>
            <a:endParaRPr lang="en-US"/>
          </a:p>
          <a:p>
            <a:pPr lvl="1"/>
            <a:r>
              <a:rPr lang="en-US"/>
              <a:t>Aggregation:</a:t>
            </a:r>
          </a:p>
          <a:p>
            <a:pPr lvl="1"/>
            <a:endParaRPr lang="en-US"/>
          </a:p>
          <a:p>
            <a:pPr lvl="1"/>
            <a:endParaRPr lang="en-US"/>
          </a:p>
          <a:p>
            <a:pPr lvl="1"/>
            <a:endParaRPr lang="en-US"/>
          </a:p>
          <a:p>
            <a:pPr lvl="1"/>
            <a:r>
              <a:rPr lang="en-US"/>
              <a:t>Update:</a:t>
            </a:r>
          </a:p>
          <a:p>
            <a:endParaRPr lang="en-US" sz="1600"/>
          </a:p>
        </p:txBody>
      </p:sp>
      <p:sp>
        <p:nvSpPr>
          <p:cNvPr id="5" name="Title 2">
            <a:extLst>
              <a:ext uri="{FF2B5EF4-FFF2-40B4-BE49-F238E27FC236}">
                <a16:creationId xmlns:a16="http://schemas.microsoft.com/office/drawing/2014/main" id="{E9CFB5B5-2676-2710-7D3C-2C56A8F3AFC7}"/>
              </a:ext>
            </a:extLst>
          </p:cNvPr>
          <p:cNvSpPr>
            <a:spLocks noGrp="1"/>
          </p:cNvSpPr>
          <p:nvPr>
            <p:ph type="title"/>
          </p:nvPr>
        </p:nvSpPr>
        <p:spPr/>
        <p:txBody>
          <a:bodyPr/>
          <a:lstStyle/>
          <a:p>
            <a:r>
              <a:rPr lang="en-US"/>
              <a:t>3. Mạng đồ thị nơ ron (Graph Neural Network)</a:t>
            </a:r>
          </a:p>
        </p:txBody>
      </p:sp>
      <p:pic>
        <p:nvPicPr>
          <p:cNvPr id="7" name="Picture 6">
            <a:extLst>
              <a:ext uri="{FF2B5EF4-FFF2-40B4-BE49-F238E27FC236}">
                <a16:creationId xmlns:a16="http://schemas.microsoft.com/office/drawing/2014/main" id="{D97C0155-32D8-D2C7-1FED-C018B5B59D8F}"/>
              </a:ext>
            </a:extLst>
          </p:cNvPr>
          <p:cNvPicPr>
            <a:picLocks noChangeAspect="1"/>
          </p:cNvPicPr>
          <p:nvPr/>
        </p:nvPicPr>
        <p:blipFill>
          <a:blip r:embed="rId2">
            <a:extLst>
              <a:ext uri="{28A0092B-C50C-407E-A947-70E740481C1C}">
                <a14:useLocalDpi xmlns:a14="http://schemas.microsoft.com/office/drawing/2010/main" val="0"/>
              </a:ext>
            </a:extLst>
          </a:blip>
          <a:srcRect t="22158"/>
          <a:stretch>
            <a:fillRect/>
          </a:stretch>
        </p:blipFill>
        <p:spPr>
          <a:xfrm>
            <a:off x="3077946" y="1630581"/>
            <a:ext cx="2527300" cy="494294"/>
          </a:xfrm>
          <a:prstGeom prst="rect">
            <a:avLst/>
          </a:prstGeom>
        </p:spPr>
      </p:pic>
      <p:pic>
        <p:nvPicPr>
          <p:cNvPr id="9" name="Picture 8">
            <a:extLst>
              <a:ext uri="{FF2B5EF4-FFF2-40B4-BE49-F238E27FC236}">
                <a16:creationId xmlns:a16="http://schemas.microsoft.com/office/drawing/2014/main" id="{9253A1C9-1316-E1C6-6900-33C362B18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653" y="3075366"/>
            <a:ext cx="2451100" cy="584200"/>
          </a:xfrm>
          <a:prstGeom prst="rect">
            <a:avLst/>
          </a:prstGeom>
        </p:spPr>
      </p:pic>
      <p:pic>
        <p:nvPicPr>
          <p:cNvPr id="11" name="Picture 10">
            <a:extLst>
              <a:ext uri="{FF2B5EF4-FFF2-40B4-BE49-F238E27FC236}">
                <a16:creationId xmlns:a16="http://schemas.microsoft.com/office/drawing/2014/main" id="{9B7E2144-AC5A-5D6A-495F-F95B9303A7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5616" y="4627661"/>
            <a:ext cx="2235200" cy="596900"/>
          </a:xfrm>
          <a:prstGeom prst="rect">
            <a:avLst/>
          </a:prstGeom>
        </p:spPr>
      </p:pic>
      <p:pic>
        <p:nvPicPr>
          <p:cNvPr id="13" name="Picture 12">
            <a:extLst>
              <a:ext uri="{FF2B5EF4-FFF2-40B4-BE49-F238E27FC236}">
                <a16:creationId xmlns:a16="http://schemas.microsoft.com/office/drawing/2014/main" id="{99A7CD38-CB80-4D47-EC40-6AB7BE1EDC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3493" y="4069155"/>
            <a:ext cx="2501900" cy="1498600"/>
          </a:xfrm>
          <a:prstGeom prst="rect">
            <a:avLst/>
          </a:prstGeom>
        </p:spPr>
      </p:pic>
      <p:pic>
        <p:nvPicPr>
          <p:cNvPr id="15" name="Picture 14">
            <a:extLst>
              <a:ext uri="{FF2B5EF4-FFF2-40B4-BE49-F238E27FC236}">
                <a16:creationId xmlns:a16="http://schemas.microsoft.com/office/drawing/2014/main" id="{755C1228-96D5-752C-BAEB-0341E94543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26883" y="1250980"/>
            <a:ext cx="2743200" cy="1498600"/>
          </a:xfrm>
          <a:prstGeom prst="rect">
            <a:avLst/>
          </a:prstGeom>
        </p:spPr>
      </p:pic>
      <p:pic>
        <p:nvPicPr>
          <p:cNvPr id="4098" name="Picture 2" descr="Straight Arrow Vector Art, Icons, and Graphics for Free Download">
            <a:extLst>
              <a:ext uri="{FF2B5EF4-FFF2-40B4-BE49-F238E27FC236}">
                <a16:creationId xmlns:a16="http://schemas.microsoft.com/office/drawing/2014/main" id="{7CFE7BA7-4B1E-3717-F6F6-DADB08E99A9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126" t="30883" r="4914" b="36652"/>
          <a:stretch>
            <a:fillRect/>
          </a:stretch>
        </p:blipFill>
        <p:spPr bwMode="auto">
          <a:xfrm rot="20655609">
            <a:off x="5557538" y="1459011"/>
            <a:ext cx="1090426" cy="27455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Straight Arrow Vector Art, Icons, and Graphics for Free Download">
            <a:extLst>
              <a:ext uri="{FF2B5EF4-FFF2-40B4-BE49-F238E27FC236}">
                <a16:creationId xmlns:a16="http://schemas.microsoft.com/office/drawing/2014/main" id="{845A602C-7CC6-0F11-6FB9-75D8A361C15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126" t="30883" r="4914" b="36652"/>
          <a:stretch>
            <a:fillRect/>
          </a:stretch>
        </p:blipFill>
        <p:spPr bwMode="auto">
          <a:xfrm rot="20655609">
            <a:off x="5247613" y="4431971"/>
            <a:ext cx="1090426" cy="27455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Straight Arrow Vector Art, Icons, and Graphics for Free Download">
            <a:extLst>
              <a:ext uri="{FF2B5EF4-FFF2-40B4-BE49-F238E27FC236}">
                <a16:creationId xmlns:a16="http://schemas.microsoft.com/office/drawing/2014/main" id="{802D7374-E870-4C8A-24CF-531DF0F99A9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126" t="30883" r="4914" b="36652"/>
          <a:stretch>
            <a:fillRect/>
          </a:stretch>
        </p:blipFill>
        <p:spPr bwMode="auto">
          <a:xfrm rot="1594428">
            <a:off x="5394251" y="2112697"/>
            <a:ext cx="1090426" cy="27455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Straight Arrow Vector Art, Icons, and Graphics for Free Download">
            <a:extLst>
              <a:ext uri="{FF2B5EF4-FFF2-40B4-BE49-F238E27FC236}">
                <a16:creationId xmlns:a16="http://schemas.microsoft.com/office/drawing/2014/main" id="{BBA7E4CD-2865-73EA-A985-AE954E61FE9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126" t="30883" r="4914" b="36652"/>
          <a:stretch>
            <a:fillRect/>
          </a:stretch>
        </p:blipFill>
        <p:spPr bwMode="auto">
          <a:xfrm rot="1515874">
            <a:off x="5221301" y="4989727"/>
            <a:ext cx="1090426" cy="274558"/>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2B0DDA4F-1A1C-1A88-9530-340A6FF163D3}"/>
              </a:ext>
            </a:extLst>
          </p:cNvPr>
          <p:cNvSpPr txBox="1"/>
          <p:nvPr/>
        </p:nvSpPr>
        <p:spPr>
          <a:xfrm rot="20622030">
            <a:off x="5540742" y="1248730"/>
            <a:ext cx="763351" cy="369332"/>
          </a:xfrm>
          <a:prstGeom prst="rect">
            <a:avLst/>
          </a:prstGeom>
          <a:noFill/>
        </p:spPr>
        <p:txBody>
          <a:bodyPr wrap="none" rtlCol="0">
            <a:spAutoFit/>
          </a:bodyPr>
          <a:lstStyle/>
          <a:p>
            <a:r>
              <a:rPr lang="en-VN"/>
              <a:t>Linear</a:t>
            </a:r>
          </a:p>
        </p:txBody>
      </p:sp>
      <p:sp>
        <p:nvSpPr>
          <p:cNvPr id="20" name="TextBox 19">
            <a:extLst>
              <a:ext uri="{FF2B5EF4-FFF2-40B4-BE49-F238E27FC236}">
                <a16:creationId xmlns:a16="http://schemas.microsoft.com/office/drawing/2014/main" id="{E815869D-2115-2262-8AAF-F20D997F09A4}"/>
              </a:ext>
            </a:extLst>
          </p:cNvPr>
          <p:cNvSpPr txBox="1"/>
          <p:nvPr/>
        </p:nvSpPr>
        <p:spPr>
          <a:xfrm rot="1482095">
            <a:off x="5692539" y="1906440"/>
            <a:ext cx="598241" cy="369332"/>
          </a:xfrm>
          <a:prstGeom prst="rect">
            <a:avLst/>
          </a:prstGeom>
          <a:noFill/>
        </p:spPr>
        <p:txBody>
          <a:bodyPr wrap="none" rtlCol="0">
            <a:spAutoFit/>
          </a:bodyPr>
          <a:lstStyle/>
          <a:p>
            <a:r>
              <a:rPr lang="en-VN"/>
              <a:t>MLP</a:t>
            </a:r>
          </a:p>
        </p:txBody>
      </p:sp>
      <p:sp>
        <p:nvSpPr>
          <p:cNvPr id="21" name="TextBox 20">
            <a:extLst>
              <a:ext uri="{FF2B5EF4-FFF2-40B4-BE49-F238E27FC236}">
                <a16:creationId xmlns:a16="http://schemas.microsoft.com/office/drawing/2014/main" id="{6161B4B7-1F4A-8BE1-3B6F-ADA3A9F24B69}"/>
              </a:ext>
            </a:extLst>
          </p:cNvPr>
          <p:cNvSpPr txBox="1"/>
          <p:nvPr/>
        </p:nvSpPr>
        <p:spPr>
          <a:xfrm rot="20622030">
            <a:off x="5238064" y="4280635"/>
            <a:ext cx="763351" cy="369332"/>
          </a:xfrm>
          <a:prstGeom prst="rect">
            <a:avLst/>
          </a:prstGeom>
          <a:noFill/>
        </p:spPr>
        <p:txBody>
          <a:bodyPr wrap="none" rtlCol="0">
            <a:spAutoFit/>
          </a:bodyPr>
          <a:lstStyle/>
          <a:p>
            <a:r>
              <a:rPr lang="en-VN"/>
              <a:t>Linear</a:t>
            </a:r>
          </a:p>
        </p:txBody>
      </p:sp>
      <p:sp>
        <p:nvSpPr>
          <p:cNvPr id="22" name="TextBox 21">
            <a:extLst>
              <a:ext uri="{FF2B5EF4-FFF2-40B4-BE49-F238E27FC236}">
                <a16:creationId xmlns:a16="http://schemas.microsoft.com/office/drawing/2014/main" id="{DB6E8280-DD68-289B-8209-FCA0270DC147}"/>
              </a:ext>
            </a:extLst>
          </p:cNvPr>
          <p:cNvSpPr txBox="1"/>
          <p:nvPr/>
        </p:nvSpPr>
        <p:spPr>
          <a:xfrm rot="1482095">
            <a:off x="5493706" y="4744092"/>
            <a:ext cx="598241" cy="369332"/>
          </a:xfrm>
          <a:prstGeom prst="rect">
            <a:avLst/>
          </a:prstGeom>
          <a:noFill/>
        </p:spPr>
        <p:txBody>
          <a:bodyPr wrap="none" rtlCol="0">
            <a:spAutoFit/>
          </a:bodyPr>
          <a:lstStyle/>
          <a:p>
            <a:r>
              <a:rPr lang="en-VN"/>
              <a:t>MLP</a:t>
            </a:r>
          </a:p>
        </p:txBody>
      </p:sp>
    </p:spTree>
    <p:extLst>
      <p:ext uri="{BB962C8B-B14F-4D97-AF65-F5344CB8AC3E}">
        <p14:creationId xmlns:p14="http://schemas.microsoft.com/office/powerpoint/2010/main" val="1130957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E0DD4-964E-EB3E-BAAD-E3178CB84B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7E16A7-4C31-C16F-A06E-04A267E71515}"/>
              </a:ext>
            </a:extLst>
          </p:cNvPr>
          <p:cNvSpPr>
            <a:spLocks noGrp="1"/>
          </p:cNvSpPr>
          <p:nvPr>
            <p:ph type="sldNum" sz="quarter" idx="12"/>
          </p:nvPr>
        </p:nvSpPr>
        <p:spPr/>
        <p:txBody>
          <a:bodyPr/>
          <a:lstStyle/>
          <a:p>
            <a:fld id="{9EA0BE3B-158A-4EDF-80DC-E394A0D1600F}" type="slidenum">
              <a:rPr lang="en-US" smtClean="0"/>
              <a:pPr/>
              <a:t>10</a:t>
            </a:fld>
            <a:endParaRPr lang="en-US" dirty="0"/>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F79C875A-4B05-B6C1-6BC0-F64813B0425F}"/>
                  </a:ext>
                </a:extLst>
              </p:cNvPr>
              <p:cNvSpPr>
                <a:spLocks noGrp="1"/>
              </p:cNvSpPr>
              <p:nvPr>
                <p:ph type="body" sz="quarter" idx="13"/>
              </p:nvPr>
            </p:nvSpPr>
            <p:spPr/>
            <p:txBody>
              <a:bodyPr/>
              <a:lstStyle/>
              <a:p>
                <a:pPr marL="0" indent="0">
                  <a:buNone/>
                </a:pPr>
                <a:r>
                  <a:rPr lang="en-US"/>
                  <a:t>3. Các biến thể của GNN</a:t>
                </a:r>
              </a:p>
              <a:p>
                <a:pPr lvl="1"/>
                <a:r>
                  <a:rPr lang="en-US" sz="2000"/>
                  <a:t>Mạng đồ thị tích chập(GCN): Mean AGG, các node như nhau</a:t>
                </a:r>
              </a:p>
              <a:p>
                <a:pPr lvl="1"/>
                <a:r>
                  <a:rPr lang="en-US" sz="2000"/>
                  <a:t>Mạng đồ thị chú ý (GAN): Message có trọng số (</a:t>
                </a:r>
                <a14:m>
                  <m:oMath xmlns:m="http://schemas.openxmlformats.org/officeDocument/2006/math">
                    <m:sSub>
                      <m:sSubPr>
                        <m:ctrlPr>
                          <a:rPr lang="en-US" sz="2000" i="1">
                            <a:latin typeface="Cambria Math" panose="02040503050406030204" pitchFamily="18" charset="0"/>
                          </a:rPr>
                        </m:ctrlPr>
                      </m:sSubPr>
                      <m:e>
                        <m:r>
                          <m:rPr>
                            <m:sty m:val="p"/>
                          </m:rPr>
                          <a:rPr lang="en-US" sz="2000" i="1">
                            <a:latin typeface="Cambria Math" panose="02040503050406030204" pitchFamily="18" charset="0"/>
                          </a:rPr>
                          <m:t>e</m:t>
                        </m:r>
                      </m:e>
                      <m:sub>
                        <m:r>
                          <m:rPr>
                            <m:sty m:val="p"/>
                          </m:rPr>
                          <a:rPr lang="en-US" sz="2000" i="1">
                            <a:latin typeface="Cambria Math" panose="02040503050406030204" pitchFamily="18" charset="0"/>
                          </a:rPr>
                          <m:t>ij</m:t>
                        </m:r>
                      </m:sub>
                    </m:sSub>
                  </m:oMath>
                </a14:m>
                <a:r>
                  <a:rPr lang="en-US" sz="2000"/>
                  <a:t>)</a:t>
                </a:r>
              </a:p>
              <a:p>
                <a:pPr lvl="1"/>
                <a:r>
                  <a:rPr lang="en-US" sz="2000"/>
                  <a:t>GraphSAGE: Lấy mẫu nhỏ -&gt; Graph lớn</a:t>
                </a:r>
              </a:p>
              <a:p>
                <a:pPr lvl="1"/>
                <a:r>
                  <a:rPr lang="en-US" sz="2000"/>
                  <a:t>Graph Isomorphism Network(GIN): Sum AGG</a:t>
                </a:r>
              </a:p>
              <a:p>
                <a:pPr lvl="1"/>
                <a:endParaRPr lang="en-US" sz="2000"/>
              </a:p>
              <a:p>
                <a:pPr marL="457200" lvl="1" indent="0">
                  <a:buNone/>
                </a:pPr>
                <a:r>
                  <a:rPr lang="en-US" sz="2000" b="1"/>
                  <a:t>Đối với bài toán UAV,</a:t>
                </a:r>
                <a:r>
                  <a:rPr lang="en-US" sz="2000"/>
                  <a:t> Các mạng có thể đóng vai trò như sau:</a:t>
                </a:r>
              </a:p>
              <a:p>
                <a:pPr lvl="1"/>
                <a:r>
                  <a:rPr lang="en-US" sz="2000"/>
                  <a:t>GCN: Môi trường đơn giản, đều (như mô phỏng hiện tại)</a:t>
                </a:r>
              </a:p>
              <a:p>
                <a:pPr lvl="1"/>
                <a:r>
                  <a:rPr lang="en-US" sz="2000"/>
                  <a:t>GAN: Cần tránh vật cản, vùng chết sóng, multi-UAV</a:t>
                </a:r>
              </a:p>
              <a:p>
                <a:pPr lvl="1"/>
                <a:r>
                  <a:rPr lang="en-US" sz="2000"/>
                  <a:t>GraphSAGE: Bản đồ lớn, có nhiều node</a:t>
                </a:r>
              </a:p>
              <a:p>
                <a:pPr lvl="1"/>
                <a:r>
                  <a:rPr lang="en-US" sz="2000"/>
                  <a:t>GIN: Giữ lại nhiều info nhất do dùng sum AGG </a:t>
                </a:r>
              </a:p>
              <a:p>
                <a:pPr marL="914400" lvl="2" indent="0">
                  <a:buNone/>
                </a:pPr>
                <a:r>
                  <a:rPr lang="en-US" sz="1600"/>
                  <a:t>-&gt; Môi trường phức tạp, có nhiều loại địa hình</a:t>
                </a:r>
              </a:p>
              <a:p>
                <a:pPr lvl="1"/>
                <a:endParaRPr lang="en-US" sz="2000"/>
              </a:p>
              <a:p>
                <a:pPr lvl="1"/>
                <a:endParaRPr lang="en-US" sz="2000"/>
              </a:p>
            </p:txBody>
          </p:sp>
        </mc:Choice>
        <mc:Fallback>
          <p:sp>
            <p:nvSpPr>
              <p:cNvPr id="4" name="Text Placeholder 3">
                <a:extLst>
                  <a:ext uri="{FF2B5EF4-FFF2-40B4-BE49-F238E27FC236}">
                    <a16:creationId xmlns:a16="http://schemas.microsoft.com/office/drawing/2014/main" id="{F79C875A-4B05-B6C1-6BC0-F64813B0425F}"/>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1462" t="-2308"/>
                </a:stretch>
              </a:blipFill>
            </p:spPr>
            <p:txBody>
              <a:bodyPr/>
              <a:lstStyle/>
              <a:p>
                <a:r>
                  <a:rPr lang="en-VN">
                    <a:noFill/>
                  </a:rPr>
                  <a:t> </a:t>
                </a:r>
              </a:p>
            </p:txBody>
          </p:sp>
        </mc:Fallback>
      </mc:AlternateContent>
      <p:sp>
        <p:nvSpPr>
          <p:cNvPr id="5" name="Title 2">
            <a:extLst>
              <a:ext uri="{FF2B5EF4-FFF2-40B4-BE49-F238E27FC236}">
                <a16:creationId xmlns:a16="http://schemas.microsoft.com/office/drawing/2014/main" id="{9AED150A-8EFE-B7A9-FF39-C1244837DBAD}"/>
              </a:ext>
            </a:extLst>
          </p:cNvPr>
          <p:cNvSpPr>
            <a:spLocks noGrp="1"/>
          </p:cNvSpPr>
          <p:nvPr>
            <p:ph type="title"/>
          </p:nvPr>
        </p:nvSpPr>
        <p:spPr/>
        <p:txBody>
          <a:bodyPr/>
          <a:lstStyle/>
          <a:p>
            <a:r>
              <a:rPr lang="en-US"/>
              <a:t>3. Mạng đồ thị nơ ron (Graph Neural Network)</a:t>
            </a:r>
          </a:p>
        </p:txBody>
      </p:sp>
    </p:spTree>
    <p:extLst>
      <p:ext uri="{BB962C8B-B14F-4D97-AF65-F5344CB8AC3E}">
        <p14:creationId xmlns:p14="http://schemas.microsoft.com/office/powerpoint/2010/main" val="1972970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560</TotalTime>
  <Words>941</Words>
  <Application>Microsoft Macintosh PowerPoint</Application>
  <PresentationFormat>On-screen Show (4:3)</PresentationFormat>
  <Paragraphs>127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Cambria Math</vt:lpstr>
      <vt:lpstr>Lato</vt:lpstr>
      <vt:lpstr>Wingdings</vt:lpstr>
      <vt:lpstr>Office Theme</vt:lpstr>
      <vt:lpstr>PowerPoint Presentation</vt:lpstr>
      <vt:lpstr>1. Thuật toán Firefly Algorithm (FA)</vt:lpstr>
      <vt:lpstr>1. Thuật toán Firefly Algorithm (FA)</vt:lpstr>
      <vt:lpstr>1. Thuật toán Firefly Algorithm (FA)</vt:lpstr>
      <vt:lpstr>1. Thuật toán Firefly Algorithm (FA)</vt:lpstr>
      <vt:lpstr>2. So sánh các thuật toán trong họ Metaheuristic</vt:lpstr>
      <vt:lpstr>3. Mạng đồ thị nơ ron (Graph Neural Network)</vt:lpstr>
      <vt:lpstr>3. Mạng đồ thị nơ ron (Graph Neural Network)</vt:lpstr>
      <vt:lpstr>3. Mạng đồ thị nơ ron (Graph Neural Network)</vt:lpstr>
      <vt:lpstr>3. Mạng đồ thị nơ ron (Graph Neural Network)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Hoang Minh</cp:lastModifiedBy>
  <cp:revision>15</cp:revision>
  <dcterms:created xsi:type="dcterms:W3CDTF">2021-05-28T04:32:29Z</dcterms:created>
  <dcterms:modified xsi:type="dcterms:W3CDTF">2026-04-15T07:28:24Z</dcterms:modified>
</cp:coreProperties>
</file>