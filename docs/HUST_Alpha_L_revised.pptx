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64" r:id="rId5"/>
    <p:sldId id="265" r:id="rId6"/>
    <p:sldId id="266" r:id="rId7"/>
    <p:sldId id="260" r:id="rId8"/>
    <p:sldId id="261" r:id="rId9"/>
    <p:sldId id="262" r:id="rId10"/>
    <p:sldId id="263" r:id="rId11"/>
    <p:sldId id="268" r:id="rId12"/>
    <p:sldId id="269" r:id="rId13"/>
    <p:sldId id="271" r:id="rId14"/>
    <p:sldId id="270" r:id="rId15"/>
    <p:sldId id="274" r:id="rId16"/>
    <p:sldId id="275" r:id="rId17"/>
    <p:sldId id="277" r:id="rId18"/>
    <p:sldId id="279" r:id="rId19"/>
    <p:sldId id="278" r:id="rId20"/>
    <p:sldId id="280" r:id="rId21"/>
    <p:sldId id="281" r:id="rId22"/>
    <p:sldId id="283" r:id="rId23"/>
    <p:sldId id="282" r:id="rId24"/>
  </p:sldIdLst>
  <p:sldSz cx="9144000" cy="6858000" type="screen4x3"/>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43"/>
    <p:restoredTop sz="94726"/>
  </p:normalViewPr>
  <p:slideViewPr>
    <p:cSldViewPr snapToGrid="0">
      <p:cViewPr varScale="1">
        <p:scale>
          <a:sx n="120" d="100"/>
          <a:sy n="120" d="100"/>
        </p:scale>
        <p:origin x="10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Phạm vi: giải thích cấu trúc nghiệm alpha đều của V9 EE RF trước ràng buộc dữ liệu, sau đó tổng hợp sáu lần chạy có L. Template gốc: docs/HUST_PPT_template_2022_RED_4x3.pptx. Các mô phỏng do người dùng đã chạy. Không tái chạy MATLAB.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scripts/maincodeV9_EE.m, src/evaluators/addRFSlotMetrics.m, docs/EE_RESEARCH_CONTEXT.md mục 10–16. n=1..20, k=1..5. τDL=0.5 s. Mẫu số chỉ gồm năng lượng RF phát xuống của UAV, chưa gồm năng lượng bay, mạch hoặc năng lượng BS. Kênh lấy tại đầu slot và giả định UL đủ dữ liệu. Endpoint 21 là điểm đến, không tạo thêm slot. Chỉ thời gian DL triệt tiêu trong tỷ số, P vẫn nằm trong SINR nên không triệt tiêu khỏi EE. Các số seed3486784401 ở phần bảng là các lần chạy riêng so với ảnh L=0.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src/models/findAchievableRate_SWIPT_Joint.m và phần repair trong src/evaluators/evaluateTrajectory_JointSWIPT_clean.m, src/evaluators/evaluateTrajectory_JointBS_SWIPT_clean.m. Mỗi slot xếp g=|h|² tăng dần. Repair jointAlphaRepair="noma" sắp alpha giảm dần theo thứ tự kênh, tổng alpha bằng 1, alpha dương. Chỉ số i là hạng kênh, không phải ID user vật lý. h_bn là kênh BS b đến UAV. E_H=φη P_BS Σ|h_bn|² τUL; Pn=E_H/τDL. Hàm rate giữ tỷ số thời gian UL/DL bằng 1. Model hardcode B=1e6, noise density=-174 dBm/Hz. Công suất BS 46 dBm là mỗi BS, phải đổi sang W khi tính công thức.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A688E-1A53-42F2-052C-5DB51D129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CD866-F0FC-A9FC-97ED-A6FE2AB7D1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249AC-AD20-8AD2-01CA-097B718444EE}"/>
              </a:ext>
            </a:extLst>
          </p:cNvPr>
          <p:cNvSpPr>
            <a:spLocks noGrp="1"/>
          </p:cNvSpPr>
          <p:nvPr>
            <p:ph type="body" idx="1"/>
          </p:nvPr>
        </p:nvSpPr>
        <p:spPr/>
        <p:txBody>
          <a:bodyPr/>
          <a:lstStyle/>
          <a:p>
            <a:r>
              <a:t>Nguồn: src/models/findAchievableRate_SWIPT_Joint.m và phần repair trong src/evaluators/evaluateTrajectory_JointSWIPT_clean.m, src/evaluators/evaluateTrajectory_JointBS_SWIPT_clean.m. Mỗi slot xếp g=|h|² tăng dần. Repair jointAlphaRepair="noma" sắp alpha giảm dần theo thứ tự kênh, tổng alpha bằng 1, alpha dương. Chỉ số i là hạng kênh, không phải ID user vật lý. h_bn là kênh BS b đến UAV. E_H=φη P_BS Σ|h_bn|² τUL; Pn=E_H/τDL. Hàm rate giữ tỷ số thời gian UL/DL bằng 1. Model hardcode B=1e6, noise density=-174 dBm/Hz. Công suất BS 46 dBm là mỗi BS, phải đổi sang W khi tính công thức.</a:t>
            </a:r>
          </a:p>
        </p:txBody>
      </p:sp>
      <p:sp>
        <p:nvSpPr>
          <p:cNvPr id="4" name="Slide Number Placeholder 3">
            <a:extLst>
              <a:ext uri="{FF2B5EF4-FFF2-40B4-BE49-F238E27FC236}">
                <a16:creationId xmlns:a16="http://schemas.microsoft.com/office/drawing/2014/main" id="{48916636-64ED-9C95-61C3-C4A4B03F0CA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10947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1E56C-44A1-E69C-A9A3-921A22897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C8CB0-4066-BCAB-AD4B-394F22DFF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8CBD8-A563-26FA-02F9-A8F28C6F58AF}"/>
              </a:ext>
            </a:extLst>
          </p:cNvPr>
          <p:cNvSpPr>
            <a:spLocks noGrp="1"/>
          </p:cNvSpPr>
          <p:nvPr>
            <p:ph type="body" idx="1"/>
          </p:nvPr>
        </p:nvSpPr>
        <p:spPr/>
        <p:txBody>
          <a:bodyPr/>
          <a:lstStyle/>
          <a:p>
            <a:r>
              <a:t>Nguồn: scripts/maincodeV9_EE.m, src/evaluators/addRFSlotMetrics.m, docs/EE_RESEARCH_CONTEXT.md mục 10–16. n=1..20, k=1..5. τDL=0.5 s. Mẫu số chỉ gồm năng lượng RF phát xuống của UAV, chưa gồm năng lượng bay, mạch hoặc năng lượng BS. Kênh lấy tại đầu slot và giả định UL đủ dữ liệu. Endpoint 21 là điểm đến, không tạo thêm slot. Chỉ thời gian DL triệt tiêu trong tỷ số, P vẫn nằm trong SINR nên không triệt tiêu khỏi EE. Các số seed3486784401 ở phần bảng là các lần chạy riêng so với ảnh L=0.</a:t>
            </a:r>
          </a:p>
        </p:txBody>
      </p:sp>
      <p:sp>
        <p:nvSpPr>
          <p:cNvPr id="4" name="Slide Number Placeholder 3">
            <a:extLst>
              <a:ext uri="{FF2B5EF4-FFF2-40B4-BE49-F238E27FC236}">
                <a16:creationId xmlns:a16="http://schemas.microsoft.com/office/drawing/2014/main" id="{AE58929C-866F-D05B-4AFD-75B20FF8BD0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51869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C9B75-87CA-E37B-98FE-DA17792F6C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E8072-F006-96EA-0E45-AA8174600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0C27F-EAD4-1110-D051-59032C562B28}"/>
              </a:ext>
            </a:extLst>
          </p:cNvPr>
          <p:cNvSpPr>
            <a:spLocks noGrp="1"/>
          </p:cNvSpPr>
          <p:nvPr>
            <p:ph type="body" idx="1"/>
          </p:nvPr>
        </p:nvSpPr>
        <p:spPr/>
        <p:txBody>
          <a:bodyPr/>
          <a:lstStyle/>
          <a:p>
            <a:r>
              <a:t>Nguồn: scripts/maincodeV9_EE.m, src/evaluators/addRFSlotMetrics.m, docs/EE_RESEARCH_CONTEXT.md mục 10–16. n=1..20, k=1..5. τDL=0.5 s. Mẫu số chỉ gồm năng lượng RF phát xuống của UAV, chưa gồm năng lượng bay, mạch hoặc năng lượng BS. Kênh lấy tại đầu slot và giả định UL đủ dữ liệu. Endpoint 21 là điểm đến, không tạo thêm slot. Chỉ thời gian DL triệt tiêu trong tỷ số, P vẫn nằm trong SINR nên không triệt tiêu khỏi EE. Các số seed3486784401 ở phần bảng là các lần chạy riêng so với ảnh L=0.</a:t>
            </a:r>
          </a:p>
        </p:txBody>
      </p:sp>
      <p:sp>
        <p:nvSpPr>
          <p:cNvPr id="4" name="Slide Number Placeholder 3">
            <a:extLst>
              <a:ext uri="{FF2B5EF4-FFF2-40B4-BE49-F238E27FC236}">
                <a16:creationId xmlns:a16="http://schemas.microsoft.com/office/drawing/2014/main" id="{B21A78DA-60FA-21C6-9594-1E2A9D78756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43160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Ảnh gốc người dùng cung cấp: image(20261021-181045).png, Library ID libfile_54125c17df7c81918a62f45aba0a885d, file_00000000cea0820784f407c44a4654af. Người dùng xác nhận trong câu hỏi làm rõ: ảnh thuộc trường hợp chưa thêm L, tức L=0. Không gán seed3486784401 cho ảnh vì chưa có xác nhận. Đường gạch là 1/N=0.2. Mỗi đường là trung bình alpha qua các slot cho ID user vật lý. Hai bản Full có điểm sau polishing ở khoảng 0.2; Joint còn lệch ở vòng cuối. Ảnh trung bình không đủ để xác nhận mọi slot có alpha=0.2. Chẩn đoán riêng seed608060 trong docs/EE_RESEARCH_CONTEXT.md mục 12 xác nhận max|alpha-0.2|=0 cho Full PSO/IPSO, Joint=0.2975822, nhưng không khẳng định ảnh này thuộc seed đó.</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src/evaluators/addRFSlotMetrics.m. D_k tính theo ID user vật lý, cộng 20 slot với τDL=0.5 s. L scalar áp dụng cho mọi user, 0 tắt yêu cầu; code cũng hỗ trợ vector L_k. Với particle vi phạm ràng buộc hình học hoặc EE undefined, fitness=-Inf. Công thức penalty hiển thị chỉ áp dụng khi hình học và năng lượng hợp lệ nhưng dataQoSFeasible=false. Feasible EE&gt;=0 luôn thắng normalized shortfall âm. Với L&gt;0, chứng minh uniform tối ưu của bài toán không QoS chỉ còn áp dụng nếu uniform tại hình học xét vẫn đáp ứng QoS. L không tự động bảo đảm alpha khác đều và một uniform không đạt tại một hình học không chứng minh mọi uniform trên toàn miền đều không đạt. Dấu ≥ là yêu cầu tối thiểu, không phải giới hạn trên tổng dữ liệu.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số liệu: results/ee_rf/logs/manifest.json và sáu file seed3486784401_L1Mbit.log, L1p5Mbit.log, L2Mbit.log, L3Mbit.log, L4Mbit.log, L4p2Mbit.log. Các log là bản console người dùng cung cấp, nhãn L từ manifest/các trao đổi gốc, log không trực tiếp in L. EE lấy từ phần RF EE sau FINAL RESULT, dùng eeRF dù particle infeasible. Với Joint tại L&gt;=3, fitness thực tế âm theo shortfall, không lấy EE này làm nghiệm khả thi. Full PSO/IPSO là kết quả sau alpha polishing. Làm tròn EE tới 3 chữ số sau dấu phẩy theo đơn vị 1e12 bit/J. Số đỏ là lớn nhất trong ba nghiệm cuối đã tìm được và đạt QoS, không phải khẳng định tối ưu toàn cục. Baseline giữ nguyên 7.214029 Mbit, 1.551204 microjoule, EE=4.650600e12 bit/J và không đạt cả sáu mức L, nên không lặp lại thành cột trong bảng. L=1 Mbit in đủ kết quả cuối trước lỗi plotting, nên vẫn dùng số metrics cuối, không suy dựng đồ thị iteration cho lượt đó.</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totalBitsPerUser trong phần RF EE của sáu console log và feasible chính thức trong log. Giá trị min lấy từ năm user vật lý, không phải min theo hạng kênh. Do MATLAB in vector 4 chữ số, min D_k làm tròn có thể bằng L nhưng độ chính xác đủ để xác nhận khả thi phải lấy từ flag feasible/dataQoSFeasible trong log; không suy ra vi phạm từ làm tròn. Giới hạn dữ liệu: các log không có alphaTrace hoặc alphaUserHistory, không có workspace .mat, nên không thể xác định từng cấu hình L&gt;0 có alpha=0.2 hoặc không, cũng không suy ra điều này từ fitness, min D hay feasibility. Người dùng mới xác nhận ảnh đi kèm là L=0. Vì vậy phần chú thích nêu rõ bằng chứng và phần chưa xác nhận, không tự gán L=3/4/4.2 là mốc alpha thay đổi.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buNone/>
              <a:defRPr sz="4800" b="1">
                <a:solidFill>
                  <a:schemeClr val="bg1"/>
                </a:solidFill>
                <a:latin typeface="Lato"/>
                <a:ea typeface="Lato"/>
                <a:cs typeface="Lato"/>
              </a:defRPr>
            </a:lvl1p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22/10/26</a:t>
            </a:fld>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idx="13"/>
          </p:nvPr>
        </p:nvSpPr>
        <p:spPr>
          <a:xfrm>
            <a:off x="235077" y="841247"/>
            <a:ext cx="8674100" cy="5303393"/>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22/10/26</a:t>
            </a:fld>
            <a:endParaRPr/>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idx="1"/>
          </p:nvPr>
        </p:nvSpPr>
        <p:spPr>
          <a:xfrm>
            <a:off x="528828" y="1423289"/>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idx="2"/>
          </p:nvPr>
        </p:nvSpPr>
        <p:spPr>
          <a:xfrm>
            <a:off x="4572000" y="1423289"/>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2: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22/10/26</a:t>
            </a:fld>
            <a:endParaRPr/>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idx="13"/>
          </p:nvPr>
        </p:nvSpPr>
        <p:spPr>
          <a:xfrm>
            <a:off x="234950" y="963168"/>
            <a:ext cx="8674100" cy="5132832"/>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22/10/26</a:t>
            </a:fld>
            <a:endParaRPr/>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idx="1"/>
          </p:nvPr>
        </p:nvSpPr>
        <p:spPr>
          <a:xfrm>
            <a:off x="528828" y="1423289"/>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idx="2"/>
          </p:nvPr>
        </p:nvSpPr>
        <p:spPr>
          <a:xfrm>
            <a:off x="4572000" y="1423289"/>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4: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buNone/>
              <a:defRPr sz="2800" b="1">
                <a:solidFill>
                  <a:schemeClr val="tx1"/>
                </a:solidFill>
                <a:latin typeface="Lato"/>
                <a:ea typeface="Lato"/>
                <a:cs typeface="Lato"/>
              </a:defRPr>
            </a:lvl1pPr>
          </a:lstStyle>
          <a:p>
            <a:r>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idx="13"/>
          </p:nvPr>
        </p:nvSpPr>
        <p:spPr>
          <a:xfrm>
            <a:off x="3524251" y="1011238"/>
            <a:ext cx="5384672" cy="5529262"/>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idx="10"/>
          </p:nvPr>
        </p:nvSpPr>
        <p:spPr>
          <a:xfrm>
            <a:off x="628650" y="6565257"/>
            <a:ext cx="2057400" cy="365125"/>
          </a:xfrm>
          <a:prstGeom prst="rect">
            <a:avLst/>
          </a:prstGeom>
        </p:spPr>
        <p:txBody>
          <a:bodyPr/>
          <a:lstStyle>
            <a:lvl1pPr>
              <a:buNone/>
              <a:defRPr sz="1200" b="1">
                <a:solidFill>
                  <a:schemeClr val="bg1">
                    <a:lumMod val="95000"/>
                  </a:schemeClr>
                </a:solidFill>
                <a:latin typeface="Lato"/>
                <a:ea typeface="Lato"/>
                <a:cs typeface="Lato"/>
              </a:defRPr>
            </a:lvl1pPr>
          </a:lstStyle>
          <a:p>
            <a:fld id="{F70EAA40-3A53-4A3D-924A-D38F1059C7D5}" type="datetime1">
              <a:t>22/10/26</a:t>
            </a:fld>
            <a:endParaRPr/>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idx="1"/>
          </p:nvPr>
        </p:nvSpPr>
        <p:spPr>
          <a:xfrm>
            <a:off x="595884" y="1533017"/>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idx="2"/>
          </p:nvPr>
        </p:nvSpPr>
        <p:spPr>
          <a:xfrm>
            <a:off x="4639056" y="1533017"/>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idx="10"/>
          </p:nvPr>
        </p:nvSpPr>
        <p:spPr>
          <a:xfrm>
            <a:off x="628650" y="6565257"/>
            <a:ext cx="2057400" cy="365125"/>
          </a:xfrm>
          <a:prstGeom prst="rect">
            <a:avLst/>
          </a:prstGeom>
        </p:spPr>
        <p:txBody>
          <a:bodyPr/>
          <a:lstStyle>
            <a:lvl1pPr>
              <a:buNone/>
              <a:defRPr sz="1200" b="1">
                <a:solidFill>
                  <a:schemeClr val="accent1">
                    <a:lumMod val="50000"/>
                  </a:schemeClr>
                </a:solidFill>
                <a:latin typeface="Lato"/>
                <a:ea typeface="Lato"/>
                <a:cs typeface="Lato"/>
              </a:defRPr>
            </a:lvl1pPr>
          </a:lstStyle>
          <a:p>
            <a:fld id="{F70EAA40-3A53-4A3D-924A-D38F1059C7D5}" type="datetime1">
              <a:t>22/10/26</a:t>
            </a:fld>
            <a:endParaRPr/>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chemeClr val="accent1">
                    <a:lumMod val="50000"/>
                  </a:schemeClr>
                </a:solidFill>
                <a:latin typeface="Lato"/>
                <a:ea typeface="Lato"/>
                <a:cs typeface="Lato"/>
              </a:defRPr>
            </a:lvl1pPr>
          </a:lstStyle>
          <a:p>
            <a:endParaRPr/>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chemeClr val="accent1">
                    <a:lumMod val="50000"/>
                  </a:schemeClr>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22/10/26</a:t>
            </a:fld>
            <a:endParaRPr/>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idx="13"/>
          </p:nvPr>
        </p:nvSpPr>
        <p:spPr>
          <a:xfrm>
            <a:off x="234950" y="1227550"/>
            <a:ext cx="8674100" cy="4868449"/>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idx="1"/>
          </p:nvPr>
        </p:nvSpPr>
        <p:spPr>
          <a:xfrm>
            <a:off x="595884" y="1533017"/>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idx="2"/>
          </p:nvPr>
        </p:nvSpPr>
        <p:spPr>
          <a:xfrm>
            <a:off x="4639056" y="1533017"/>
            <a:ext cx="3886200" cy="4351338"/>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22/10/26</a:t>
            </a:fld>
            <a:endParaRPr/>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idx="10"/>
          </p:nvPr>
        </p:nvSpPr>
        <p:spPr>
          <a:xfrm>
            <a:off x="628650" y="6565257"/>
            <a:ext cx="2057400" cy="365125"/>
          </a:xfrm>
          <a:prstGeom prst="rect">
            <a:avLst/>
          </a:prstGeom>
        </p:spPr>
        <p:txBody>
          <a:bodyPr/>
          <a:lstStyle>
            <a:lvl1pPr>
              <a:buNone/>
              <a:defRPr sz="1200" b="1">
                <a:solidFill>
                  <a:srgbClr val="C00000"/>
                </a:solidFill>
                <a:latin typeface="Lato"/>
                <a:ea typeface="Lato"/>
                <a:cs typeface="Lato"/>
              </a:defRPr>
            </a:lvl1pPr>
          </a:lstStyle>
          <a:p>
            <a:fld id="{F70EAA40-3A53-4A3D-924A-D38F1059C7D5}" type="datetime1">
              <a:t>22/10/26</a:t>
            </a:fld>
            <a:endParaRPr/>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buNone/>
              <a:defRPr sz="2800" b="1">
                <a:solidFill>
                  <a:schemeClr val="bg1"/>
                </a:solidFill>
                <a:latin typeface="Lato"/>
                <a:ea typeface="Lato"/>
                <a:cs typeface="Lato"/>
              </a:defRPr>
            </a:lvl1pPr>
          </a:lstStyle>
          <a:p>
            <a:r>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idx="13"/>
          </p:nvPr>
        </p:nvSpPr>
        <p:spPr>
          <a:xfrm>
            <a:off x="234950" y="1164920"/>
            <a:ext cx="8674100" cy="4931079"/>
          </a:xfrm>
          <a:prstGeom prst="rect">
            <a:avLst/>
          </a:prstGeom>
        </p:spPr>
        <p:txBody>
          <a:bodyPr/>
          <a:lstStyle>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idx="10"/>
          </p:nvPr>
        </p:nvSpPr>
        <p:spPr>
          <a:xfrm>
            <a:off x="628650" y="6565257"/>
            <a:ext cx="2057400" cy="365125"/>
          </a:xfrm>
          <a:prstGeom prst="rect">
            <a:avLst/>
          </a:prstGeom>
        </p:spPr>
        <p:txBody>
          <a:bodyPr/>
          <a:lstStyle>
            <a:lvl1pPr>
              <a:buNone/>
              <a:defRPr sz="1200" b="1">
                <a:solidFill>
                  <a:schemeClr val="bg1">
                    <a:lumMod val="95000"/>
                  </a:schemeClr>
                </a:solidFill>
                <a:latin typeface="Lato"/>
                <a:ea typeface="Lato"/>
                <a:cs typeface="Lato"/>
              </a:defRPr>
            </a:lvl1pPr>
          </a:lstStyle>
          <a:p>
            <a:fld id="{F70EAA40-3A53-4A3D-924A-D38F1059C7D5}" type="datetime1">
              <a:t>22/10/26</a:t>
            </a:fld>
            <a:endParaRPr/>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idx="11"/>
          </p:nvPr>
        </p:nvSpPr>
        <p:spPr>
          <a:xfrm>
            <a:off x="3028950" y="6565257"/>
            <a:ext cx="3086100" cy="365125"/>
          </a:xfrm>
          <a:prstGeom prst="rect">
            <a:avLst/>
          </a:prstGeom>
        </p:spPr>
        <p:txBody>
          <a:bodyPr/>
          <a:lstStyle>
            <a:lvl1pPr algn="ctr">
              <a:buNone/>
              <a:defRPr sz="1200" b="1">
                <a:solidFill>
                  <a:srgbClr val="C00000"/>
                </a:solidFill>
                <a:latin typeface="Lato"/>
                <a:ea typeface="Lato"/>
                <a:cs typeface="Lato"/>
              </a:defRPr>
            </a:lvl1pPr>
          </a:lstStyle>
          <a:p>
            <a:endParaRPr/>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idx="12"/>
          </p:nvPr>
        </p:nvSpPr>
        <p:spPr>
          <a:xfrm>
            <a:off x="6867383" y="6572126"/>
            <a:ext cx="2057400" cy="365125"/>
          </a:xfrm>
          <a:prstGeom prst="rect">
            <a:avLst/>
          </a:prstGeom>
        </p:spPr>
        <p:txBody>
          <a:bodyPr/>
          <a:lstStyle>
            <a:lvl1pPr algn="r">
              <a:buNone/>
              <a:defRPr sz="1200" b="1">
                <a:solidFill>
                  <a:srgbClr val="C00000"/>
                </a:solidFill>
                <a:latin typeface="Lato"/>
                <a:ea typeface="Lato"/>
                <a:cs typeface="Lato"/>
              </a:defRPr>
            </a:lvl1pPr>
          </a:lstStyle>
          <a:p>
            <a:fld id="{9EA0BE3B-158A-4EDF-80DC-E394A0D1600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5">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7957608C-2CAC-4706-8971-1C24A9D32C03}"/>
              </a:ext>
            </a:extLst>
          </p:cNvPr>
          <p:cNvPicPr>
            <a:picLocks noChangeAspect="1"/>
          </p:cNvPicPr>
          <p:nvPr/>
        </p:nvPicPr>
        <p:blipFill>
          <a:blip r:embed="rId3"/>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a:spLocks noGrp="1"/>
          </p:cNvSpPr>
          <p:nvPr/>
        </p:nvSpPr>
        <p:spPr>
          <a:xfrm>
            <a:off x="409575" y="2400300"/>
            <a:ext cx="7096125" cy="1381125"/>
          </a:xfrm>
          <a:prstGeom prst="rect">
            <a:avLst/>
          </a:prstGeom>
        </p:spPr>
        <p:txBody>
          <a:bodyPr wrap="square" lIns="0" tIns="0" rIns="0" bIns="0">
            <a:noAutofit/>
          </a:bodyPr>
          <a:lstStyle>
            <a:defPPr>
              <a:defRPr sz="3525" b="1">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3525" b="1">
                <a:solidFill>
                  <a:srgbClr val="C00000"/>
                </a:solidFill>
                <a:latin typeface="Lato"/>
                <a:ea typeface="Lato"/>
                <a:cs typeface="Lato"/>
              </a:defRPr>
            </a:lvl2pPr>
            <a:lvl3pPr>
              <a:defRPr sz="3525" b="1">
                <a:solidFill>
                  <a:srgbClr val="C00000"/>
                </a:solidFill>
                <a:latin typeface="Lato"/>
                <a:ea typeface="Lato"/>
                <a:cs typeface="Lato"/>
              </a:defRPr>
            </a:lvl3pPr>
            <a:lvl4pPr>
              <a:defRPr sz="3525" b="1">
                <a:solidFill>
                  <a:srgbClr val="C00000"/>
                </a:solidFill>
                <a:latin typeface="Lato"/>
                <a:ea typeface="Lato"/>
                <a:cs typeface="Lato"/>
              </a:defRPr>
            </a:lvl4pPr>
            <a:lvl5pPr>
              <a:defRPr sz="3525" b="1">
                <a:solidFill>
                  <a:srgbClr val="C00000"/>
                </a:solidFill>
                <a:latin typeface="Lato"/>
                <a:ea typeface="Lato"/>
                <a:cs typeface="Lato"/>
              </a:defRPr>
            </a:lvl5pPr>
            <a:lvl6pPr>
              <a:defRPr sz="3525" b="1">
                <a:solidFill>
                  <a:srgbClr val="C00000"/>
                </a:solidFill>
                <a:latin typeface="Lato"/>
                <a:ea typeface="Lato"/>
                <a:cs typeface="Lato"/>
              </a:defRPr>
            </a:lvl6pPr>
            <a:lvl7pPr>
              <a:defRPr sz="3525" b="1">
                <a:solidFill>
                  <a:srgbClr val="C00000"/>
                </a:solidFill>
                <a:latin typeface="Lato"/>
                <a:ea typeface="Lato"/>
                <a:cs typeface="Lato"/>
              </a:defRPr>
            </a:lvl7pPr>
            <a:lvl8pPr>
              <a:defRPr sz="3525" b="1">
                <a:solidFill>
                  <a:srgbClr val="C00000"/>
                </a:solidFill>
                <a:latin typeface="Lato"/>
                <a:ea typeface="Lato"/>
                <a:cs typeface="Lato"/>
              </a:defRPr>
            </a:lvl8pPr>
            <a:lvl9pPr>
              <a:defRPr sz="3525" b="1">
                <a:solidFill>
                  <a:srgbClr val="C00000"/>
                </a:solidFill>
                <a:latin typeface="Lato"/>
                <a:ea typeface="Lato"/>
                <a:cs typeface="Lato"/>
              </a:defRPr>
            </a:lvl9pPr>
          </a:lstStyle>
          <a:p>
            <a:pPr>
              <a:defRPr sz="3525" b="1">
                <a:solidFill>
                  <a:srgbClr val="C00000"/>
                </a:solidFill>
                <a:latin typeface="Lato"/>
                <a:ea typeface="Lato"/>
                <a:cs typeface="Lato"/>
              </a:defRPr>
            </a:pPr>
            <a:r>
              <a:rPr lang="en-US" sz="3525">
                <a:latin typeface="+mn-lt"/>
              </a:rPr>
              <a:t>Báo cáo UAV-EE</a:t>
            </a:r>
            <a:br>
              <a:rPr lang="en-US" sz="3525">
                <a:latin typeface="+mn-lt"/>
              </a:rPr>
            </a:br>
            <a:r>
              <a:rPr lang="en-US" sz="3525">
                <a:latin typeface="+mn-lt"/>
              </a:rPr>
              <a:t>Vấn đề của bài toán Alpha và </a:t>
            </a:r>
          </a:p>
          <a:p>
            <a:pPr>
              <a:defRPr sz="3525" b="1">
                <a:solidFill>
                  <a:srgbClr val="C00000"/>
                </a:solidFill>
                <a:latin typeface="Lato"/>
                <a:ea typeface="Lato"/>
                <a:cs typeface="Lato"/>
              </a:defRPr>
            </a:pPr>
            <a:r>
              <a:rPr lang="en-US" sz="3525" b="1">
                <a:solidFill>
                  <a:srgbClr val="C00000"/>
                </a:solidFill>
                <a:latin typeface="+mn-lt"/>
                <a:ea typeface="Lato"/>
                <a:cs typeface="Lato"/>
              </a:rPr>
              <a:t>Giới hạn dữ liệu của mỗi user</a:t>
            </a:r>
            <a:endParaRPr sz="3525" b="1">
              <a:solidFill>
                <a:srgbClr val="C00000"/>
              </a:solidFill>
              <a:latin typeface="+mn-lt"/>
              <a:ea typeface="Lato"/>
              <a:cs typeface="Lato"/>
            </a:endParaRPr>
          </a:p>
        </p:txBody>
      </p:sp>
      <p:sp>
        <p:nvSpPr>
          <p:cNvPr id="12" name="Title 6">
            <a:extLst>
              <a:ext uri="{FF2B5EF4-FFF2-40B4-BE49-F238E27FC236}">
                <a16:creationId xmlns:a16="http://schemas.microsoft.com/office/drawing/2014/main" id="{A4ACF486-B7D8-4A5A-B633-83527A2F99E2}"/>
              </a:ext>
            </a:extLst>
          </p:cNvPr>
          <p:cNvSpPr>
            <a:spLocks noGrp="1"/>
          </p:cNvSpPr>
          <p:nvPr/>
        </p:nvSpPr>
        <p:spPr>
          <a:xfrm>
            <a:off x="409575" y="3924300"/>
            <a:ext cx="6477000" cy="876300"/>
          </a:xfrm>
          <a:prstGeom prst="rect">
            <a:avLst/>
          </a:prstGeom>
        </p:spPr>
        <p:txBody>
          <a:bodyPr wrap="square" lIns="0" tIns="0" rIns="0" bIns="0">
            <a:noAutofit/>
          </a:bodyPr>
          <a:lstStyle>
            <a:defPPr>
              <a:defRPr sz="2025">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2025">
                <a:solidFill>
                  <a:srgbClr val="C00000"/>
                </a:solidFill>
                <a:latin typeface="Lato"/>
                <a:ea typeface="Lato"/>
                <a:cs typeface="Lato"/>
              </a:defRPr>
            </a:lvl2pPr>
            <a:lvl3pPr>
              <a:defRPr sz="2025">
                <a:solidFill>
                  <a:srgbClr val="C00000"/>
                </a:solidFill>
                <a:latin typeface="Lato"/>
                <a:ea typeface="Lato"/>
                <a:cs typeface="Lato"/>
              </a:defRPr>
            </a:lvl3pPr>
            <a:lvl4pPr>
              <a:defRPr sz="2025">
                <a:solidFill>
                  <a:srgbClr val="C00000"/>
                </a:solidFill>
                <a:latin typeface="Lato"/>
                <a:ea typeface="Lato"/>
                <a:cs typeface="Lato"/>
              </a:defRPr>
            </a:lvl4pPr>
            <a:lvl5pPr>
              <a:defRPr sz="2025">
                <a:solidFill>
                  <a:srgbClr val="C00000"/>
                </a:solidFill>
                <a:latin typeface="Lato"/>
                <a:ea typeface="Lato"/>
                <a:cs typeface="Lato"/>
              </a:defRPr>
            </a:lvl5pPr>
            <a:lvl6pPr>
              <a:defRPr sz="2025">
                <a:solidFill>
                  <a:srgbClr val="C00000"/>
                </a:solidFill>
                <a:latin typeface="Lato"/>
                <a:ea typeface="Lato"/>
                <a:cs typeface="Lato"/>
              </a:defRPr>
            </a:lvl6pPr>
            <a:lvl7pPr>
              <a:defRPr sz="2025">
                <a:solidFill>
                  <a:srgbClr val="C00000"/>
                </a:solidFill>
                <a:latin typeface="Lato"/>
                <a:ea typeface="Lato"/>
                <a:cs typeface="Lato"/>
              </a:defRPr>
            </a:lvl7pPr>
            <a:lvl8pPr>
              <a:defRPr sz="2025">
                <a:solidFill>
                  <a:srgbClr val="C00000"/>
                </a:solidFill>
                <a:latin typeface="Lato"/>
                <a:ea typeface="Lato"/>
                <a:cs typeface="Lato"/>
              </a:defRPr>
            </a:lvl8pPr>
            <a:lvl9pPr>
              <a:defRPr sz="2025">
                <a:solidFill>
                  <a:srgbClr val="C00000"/>
                </a:solidFill>
                <a:latin typeface="Lato"/>
                <a:ea typeface="Lato"/>
                <a:cs typeface="Lato"/>
              </a:defRPr>
            </a:lvl9pPr>
          </a:lstStyle>
          <a:p>
            <a:pPr>
              <a:defRPr sz="2025">
                <a:solidFill>
                  <a:srgbClr val="C00000"/>
                </a:solidFill>
                <a:latin typeface="Lato"/>
                <a:ea typeface="Lato"/>
                <a:cs typeface="Lato"/>
              </a:defRPr>
            </a:pPr>
            <a:r>
              <a:rPr lang="en-US" sz="2025" b="0">
                <a:solidFill>
                  <a:srgbClr val="C00000"/>
                </a:solidFill>
                <a:latin typeface="Lato"/>
                <a:ea typeface="Lato"/>
                <a:cs typeface="Lato"/>
              </a:rPr>
              <a:t>SV: Hoàng Cao Minh</a:t>
            </a:r>
            <a:endParaRPr sz="2025" b="0">
              <a:solidFill>
                <a:srgbClr val="C00000"/>
              </a:solidFill>
              <a:latin typeface="Lato"/>
              <a:ea typeface="Lato"/>
              <a:cs typeface="Lato"/>
            </a:endParaRP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E2598689-54C9-18A7-3A19-ED76AA08988F}" type="slidenum">
              <a:rPr sz="1050">
                <a:solidFill>
                  <a:srgbClr val="C00000"/>
                </a:solidFill>
                <a:latin typeface="Lato"/>
                <a:ea typeface="Lato"/>
                <a:cs typeface="Lato"/>
              </a:rPr>
              <a:t>2</a:t>
            </a:fld>
            <a:endParaRPr/>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sz="2700" b="1">
                <a:solidFill>
                  <a:srgbClr val="FFFFFF"/>
                </a:solidFill>
                <a:latin typeface="Lato"/>
                <a:ea typeface="Lato"/>
                <a:cs typeface="Lato"/>
              </a:rPr>
              <a:t>Bối cảnh bài toán EE RF</a:t>
            </a:r>
            <a:endParaRPr/>
          </a:p>
        </p:txBody>
      </p:sp>
      <p:sp>
        <p:nvSpPr>
          <p:cNvPr id="6" name="metric-label">
            <a:extLst>
              <a:ext uri="{FF2B5EF4-FFF2-40B4-BE49-F238E27FC236}">
                <a16:creationId xmlns:a16="http://schemas.microsoft.com/office/drawing/2014/main" id="{322DAD2B-171F-45CB-9EF6-726D69EEDFBE}"/>
              </a:ext>
            </a:extLst>
          </p:cNvPr>
          <p:cNvSpPr>
            <a:spLocks noGrp="1"/>
          </p:cNvSpPr>
          <p:nvPr/>
        </p:nvSpPr>
        <p:spPr>
          <a:xfrm>
            <a:off x="448339" y="943972"/>
            <a:ext cx="8077200" cy="304800"/>
          </a:xfrm>
          <a:prstGeom prst="rect">
            <a:avLst/>
          </a:prstGeom>
          <a:noFill/>
          <a:ln w="0">
            <a:noFill/>
          </a:ln>
        </p:spPr>
        <p:txBody>
          <a:bodyPr wrap="square" lIns="0" tIns="0" rIns="0" bIns="0" anchor="t">
            <a:noAutofit/>
          </a:bodyPr>
          <a:lstStyle>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a:pPr algn="l">
              <a:defRPr sz="1575" b="1">
                <a:solidFill>
                  <a:srgbClr val="C00000"/>
                </a:solidFill>
                <a:latin typeface="Lato"/>
                <a:ea typeface="Lato"/>
                <a:cs typeface="Lato"/>
              </a:defRPr>
            </a:pPr>
            <a:r>
              <a:rPr sz="1575" b="1">
                <a:solidFill>
                  <a:srgbClr val="C00000"/>
                </a:solidFill>
                <a:latin typeface="Lato"/>
                <a:ea typeface="Lato"/>
                <a:cs typeface="Lato"/>
              </a:rPr>
              <a:t>TỔNG DỮ LIỆU VÀ NĂNG LƯỢNG RF</a:t>
            </a:r>
          </a:p>
        </p:txBody>
      </p:sp>
      <p:pic>
        <p:nvPicPr>
          <p:cNvPr id="7" name="Picture 6">
            <a:extLst>
              <a:ext uri="{FF2B5EF4-FFF2-40B4-BE49-F238E27FC236}">
                <a16:creationId xmlns:a16="http://schemas.microsoft.com/office/drawing/2014/main" id="{B1E168E5-F6F1-4257-A6BA-234A77848559}"/>
              </a:ext>
            </a:extLst>
          </p:cNvPr>
          <p:cNvPicPr>
            <a:picLocks noChangeAspect="1"/>
          </p:cNvPicPr>
          <p:nvPr/>
        </p:nvPicPr>
        <p:blipFill>
          <a:blip r:embed="rId3"/>
          <a:stretch/>
        </p:blipFill>
        <p:spPr>
          <a:xfrm>
            <a:off x="448339" y="1190625"/>
            <a:ext cx="4979789" cy="666750"/>
          </a:xfrm>
          <a:prstGeom prst="rect">
            <a:avLst/>
          </a:prstGeom>
        </p:spPr>
      </p:pic>
      <p:pic>
        <p:nvPicPr>
          <p:cNvPr id="8" name="Picture 7">
            <a:extLst>
              <a:ext uri="{FF2B5EF4-FFF2-40B4-BE49-F238E27FC236}">
                <a16:creationId xmlns:a16="http://schemas.microsoft.com/office/drawing/2014/main" id="{9B490A67-B360-430C-92D6-D6989828FF8C}"/>
              </a:ext>
            </a:extLst>
          </p:cNvPr>
          <p:cNvPicPr>
            <a:picLocks noChangeAspect="1"/>
          </p:cNvPicPr>
          <p:nvPr/>
        </p:nvPicPr>
        <p:blipFill>
          <a:blip r:embed="rId4"/>
          <a:stretch/>
        </p:blipFill>
        <p:spPr>
          <a:xfrm>
            <a:off x="466792" y="3659192"/>
            <a:ext cx="3814368" cy="1047750"/>
          </a:xfrm>
          <a:prstGeom prst="rect">
            <a:avLst/>
          </a:prstGeom>
        </p:spPr>
      </p:pic>
      <p:pic>
        <p:nvPicPr>
          <p:cNvPr id="12" name="Picture 11">
            <a:extLst>
              <a:ext uri="{FF2B5EF4-FFF2-40B4-BE49-F238E27FC236}">
                <a16:creationId xmlns:a16="http://schemas.microsoft.com/office/drawing/2014/main" id="{66DD63A1-CDF0-4F11-271D-A431EE8DEF0D}"/>
              </a:ext>
            </a:extLst>
          </p:cNvPr>
          <p:cNvPicPr>
            <a:picLocks noChangeAspect="1"/>
          </p:cNvPicPr>
          <p:nvPr/>
        </p:nvPicPr>
        <p:blipFill>
          <a:blip r:embed="rId5"/>
          <a:stretch/>
        </p:blipFill>
        <p:spPr>
          <a:xfrm>
            <a:off x="448339" y="2104028"/>
            <a:ext cx="3468832" cy="476250"/>
          </a:xfrm>
          <a:prstGeom prst="rect">
            <a:avLst/>
          </a:prstGeom>
        </p:spPr>
      </p:pic>
      <p:sp>
        <p:nvSpPr>
          <p:cNvPr id="15" name="TextBox 14">
            <a:extLst>
              <a:ext uri="{FF2B5EF4-FFF2-40B4-BE49-F238E27FC236}">
                <a16:creationId xmlns:a16="http://schemas.microsoft.com/office/drawing/2014/main" id="{695E3A4F-BF23-F924-E3FA-8DFE158AF298}"/>
              </a:ext>
            </a:extLst>
          </p:cNvPr>
          <p:cNvSpPr txBox="1"/>
          <p:nvPr/>
        </p:nvSpPr>
        <p:spPr>
          <a:xfrm>
            <a:off x="345598" y="4990698"/>
            <a:ext cx="7602787" cy="923330"/>
          </a:xfrm>
          <a:prstGeom prst="rect">
            <a:avLst/>
          </a:prstGeom>
          <a:noFill/>
        </p:spPr>
        <p:txBody>
          <a:bodyPr wrap="none" rtlCol="0">
            <a:spAutoFit/>
          </a:bodyPr>
          <a:lstStyle/>
          <a:p>
            <a:r>
              <a:rPr lang="en-VN"/>
              <a:t>Nhận xét: </a:t>
            </a:r>
          </a:p>
          <a:p>
            <a:pPr marL="285750" indent="-285750">
              <a:buFont typeface="Arial" panose="020B0604020202020204" pitchFamily="34" charset="0"/>
              <a:buChar char="•"/>
            </a:pPr>
            <a:r>
              <a:rPr lang="en-VN"/>
              <a:t>Công thức của EE hiện tại chỉ xuất hiện thành phần alpha ở trên tử số (SINR)</a:t>
            </a:r>
          </a:p>
          <a:p>
            <a:pPr marL="285750" indent="-285750">
              <a:buFont typeface="Wingdings" pitchFamily="2" charset="2"/>
              <a:buChar char="è"/>
            </a:pPr>
            <a:r>
              <a:rPr lang="en-VN"/>
              <a:t>Tối ưu EE ~ tối ưu Tử số ~ </a:t>
            </a:r>
            <a:r>
              <a:rPr lang="en-VN" b="1"/>
              <a:t>tối ưu SumRate</a:t>
            </a:r>
            <a:endParaRPr lang="en-VN"/>
          </a:p>
        </p:txBody>
      </p:sp>
      <p:pic>
        <p:nvPicPr>
          <p:cNvPr id="16" name="Picture 15">
            <a:extLst>
              <a:ext uri="{FF2B5EF4-FFF2-40B4-BE49-F238E27FC236}">
                <a16:creationId xmlns:a16="http://schemas.microsoft.com/office/drawing/2014/main" id="{0BCF497D-2EE6-C8CC-A1CC-C06F27D5A942}"/>
              </a:ext>
            </a:extLst>
          </p:cNvPr>
          <p:cNvPicPr>
            <a:picLocks noChangeAspect="1"/>
          </p:cNvPicPr>
          <p:nvPr/>
        </p:nvPicPr>
        <p:blipFill>
          <a:blip r:embed="rId6"/>
          <a:stretch/>
        </p:blipFill>
        <p:spPr>
          <a:xfrm>
            <a:off x="466792" y="2871552"/>
            <a:ext cx="4357947" cy="428625"/>
          </a:xfrm>
          <a:prstGeom prst="rect">
            <a:avLst/>
          </a:prstGeom>
        </p:spPr>
      </p:pic>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202359C0-8A7A-196E-DD58-8E6569619F09}" type="slidenum">
              <a:rPr sz="1050">
                <a:solidFill>
                  <a:srgbClr val="C00000"/>
                </a:solidFill>
                <a:latin typeface="Lato"/>
                <a:ea typeface="Lato"/>
                <a:cs typeface="Lato"/>
              </a:rPr>
              <a:t>3</a:t>
            </a:fld>
            <a:endParaRPr/>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lang="en-US" sz="2700" b="1">
                <a:solidFill>
                  <a:srgbClr val="FFFFFF"/>
                </a:solidFill>
                <a:latin typeface="Lato"/>
                <a:ea typeface="Lato"/>
                <a:cs typeface="Lato"/>
              </a:rPr>
              <a:t>Phân tích toán học</a:t>
            </a:r>
            <a:endParaRPr/>
          </a:p>
        </p:txBody>
      </p:sp>
      <p:sp>
        <p:nvSpPr>
          <p:cNvPr id="14" name="noma-label">
            <a:extLst>
              <a:ext uri="{FF2B5EF4-FFF2-40B4-BE49-F238E27FC236}">
                <a16:creationId xmlns:a16="http://schemas.microsoft.com/office/drawing/2014/main" id="{F5C9C406-AE17-073C-29D9-CFD1DE564ADE}"/>
              </a:ext>
            </a:extLst>
          </p:cNvPr>
          <p:cNvSpPr>
            <a:spLocks noGrp="1"/>
          </p:cNvSpPr>
          <p:nvPr/>
        </p:nvSpPr>
        <p:spPr>
          <a:xfrm>
            <a:off x="266700" y="948896"/>
            <a:ext cx="8077200" cy="304800"/>
          </a:xfrm>
          <a:prstGeom prst="rect">
            <a:avLst/>
          </a:prstGeom>
          <a:noFill/>
          <a:ln w="0">
            <a:noFill/>
          </a:ln>
        </p:spPr>
        <p:txBody>
          <a:bodyPr wrap="square" lIns="0" tIns="0" rIns="0" bIns="0" anchor="t">
            <a:noAutofit/>
          </a:bodyPr>
          <a:lstStyle>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a:pPr algn="l">
              <a:defRPr sz="1575" b="1">
                <a:solidFill>
                  <a:srgbClr val="C00000"/>
                </a:solidFill>
                <a:latin typeface="Lato"/>
                <a:ea typeface="Lato"/>
                <a:cs typeface="Lato"/>
              </a:defRPr>
            </a:pPr>
            <a:r>
              <a:rPr sz="1575" b="1">
                <a:solidFill>
                  <a:srgbClr val="C00000"/>
                </a:solidFill>
                <a:latin typeface="Lato"/>
                <a:ea typeface="Lato"/>
                <a:cs typeface="Lato"/>
              </a:rPr>
              <a:t>THỨ TỰ KÊNH YẾU ĐẾN MẠNH TRONG MỖI SLOT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63B2546-AF13-3B64-1797-C36714AF6370}"/>
                  </a:ext>
                </a:extLst>
              </p:cNvPr>
              <p:cNvSpPr txBox="1"/>
              <p:nvPr/>
            </p:nvSpPr>
            <p:spPr>
              <a:xfrm>
                <a:off x="266700" y="1281505"/>
                <a:ext cx="8425237" cy="4592604"/>
              </a:xfrm>
              <a:prstGeom prst="rect">
                <a:avLst/>
              </a:prstGeom>
              <a:noFill/>
            </p:spPr>
            <p:txBody>
              <a:bodyPr wrap="square">
                <a:spAutoFit/>
              </a:bodyPr>
              <a:lstStyle/>
              <a:p>
                <a:r>
                  <a:rPr lang="en-VN">
                    <a:latin typeface="+mn-lt"/>
                  </a:rPr>
                  <a:t>Vơi 1 slot có N user, giữ cố định vị trí UAV và BS, độ lợi kênh truyền của các user là:</a:t>
                </a:r>
              </a:p>
              <a:p>
                <a:pPr/>
                <a14:m>
                  <m:oMathPara xmlns:m="http://schemas.openxmlformats.org/officeDocument/2006/math">
                    <m:oMath>
                      <m:r>
                        <a:rPr lang="en-VN">
                          <a:latin typeface="+mn-lt"/>
                        </a:rPr>
                        <m:t>0</m:t>
                      </m:r>
                      <m:r>
                        <a:rPr lang="en-VN" i="0">
                          <a:latin typeface="+mn-lt"/>
                        </a:rPr>
                        <m:t>≤</m:t>
                      </m:r>
                      <m:sSub>
                        <m:sSubPr>
                          <m:ctrlPr>
                            <a:rPr lang="en-VN" i="1">
                              <a:latin typeface="+mn-lt"/>
                            </a:rPr>
                          </m:ctrlPr>
                        </m:sSubPr>
                        <m:e>
                          <m:r>
                            <a:rPr lang="en-VN" i="1">
                              <a:latin typeface="+mn-lt"/>
                            </a:rPr>
                            <m:t>𝑔</m:t>
                          </m:r>
                        </m:e>
                        <m:sub>
                          <m:r>
                            <a:rPr lang="en-VN" i="0">
                              <a:latin typeface="+mn-lt"/>
                            </a:rPr>
                            <m:t>1</m:t>
                          </m:r>
                        </m:sub>
                      </m:sSub>
                      <m:r>
                        <a:rPr lang="en-VN" i="0">
                          <a:latin typeface="+mn-lt"/>
                        </a:rPr>
                        <m:t>≤</m:t>
                      </m:r>
                      <m:sSub>
                        <m:sSubPr>
                          <m:ctrlPr>
                            <a:rPr lang="en-VN" i="1">
                              <a:latin typeface="+mn-lt"/>
                            </a:rPr>
                          </m:ctrlPr>
                        </m:sSubPr>
                        <m:e>
                          <m:r>
                            <a:rPr lang="en-VN" i="1">
                              <a:latin typeface="+mn-lt"/>
                            </a:rPr>
                            <m:t>𝑔</m:t>
                          </m:r>
                        </m:e>
                        <m:sub>
                          <m:r>
                            <a:rPr lang="en-VN" i="0">
                              <a:latin typeface="+mn-lt"/>
                            </a:rPr>
                            <m:t>2</m:t>
                          </m:r>
                        </m:sub>
                      </m:sSub>
                      <m:r>
                        <a:rPr lang="en-VN" i="0">
                          <a:latin typeface="+mn-lt"/>
                        </a:rPr>
                        <m:t>≤⋯≤</m:t>
                      </m:r>
                      <m:sSub>
                        <m:sSubPr>
                          <m:ctrlPr>
                            <a:rPr lang="en-VN" i="1">
                              <a:latin typeface="+mn-lt"/>
                            </a:rPr>
                          </m:ctrlPr>
                        </m:sSubPr>
                        <m:e>
                          <m:r>
                            <a:rPr lang="en-VN" i="1">
                              <a:latin typeface="+mn-lt"/>
                            </a:rPr>
                            <m:t>𝑔</m:t>
                          </m:r>
                        </m:e>
                        <m:sub>
                          <m:r>
                            <a:rPr lang="en-VN" i="1">
                              <a:latin typeface="+mn-lt"/>
                            </a:rPr>
                            <m:t>𝑁</m:t>
                          </m:r>
                        </m:sub>
                      </m:sSub>
                      <m:r>
                        <a:rPr lang="en-VN" i="0">
                          <a:latin typeface="+mn-lt"/>
                        </a:rPr>
                        <m:t>,  </m:t>
                      </m:r>
                      <m:sSub>
                        <m:sSubPr>
                          <m:ctrlPr>
                            <a:rPr lang="en-VN" i="1">
                              <a:latin typeface="+mn-lt"/>
                            </a:rPr>
                          </m:ctrlPr>
                        </m:sSubPr>
                        <m:e>
                          <m:r>
                            <a:rPr lang="en-VN" i="1">
                              <a:latin typeface="+mn-lt"/>
                            </a:rPr>
                            <m:t>𝑔</m:t>
                          </m:r>
                        </m:e>
                        <m:sub>
                          <m:r>
                            <a:rPr lang="en-VN" i="1">
                              <a:latin typeface="+mn-lt"/>
                            </a:rPr>
                            <m:t>𝑖</m:t>
                          </m:r>
                        </m:sub>
                      </m:sSub>
                      <m:r>
                        <a:rPr lang="en-VN" i="0">
                          <a:latin typeface="+mn-lt"/>
                        </a:rPr>
                        <m:t>=</m:t>
                      </m:r>
                      <m:sSup>
                        <m:sSupPr>
                          <m:ctrlPr>
                            <a:rPr lang="en-VN" i="1">
                              <a:latin typeface="Cambria Math" panose="02040503050406030204" pitchFamily="18" charset="0"/>
                            </a:rPr>
                          </m:ctrlPr>
                        </m:sSupPr>
                        <m:e>
                          <m:d>
                            <m:dPr>
                              <m:begChr m:val="|"/>
                              <m:endChr m:val="|"/>
                              <m:ctrlPr>
                                <a:rPr lang="en-VN" i="1">
                                  <a:latin typeface="Cambria Math" panose="02040503050406030204" pitchFamily="18" charset="0"/>
                                </a:rPr>
                              </m:ctrlPr>
                            </m:dPr>
                            <m:e>
                              <m:sSub>
                                <m:sSubPr>
                                  <m:ctrlPr>
                                    <a:rPr lang="en-VN" i="1">
                                      <a:latin typeface="+mn-lt"/>
                                    </a:rPr>
                                  </m:ctrlPr>
                                </m:sSubPr>
                                <m:e>
                                  <m:r>
                                    <a:rPr lang="en-VN" i="1">
                                      <a:latin typeface="+mn-lt"/>
                                    </a:rPr>
                                    <m:t>ℎ</m:t>
                                  </m:r>
                                </m:e>
                                <m:sub>
                                  <m:r>
                                    <a:rPr lang="en-VN" i="1">
                                      <a:latin typeface="+mn-lt"/>
                                    </a:rPr>
                                    <m:t>𝑖</m:t>
                                  </m:r>
                                </m:sub>
                              </m:sSub>
                            </m:e>
                          </m:d>
                        </m:e>
                        <m:sup>
                          <m:r>
                            <a:rPr lang="en-VN" i="0">
                              <a:latin typeface="+mn-lt"/>
                            </a:rPr>
                            <m:t>2.</m:t>
                          </m:r>
                        </m:sup>
                      </m:sSup>
                    </m:oMath>
                  </m:oMathPara>
                </a14:m>
                <a:endParaRPr lang="en-VN"/>
              </a:p>
              <a:p>
                <a:endParaRPr lang="en-VN"/>
              </a:p>
              <a:p>
                <a:r>
                  <a:rPr lang="en-VN"/>
                  <a:t>Khi này hệ số alpha của từng user sẽ là:</a:t>
                </a:r>
              </a:p>
              <a:p>
                <a:r>
                  <a:rPr lang="en-VN"/>
                  <a:t>					</a:t>
                </a:r>
                <a14:m>
                  <m:oMath xmlns:m="http://schemas.openxmlformats.org/officeDocument/2006/math">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a:rPr lang="en-VN">
                            <a:latin typeface="Cambria Math" panose="02040503050406030204" pitchFamily="18" charset="0"/>
                          </a:rPr>
                          <m:t>1</m:t>
                        </m:r>
                      </m:sub>
                    </m:sSub>
                    <m:r>
                      <a:rPr lang="en-VN" i="1">
                        <a:latin typeface="Cambria Math" panose="02040503050406030204" pitchFamily="18" charset="0"/>
                        <a:ea typeface="Cambria Math" panose="02040503050406030204" pitchFamily="18" charset="0"/>
                      </a:rPr>
                      <m:t>≥</m:t>
                    </m:r>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a:rPr lang="en-VN">
                            <a:latin typeface="Cambria Math" panose="02040503050406030204" pitchFamily="18" charset="0"/>
                          </a:rPr>
                          <m:t>2</m:t>
                        </m:r>
                      </m:sub>
                    </m:sSub>
                    <m:r>
                      <a:rPr lang="en-VN" i="1">
                        <a:latin typeface="Cambria Math" panose="02040503050406030204" pitchFamily="18" charset="0"/>
                        <a:ea typeface="Cambria Math" panose="02040503050406030204" pitchFamily="18" charset="0"/>
                      </a:rPr>
                      <m:t>≥</m:t>
                    </m:r>
                    <m:r>
                      <a:rPr lang="en-VN" b="0" i="1">
                        <a:latin typeface="Cambria Math" panose="02040503050406030204" pitchFamily="18" charset="0"/>
                        <a:ea typeface="Cambria Math" panose="02040503050406030204" pitchFamily="18" charset="0"/>
                      </a:rPr>
                      <m:t>…≥</m:t>
                    </m:r>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a:rPr lang="en-VN" i="1">
                            <a:latin typeface="Cambria Math" panose="02040503050406030204" pitchFamily="18" charset="0"/>
                          </a:rPr>
                          <m:t>𝑁</m:t>
                        </m:r>
                      </m:sub>
                    </m:sSub>
                    <m:r>
                      <a:rPr lang="en-VN" i="1">
                        <a:latin typeface="Cambria Math" panose="02040503050406030204" pitchFamily="18" charset="0"/>
                        <a:ea typeface="Cambria Math" panose="02040503050406030204" pitchFamily="18" charset="0"/>
                      </a:rPr>
                      <m:t>≥</m:t>
                    </m:r>
                    <m:r>
                      <a:rPr lang="en-VN" b="0" i="0">
                        <a:latin typeface="Cambria Math" panose="02040503050406030204" pitchFamily="18" charset="0"/>
                        <a:ea typeface="Cambria Math" panose="02040503050406030204" pitchFamily="18" charset="0"/>
                      </a:rPr>
                      <m:t>0 (1)</m:t>
                    </m:r>
                  </m:oMath>
                </a14:m>
                <a:endParaRPr lang="en-VN"/>
              </a:p>
              <a:p>
                <a:r>
                  <a:rPr lang="en-VN"/>
                  <a:t>Với N=5, </a:t>
                </a:r>
                <a14:m>
                  <m:oMath xmlns:m="http://schemas.openxmlformats.org/officeDocument/2006/math">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a:rPr lang="en-VN" b="0" i="1">
                            <a:latin typeface="Cambria Math" panose="02040503050406030204" pitchFamily="18" charset="0"/>
                          </a:rPr>
                          <m:t>5</m:t>
                        </m:r>
                      </m:sub>
                    </m:sSub>
                  </m:oMath>
                </a14:m>
                <a:r>
                  <a:rPr lang="en-VN"/>
                  <a:t> nhỏ nhất →    </a:t>
                </a:r>
                <a14:m>
                  <m:oMath xmlns:m="http://schemas.openxmlformats.org/officeDocument/2006/math">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a:rPr lang="en-VN" b="0" i="1">
                            <a:latin typeface="Cambria Math" panose="02040503050406030204" pitchFamily="18" charset="0"/>
                            <a:ea typeface="Cambria Math" panose="02040503050406030204" pitchFamily="18" charset="0"/>
                          </a:rPr>
                          <m:t>𝑖</m:t>
                        </m:r>
                      </m:sub>
                    </m:sSub>
                    <m:r>
                      <a:rPr lang="en-VN" i="1">
                        <a:latin typeface="Cambria Math" panose="02040503050406030204" pitchFamily="18" charset="0"/>
                        <a:ea typeface="Cambria Math" panose="02040503050406030204" pitchFamily="18" charset="0"/>
                      </a:rPr>
                      <m:t>≥</m:t>
                    </m:r>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a:rPr lang="en-VN" i="1">
                            <a:latin typeface="Cambria Math" panose="02040503050406030204" pitchFamily="18" charset="0"/>
                          </a:rPr>
                          <m:t>5</m:t>
                        </m:r>
                      </m:sub>
                    </m:sSub>
                    <m:r>
                      <a:rPr lang="en-VN" b="0" i="1">
                        <a:latin typeface="Cambria Math" panose="02040503050406030204" pitchFamily="18" charset="0"/>
                      </a:rPr>
                      <m:t>, </m:t>
                    </m:r>
                    <m:r>
                      <a:rPr lang="en-VN" b="0" i="1">
                        <a:latin typeface="Cambria Math" panose="02040503050406030204" pitchFamily="18" charset="0"/>
                      </a:rPr>
                      <m:t>𝑖</m:t>
                    </m:r>
                    <m:r>
                      <a:rPr lang="en-VN" b="0" i="1">
                        <a:latin typeface="Cambria Math" panose="02040503050406030204" pitchFamily="18" charset="0"/>
                      </a:rPr>
                      <m:t>=1..5</m:t>
                    </m:r>
                  </m:oMath>
                </a14:m>
                <a:r>
                  <a:rPr lang="en-VN"/>
                  <a:t> </a:t>
                </a:r>
                <a:r>
                  <a:rPr lang="en-VN">
                    <a:latin typeface="Cambria Math" panose="02040503050406030204" pitchFamily="18" charset="0"/>
                  </a:rPr>
                  <a:t> do đó </a:t>
                </a:r>
                <a14:m>
                  <m:oMath xmlns:m="http://schemas.openxmlformats.org/officeDocument/2006/math">
                    <m:r>
                      <a:rPr lang="en-VN">
                        <a:latin typeface="Cambria Math" panose="02040503050406030204" pitchFamily="18" charset="0"/>
                      </a:rPr>
                      <m:t>1</m:t>
                    </m:r>
                    <m:r>
                      <a:rPr lang="en-VN" i="0">
                        <a:latin typeface="Cambria Math" panose="02040503050406030204" pitchFamily="18" charset="0"/>
                      </a:rPr>
                      <m:t>=</m:t>
                    </m:r>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𝑖</m:t>
                        </m:r>
                        <m:r>
                          <a:rPr lang="en-VN" i="0">
                            <a:latin typeface="Cambria Math" panose="02040503050406030204" pitchFamily="18" charset="0"/>
                          </a:rPr>
                          <m:t>=1</m:t>
                        </m:r>
                      </m:sub>
                      <m:sup>
                        <m:r>
                          <a:rPr lang="en-VN" i="0">
                            <a:latin typeface="Cambria Math" panose="02040503050406030204" pitchFamily="18" charset="0"/>
                          </a:rPr>
                          <m:t>5</m:t>
                        </m:r>
                      </m:sup>
                      <m:e>
                        <m:sSub>
                          <m:sSubPr>
                            <m:ctrlPr>
                              <a:rPr lang="en-VN" i="1">
                                <a:latin typeface="Cambria Math" panose="02040503050406030204" pitchFamily="18" charset="0"/>
                              </a:rPr>
                            </m:ctrlPr>
                          </m:sSubPr>
                          <m:e>
                            <m:r>
                              <a:rPr lang="en-VN" i="1">
                                <a:latin typeface="Cambria Math" panose="02040503050406030204" pitchFamily="18" charset="0"/>
                              </a:rPr>
                              <m:t>𝛼</m:t>
                            </m:r>
                          </m:e>
                          <m:sub>
                            <m:r>
                              <a:rPr lang="en-VN" i="1">
                                <a:latin typeface="Cambria Math" panose="02040503050406030204" pitchFamily="18" charset="0"/>
                              </a:rPr>
                              <m:t>𝑖</m:t>
                            </m:r>
                          </m:sub>
                        </m:sSub>
                      </m:e>
                    </m:nary>
                    <m:r>
                      <a:rPr lang="en-VN" i="0">
                        <a:latin typeface="Cambria Math" panose="02040503050406030204" pitchFamily="18" charset="0"/>
                      </a:rPr>
                      <m:t>≥5</m:t>
                    </m:r>
                    <m:sSub>
                      <m:sSubPr>
                        <m:ctrlPr>
                          <a:rPr lang="en-VN" i="1">
                            <a:latin typeface="Cambria Math" panose="02040503050406030204" pitchFamily="18" charset="0"/>
                          </a:rPr>
                        </m:ctrlPr>
                      </m:sSubPr>
                      <m:e>
                        <m:r>
                          <a:rPr lang="en-VN" i="1">
                            <a:latin typeface="Cambria Math" panose="02040503050406030204" pitchFamily="18" charset="0"/>
                          </a:rPr>
                          <m:t>𝛼</m:t>
                        </m:r>
                      </m:e>
                      <m:sub>
                        <m:r>
                          <a:rPr lang="en-VN" i="0">
                            <a:latin typeface="Cambria Math" panose="02040503050406030204" pitchFamily="18" charset="0"/>
                          </a:rPr>
                          <m:t>5.</m:t>
                        </m:r>
                      </m:sub>
                    </m:sSub>
                  </m:oMath>
                </a14:m>
                <a:r>
                  <a:rPr lang="en-VN"/>
                  <a:t> hay </a:t>
                </a:r>
                <a14:m>
                  <m:oMath xmlns:m="http://schemas.openxmlformats.org/officeDocument/2006/math">
                    <m:sSub>
                      <m:sSubPr>
                        <m:ctrlPr>
                          <a:rPr lang="en-VN" i="1">
                            <a:latin typeface="Cambria Math" panose="02040503050406030204" pitchFamily="18" charset="0"/>
                          </a:rPr>
                        </m:ctrlPr>
                      </m:sSubPr>
                      <m:e>
                        <m:r>
                          <a:rPr lang="en-VN" i="1">
                            <a:latin typeface="Cambria Math" panose="02040503050406030204" pitchFamily="18" charset="0"/>
                          </a:rPr>
                          <m:t>𝛼</m:t>
                        </m:r>
                      </m:e>
                      <m:sub>
                        <m:r>
                          <a:rPr lang="en-VN">
                            <a:latin typeface="Cambria Math" panose="02040503050406030204" pitchFamily="18" charset="0"/>
                          </a:rPr>
                          <m:t>5.</m:t>
                        </m:r>
                      </m:sub>
                    </m:sSub>
                    <m:r>
                      <a:rPr lang="en-VN" i="1">
                        <a:latin typeface="Cambria Math" panose="02040503050406030204" pitchFamily="18" charset="0"/>
                        <a:ea typeface="Cambria Math" panose="02040503050406030204" pitchFamily="18" charset="0"/>
                      </a:rPr>
                      <m:t>≤</m:t>
                    </m:r>
                    <m:r>
                      <a:rPr lang="en-VN" b="0" i="1">
                        <a:latin typeface="Cambria Math" panose="02040503050406030204" pitchFamily="18" charset="0"/>
                        <a:ea typeface="Cambria Math" panose="02040503050406030204" pitchFamily="18" charset="0"/>
                      </a:rPr>
                      <m:t>0.2</m:t>
                    </m:r>
                  </m:oMath>
                </a14:m>
                <a:endParaRPr lang="en-VN"/>
              </a:p>
              <a:p>
                <a:endParaRPr lang="en-VN"/>
              </a:p>
              <a:p>
                <a:r>
                  <a:rPr lang="en-VN"/>
                  <a:t>Ta đặt 1 giới hạn công suất cho từng nhóm user, nhóm này có </a:t>
                </a:r>
                <a14:m>
                  <m:oMath xmlns:m="http://schemas.openxmlformats.org/officeDocument/2006/math">
                    <m:r>
                      <a:rPr lang="en-VN" i="1">
                        <a:latin typeface="Cambria Math" panose="02040503050406030204" pitchFamily="18" charset="0"/>
                      </a:rPr>
                      <m:t>𝑁</m:t>
                    </m:r>
                    <m:r>
                      <a:rPr lang="en-VN" i="1">
                        <a:latin typeface="Cambria Math" panose="02040503050406030204" pitchFamily="18" charset="0"/>
                      </a:rPr>
                      <m:t>−</m:t>
                    </m:r>
                    <m:r>
                      <a:rPr lang="en-VN" i="1">
                        <a:latin typeface="Cambria Math" panose="02040503050406030204" pitchFamily="18" charset="0"/>
                      </a:rPr>
                      <m:t>𝑖</m:t>
                    </m:r>
                    <m:r>
                      <a:rPr lang="en-VN" i="1">
                        <a:latin typeface="Cambria Math" panose="02040503050406030204" pitchFamily="18" charset="0"/>
                      </a:rPr>
                      <m:t>+1</m:t>
                    </m:r>
                  </m:oMath>
                </a14:m>
                <a:r>
                  <a:rPr lang="en-VN"/>
                  <a:t> user.</a:t>
                </a:r>
                <a:endParaRPr lang="en-VN">
                  <a:latin typeface="Cambria Math" panose="02040503050406030204" pitchFamily="18" charset="0"/>
                </a:endParaRPr>
              </a:p>
              <a:p>
                <a:pPr/>
                <a14:m>
                  <m:oMathPara xmlns:m="http://schemas.openxmlformats.org/officeDocument/2006/math">
                    <m:oMath>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r>
                        <a:rPr lang="en-VN" i="0">
                          <a:latin typeface="Cambria Math" panose="02040503050406030204" pitchFamily="18" charset="0"/>
                        </a:rPr>
                        <m:t>=</m:t>
                      </m:r>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𝑘</m:t>
                          </m:r>
                          <m:r>
                            <a:rPr lang="en-VN" i="0">
                              <a:latin typeface="Cambria Math" panose="02040503050406030204" pitchFamily="18" charset="0"/>
                            </a:rPr>
                            <m:t>=</m:t>
                          </m:r>
                          <m:r>
                            <a:rPr lang="en-VN" i="1">
                              <a:latin typeface="Cambria Math" panose="02040503050406030204" pitchFamily="18" charset="0"/>
                            </a:rPr>
                            <m:t>𝑖</m:t>
                          </m:r>
                        </m:sub>
                        <m:sup>
                          <m:r>
                            <a:rPr lang="en-VN" i="1">
                              <a:latin typeface="Cambria Math" panose="02040503050406030204" pitchFamily="18" charset="0"/>
                            </a:rPr>
                            <m:t>𝑁</m:t>
                          </m:r>
                        </m:sup>
                        <m:e>
                          <m:sSub>
                            <m:sSubPr>
                              <m:ctrlPr>
                                <a:rPr lang="en-VN" i="1">
                                  <a:latin typeface="Cambria Math" panose="02040503050406030204" pitchFamily="18" charset="0"/>
                                </a:rPr>
                              </m:ctrlPr>
                            </m:sSubPr>
                            <m:e>
                              <m:r>
                                <a:rPr lang="en-VN" i="1">
                                  <a:latin typeface="Cambria Math" panose="02040503050406030204" pitchFamily="18" charset="0"/>
                                </a:rPr>
                                <m:t>𝛼</m:t>
                              </m:r>
                            </m:e>
                            <m:sub>
                              <m:r>
                                <a:rPr lang="en-VN" i="1">
                                  <a:latin typeface="Cambria Math" panose="02040503050406030204" pitchFamily="18" charset="0"/>
                                </a:rPr>
                                <m:t>𝑘</m:t>
                              </m:r>
                            </m:sub>
                          </m:sSub>
                        </m:e>
                      </m:nary>
                      <m:r>
                        <a:rPr lang="en-VN" i="0">
                          <a:latin typeface="Cambria Math" panose="02040503050406030204" pitchFamily="18" charset="0"/>
                        </a:rPr>
                        <m:t>,  </m:t>
                      </m:r>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0">
                              <a:latin typeface="Cambria Math" panose="02040503050406030204" pitchFamily="18" charset="0"/>
                            </a:rPr>
                            <m:t>1</m:t>
                          </m:r>
                        </m:sub>
                      </m:sSub>
                      <m:r>
                        <a:rPr lang="en-VN" i="0">
                          <a:latin typeface="Cambria Math" panose="02040503050406030204" pitchFamily="18" charset="0"/>
                        </a:rPr>
                        <m:t>=1,  </m:t>
                      </m:r>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𝑁</m:t>
                          </m:r>
                          <m:r>
                            <a:rPr lang="en-VN" i="0">
                              <a:latin typeface="Cambria Math" panose="02040503050406030204" pitchFamily="18" charset="0"/>
                            </a:rPr>
                            <m:t>+1</m:t>
                          </m:r>
                        </m:sub>
                      </m:sSub>
                      <m:r>
                        <a:rPr lang="en-VN" i="0">
                          <a:latin typeface="Cambria Math" panose="02040503050406030204" pitchFamily="18" charset="0"/>
                        </a:rPr>
                        <m:t>=0.</m:t>
                      </m:r>
                    </m:oMath>
                  </m:oMathPara>
                </a14:m>
                <a:endParaRPr lang="en-VN"/>
              </a:p>
              <a:p>
                <a:r>
                  <a:rPr lang="en-VN"/>
                  <a:t>Dựa vào (1) ta có </a:t>
                </a:r>
                <a14:m>
                  <m:oMath xmlns:m="http://schemas.openxmlformats.org/officeDocument/2006/math">
                    <m:sSub>
                      <m:sSubPr>
                        <m:ctrlPr>
                          <a:rPr lang="en-VN" b="0" i="1">
                            <a:latin typeface="Cambria Math" panose="02040503050406030204" pitchFamily="18" charset="0"/>
                            <a:ea typeface="Cambria Math" panose="02040503050406030204" pitchFamily="18" charset="0"/>
                          </a:rPr>
                        </m:ctrlPr>
                      </m:sSubPr>
                      <m:e>
                        <m:r>
                          <a:rPr lang="en-VN" b="0" i="1">
                            <a:latin typeface="Cambria Math" panose="02040503050406030204" pitchFamily="18" charset="0"/>
                            <a:ea typeface="Cambria Math" panose="02040503050406030204" pitchFamily="18" charset="0"/>
                          </a:rPr>
                          <m:t>𝑗</m:t>
                        </m:r>
                        <m:r>
                          <a:rPr lang="en-VN" b="0" i="1">
                            <a:latin typeface="Cambria Math" panose="02040503050406030204" pitchFamily="18" charset="0"/>
                            <a:ea typeface="Cambria Math" panose="02040503050406030204" pitchFamily="18" charset="0"/>
                          </a:rPr>
                          <m:t>&lt;</m:t>
                        </m:r>
                        <m:r>
                          <a:rPr lang="en-VN" b="0" i="1">
                            <a:latin typeface="Cambria Math" panose="02040503050406030204" pitchFamily="18" charset="0"/>
                            <a:ea typeface="Cambria Math" panose="02040503050406030204" pitchFamily="18" charset="0"/>
                          </a:rPr>
                          <m:t>𝑖</m:t>
                        </m:r>
                        <m:r>
                          <a:rPr lang="en-VN" b="0" i="1">
                            <a:latin typeface="Cambria Math" panose="02040503050406030204" pitchFamily="18" charset="0"/>
                            <a:ea typeface="Cambria Math" panose="02040503050406030204" pitchFamily="18" charset="0"/>
                          </a:rPr>
                          <m:t> →</m:t>
                        </m:r>
                        <m:r>
                          <a:rPr lang="en-VN" i="1">
                            <a:latin typeface="Cambria Math" panose="02040503050406030204" pitchFamily="18" charset="0"/>
                            <a:ea typeface="Cambria Math" panose="02040503050406030204" pitchFamily="18" charset="0"/>
                          </a:rPr>
                          <m:t>𝛼</m:t>
                        </m:r>
                      </m:e>
                      <m:sub>
                        <m:r>
                          <m:rPr>
                            <m:sty m:val="p"/>
                          </m:rPr>
                          <a:rPr lang="en-VN" b="0" i="0">
                            <a:latin typeface="Cambria Math" panose="02040503050406030204" pitchFamily="18" charset="0"/>
                            <a:ea typeface="Cambria Math" panose="02040503050406030204" pitchFamily="18" charset="0"/>
                          </a:rPr>
                          <m:t>j</m:t>
                        </m:r>
                      </m:sub>
                    </m:sSub>
                    <m:r>
                      <a:rPr lang="en-VN" i="1">
                        <a:latin typeface="Cambria Math" panose="02040503050406030204" pitchFamily="18" charset="0"/>
                        <a:ea typeface="Cambria Math" panose="02040503050406030204" pitchFamily="18" charset="0"/>
                      </a:rPr>
                      <m:t>≥</m:t>
                    </m:r>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m:rPr>
                            <m:sty m:val="p"/>
                          </m:rPr>
                          <a:rPr lang="en-VN" b="0" i="0">
                            <a:latin typeface="Cambria Math" panose="02040503050406030204" pitchFamily="18" charset="0"/>
                            <a:ea typeface="Cambria Math" panose="02040503050406030204" pitchFamily="18" charset="0"/>
                          </a:rPr>
                          <m:t>i</m:t>
                        </m:r>
                      </m:sub>
                    </m:sSub>
                    <m:r>
                      <a:rPr lang="en-VN" b="0" i="1">
                        <a:latin typeface="Cambria Math" panose="02040503050406030204" pitchFamily="18" charset="0"/>
                      </a:rPr>
                      <m:t> →</m:t>
                    </m:r>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m:rPr>
                            <m:sty m:val="p"/>
                          </m:rPr>
                          <a:rPr lang="en-VN" b="0" i="0">
                            <a:latin typeface="Cambria Math" panose="02040503050406030204" pitchFamily="18" charset="0"/>
                            <a:ea typeface="Cambria Math" panose="02040503050406030204" pitchFamily="18" charset="0"/>
                          </a:rPr>
                          <m:t>j</m:t>
                        </m:r>
                      </m:sub>
                    </m:sSub>
                    <m:r>
                      <a:rPr lang="en-VN" i="1">
                        <a:latin typeface="Cambria Math" panose="02040503050406030204" pitchFamily="18" charset="0"/>
                        <a:ea typeface="Cambria Math" panose="02040503050406030204" pitchFamily="18" charset="0"/>
                      </a:rPr>
                      <m:t>≥</m:t>
                    </m:r>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m:rPr>
                            <m:sty m:val="p"/>
                          </m:rPr>
                          <a:rPr lang="en-VN">
                            <a:latin typeface="Cambria Math" panose="02040503050406030204" pitchFamily="18" charset="0"/>
                            <a:ea typeface="Cambria Math" panose="02040503050406030204" pitchFamily="18" charset="0"/>
                          </a:rPr>
                          <m:t>i</m:t>
                        </m:r>
                      </m:sub>
                    </m:sSub>
                    <m:r>
                      <a:rPr lang="en-VN" i="1">
                        <a:latin typeface="Cambria Math" panose="02040503050406030204" pitchFamily="18" charset="0"/>
                        <a:ea typeface="Cambria Math" panose="02040503050406030204" pitchFamily="18" charset="0"/>
                      </a:rPr>
                      <m:t>≥</m:t>
                    </m:r>
                    <m:f>
                      <m:fPr>
                        <m:ctrlPr>
                          <a:rPr lang="en-VN" b="0" i="1">
                            <a:latin typeface="Cambria Math" panose="02040503050406030204" pitchFamily="18" charset="0"/>
                            <a:ea typeface="Cambria Math" panose="02040503050406030204" pitchFamily="18" charset="0"/>
                          </a:rPr>
                        </m:ctrlPr>
                      </m:fPr>
                      <m:num>
                        <m:sSub>
                          <m:sSubPr>
                            <m:ctrlPr>
                              <a:rPr lang="en-VN" b="0" i="1">
                                <a:latin typeface="Cambria Math" panose="02040503050406030204" pitchFamily="18" charset="0"/>
                                <a:ea typeface="Cambria Math" panose="02040503050406030204" pitchFamily="18" charset="0"/>
                              </a:rPr>
                            </m:ctrlPr>
                          </m:sSubPr>
                          <m:e>
                            <m:r>
                              <a:rPr lang="en-VN" b="0" i="1">
                                <a:latin typeface="Cambria Math" panose="02040503050406030204" pitchFamily="18" charset="0"/>
                                <a:ea typeface="Cambria Math" panose="02040503050406030204" pitchFamily="18" charset="0"/>
                              </a:rPr>
                              <m:t>𝑆</m:t>
                            </m:r>
                          </m:e>
                          <m:sub>
                            <m:r>
                              <m:rPr>
                                <m:sty m:val="p"/>
                              </m:rPr>
                              <a:rPr lang="en-VN" b="0" i="0">
                                <a:latin typeface="Cambria Math" panose="02040503050406030204" pitchFamily="18" charset="0"/>
                                <a:ea typeface="Cambria Math" panose="02040503050406030204" pitchFamily="18" charset="0"/>
                              </a:rPr>
                              <m:t>i</m:t>
                            </m:r>
                          </m:sub>
                        </m:sSub>
                      </m:num>
                      <m:den>
                        <m:r>
                          <a:rPr lang="en-VN" b="0" i="1">
                            <a:latin typeface="Cambria Math" panose="02040503050406030204" pitchFamily="18" charset="0"/>
                            <a:ea typeface="Cambria Math" panose="02040503050406030204" pitchFamily="18" charset="0"/>
                          </a:rPr>
                          <m:t>𝑁</m:t>
                        </m:r>
                        <m:r>
                          <a:rPr lang="en-VN" b="0" i="1">
                            <a:latin typeface="Cambria Math" panose="02040503050406030204" pitchFamily="18" charset="0"/>
                            <a:ea typeface="Cambria Math" panose="02040503050406030204" pitchFamily="18" charset="0"/>
                          </a:rPr>
                          <m:t>−</m:t>
                        </m:r>
                        <m:r>
                          <a:rPr lang="en-VN" b="0" i="1">
                            <a:latin typeface="Cambria Math" panose="02040503050406030204" pitchFamily="18" charset="0"/>
                            <a:ea typeface="Cambria Math" panose="02040503050406030204" pitchFamily="18" charset="0"/>
                          </a:rPr>
                          <m:t>𝑖</m:t>
                        </m:r>
                        <m:r>
                          <a:rPr lang="en-VN" b="0" i="1">
                            <a:latin typeface="Cambria Math" panose="02040503050406030204" pitchFamily="18" charset="0"/>
                            <a:ea typeface="Cambria Math" panose="02040503050406030204" pitchFamily="18" charset="0"/>
                          </a:rPr>
                          <m:t>+1</m:t>
                        </m:r>
                      </m:den>
                    </m:f>
                  </m:oMath>
                </a14:m>
                <a:r>
                  <a:rPr lang="en-VN"/>
                  <a:t>  (trung bình alpha)</a:t>
                </a:r>
              </a:p>
              <a:p>
                <a:r>
                  <a:rPr lang="en-VN"/>
                  <a:t>Ta có </a:t>
                </a:r>
              </a:p>
              <a:p>
                <a:pPr/>
                <a14:m>
                  <m:oMathPara xmlns:m="http://schemas.openxmlformats.org/officeDocument/2006/math">
                    <m:oMath>
                      <m:r>
                        <a:rPr lang="en-VN" b="0" i="0">
                          <a:latin typeface="Cambria Math" panose="02040503050406030204" pitchFamily="18" charset="0"/>
                          <a:ea typeface="Cambria Math" panose="02040503050406030204" pitchFamily="18" charset="0"/>
                        </a:rPr>
                        <m:t>1</m:t>
                      </m:r>
                      <m:r>
                        <a:rPr lang="en-VN" b="0" i="1">
                          <a:latin typeface="Cambria Math" panose="02040503050406030204" pitchFamily="18" charset="0"/>
                          <a:ea typeface="Cambria Math" panose="02040503050406030204" pitchFamily="18" charset="0"/>
                        </a:rPr>
                        <m:t>=</m:t>
                      </m:r>
                      <m:nary>
                        <m:naryPr>
                          <m:chr m:val="∑"/>
                          <m:limLoc m:val="undOvr"/>
                          <m:ctrlPr>
                            <a:rPr lang="en-VN" b="0" i="0">
                              <a:latin typeface="Cambria Math" panose="02040503050406030204" pitchFamily="18" charset="0"/>
                            </a:rPr>
                          </m:ctrlPr>
                        </m:naryPr>
                        <m:sub>
                          <m:r>
                            <m:rPr>
                              <m:sty m:val="p"/>
                              <m:brk/>
                            </m:rPr>
                            <a:rPr lang="en-VN" b="0" i="0">
                              <a:latin typeface="Cambria Math" panose="02040503050406030204" pitchFamily="18" charset="0"/>
                            </a:rPr>
                            <m:t>j</m:t>
                          </m:r>
                          <m:r>
                            <a:rPr lang="en-VN">
                              <a:latin typeface="Cambria Math" panose="02040503050406030204" pitchFamily="18" charset="0"/>
                            </a:rPr>
                            <m:t>=</m:t>
                          </m:r>
                          <m:r>
                            <a:rPr lang="en-VN" b="0" i="1">
                              <a:latin typeface="Cambria Math" panose="02040503050406030204" pitchFamily="18" charset="0"/>
                            </a:rPr>
                            <m:t>1</m:t>
                          </m:r>
                        </m:sub>
                        <m:sup>
                          <m:r>
                            <a:rPr lang="en-VN" b="0" i="1">
                              <a:latin typeface="Cambria Math" panose="02040503050406030204" pitchFamily="18" charset="0"/>
                            </a:rPr>
                            <m:t>𝑖</m:t>
                          </m:r>
                          <m:r>
                            <a:rPr lang="en-VN" b="0" i="1">
                              <a:latin typeface="Cambria Math" panose="02040503050406030204" pitchFamily="18" charset="0"/>
                            </a:rPr>
                            <m:t>−1</m:t>
                          </m:r>
                        </m:sup>
                        <m:e>
                          <m:sSub>
                            <m:sSubPr>
                              <m:ctrlPr>
                                <a:rPr lang="en-VN" i="1">
                                  <a:latin typeface="Cambria Math" panose="02040503050406030204" pitchFamily="18" charset="0"/>
                                </a:rPr>
                              </m:ctrlPr>
                            </m:sSubPr>
                            <m:e>
                              <m:r>
                                <a:rPr lang="en-VN" i="1">
                                  <a:latin typeface="Cambria Math" panose="02040503050406030204" pitchFamily="18" charset="0"/>
                                </a:rPr>
                                <m:t>𝛼</m:t>
                              </m:r>
                            </m:e>
                            <m:sub>
                              <m:r>
                                <a:rPr lang="en-VN" b="0" i="1">
                                  <a:latin typeface="Cambria Math" panose="02040503050406030204" pitchFamily="18" charset="0"/>
                                </a:rPr>
                                <m:t>𝑗</m:t>
                              </m:r>
                            </m:sub>
                          </m:sSub>
                        </m:e>
                      </m:nary>
                      <m:r>
                        <a:rPr lang="en-VN" b="0" i="1">
                          <a:latin typeface="Cambria Math" panose="02040503050406030204" pitchFamily="18" charset="0"/>
                        </a:rPr>
                        <m:t>+</m:t>
                      </m:r>
                      <m:sSub>
                        <m:sSubPr>
                          <m:ctrlPr>
                            <a:rPr lang="en-VN" b="0" i="1">
                              <a:latin typeface="Cambria Math" panose="02040503050406030204" pitchFamily="18" charset="0"/>
                            </a:rPr>
                          </m:ctrlPr>
                        </m:sSubPr>
                        <m:e>
                          <m:r>
                            <a:rPr lang="en-VN" b="0" i="1">
                              <a:latin typeface="Cambria Math" panose="02040503050406030204" pitchFamily="18" charset="0"/>
                            </a:rPr>
                            <m:t>𝑆</m:t>
                          </m:r>
                        </m:e>
                        <m:sub>
                          <m:r>
                            <a:rPr lang="en-VN" b="0" i="1">
                              <a:latin typeface="Cambria Math" panose="02040503050406030204" pitchFamily="18" charset="0"/>
                            </a:rPr>
                            <m:t>𝑖</m:t>
                          </m:r>
                        </m:sub>
                      </m:sSub>
                      <m:r>
                        <a:rPr lang="en-VN" i="1">
                          <a:latin typeface="Cambria Math" panose="02040503050406030204" pitchFamily="18" charset="0"/>
                          <a:ea typeface="Cambria Math" panose="02040503050406030204" pitchFamily="18" charset="0"/>
                        </a:rPr>
                        <m:t>≥</m:t>
                      </m:r>
                      <m:d>
                        <m:dPr>
                          <m:ctrlPr>
                            <a:rPr lang="en-VN" b="0" i="1">
                              <a:latin typeface="Cambria Math" panose="02040503050406030204" pitchFamily="18" charset="0"/>
                              <a:ea typeface="Cambria Math" panose="02040503050406030204" pitchFamily="18" charset="0"/>
                            </a:rPr>
                          </m:ctrlPr>
                        </m:dPr>
                        <m:e>
                          <m:r>
                            <a:rPr lang="en-VN" b="0" i="1">
                              <a:latin typeface="Cambria Math" panose="02040503050406030204" pitchFamily="18" charset="0"/>
                              <a:ea typeface="Cambria Math" panose="02040503050406030204" pitchFamily="18" charset="0"/>
                            </a:rPr>
                            <m:t>𝑖</m:t>
                          </m:r>
                          <m:r>
                            <a:rPr lang="en-VN" b="0" i="1">
                              <a:latin typeface="Cambria Math" panose="02040503050406030204" pitchFamily="18" charset="0"/>
                              <a:ea typeface="Cambria Math" panose="02040503050406030204" pitchFamily="18" charset="0"/>
                            </a:rPr>
                            <m:t>−1</m:t>
                          </m:r>
                        </m:e>
                      </m:d>
                      <m:f>
                        <m:fPr>
                          <m:ctrlPr>
                            <a:rPr lang="en-VN" i="1">
                              <a:latin typeface="Cambria Math" panose="02040503050406030204" pitchFamily="18" charset="0"/>
                              <a:ea typeface="Cambria Math" panose="02040503050406030204" pitchFamily="18" charset="0"/>
                            </a:rPr>
                          </m:ctrlPr>
                        </m:fPr>
                        <m:num>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𝑆</m:t>
                              </m:r>
                            </m:e>
                            <m:sub>
                              <m:r>
                                <m:rPr>
                                  <m:sty m:val="p"/>
                                </m:rPr>
                                <a:rPr lang="en-VN">
                                  <a:latin typeface="Cambria Math" panose="02040503050406030204" pitchFamily="18" charset="0"/>
                                  <a:ea typeface="Cambria Math" panose="02040503050406030204" pitchFamily="18" charset="0"/>
                                </a:rPr>
                                <m:t>i</m:t>
                              </m:r>
                            </m:sub>
                          </m:sSub>
                        </m:num>
                        <m:den>
                          <m:r>
                            <a:rPr lang="en-VN" i="1">
                              <a:latin typeface="Cambria Math" panose="02040503050406030204" pitchFamily="18" charset="0"/>
                              <a:ea typeface="Cambria Math" panose="02040503050406030204" pitchFamily="18" charset="0"/>
                            </a:rPr>
                            <m:t>𝑁</m:t>
                          </m:r>
                          <m:r>
                            <a:rPr lang="en-VN" i="1">
                              <a:latin typeface="Cambria Math" panose="02040503050406030204" pitchFamily="18" charset="0"/>
                              <a:ea typeface="Cambria Math" panose="02040503050406030204" pitchFamily="18" charset="0"/>
                            </a:rPr>
                            <m:t>−</m:t>
                          </m:r>
                          <m:r>
                            <a:rPr lang="en-VN" i="1">
                              <a:latin typeface="Cambria Math" panose="02040503050406030204" pitchFamily="18" charset="0"/>
                              <a:ea typeface="Cambria Math" panose="02040503050406030204" pitchFamily="18" charset="0"/>
                            </a:rPr>
                            <m:t>𝑖</m:t>
                          </m:r>
                          <m:r>
                            <a:rPr lang="en-VN" i="1">
                              <a:latin typeface="Cambria Math" panose="02040503050406030204" pitchFamily="18" charset="0"/>
                              <a:ea typeface="Cambria Math" panose="02040503050406030204" pitchFamily="18" charset="0"/>
                            </a:rPr>
                            <m:t>+1</m:t>
                          </m:r>
                        </m:den>
                      </m:f>
                      <m:r>
                        <a:rPr lang="en-VN" b="0" i="1">
                          <a:latin typeface="Cambria Math" panose="02040503050406030204" pitchFamily="18" charset="0"/>
                          <a:ea typeface="Cambria Math" panose="02040503050406030204" pitchFamily="18" charset="0"/>
                        </a:rPr>
                        <m:t>+</m:t>
                      </m:r>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r>
                        <a:rPr lang="en-VN" b="0" i="1">
                          <a:latin typeface="Cambria Math" panose="02040503050406030204" pitchFamily="18" charset="0"/>
                        </a:rPr>
                        <m:t>   →</m:t>
                      </m:r>
                      <m:sSub>
                        <m:sSubPr>
                          <m:ctrlPr>
                            <a:rPr lang="en-VN" b="1" i="1">
                              <a:latin typeface="Cambria Math" panose="02040503050406030204" pitchFamily="18" charset="0"/>
                            </a:rPr>
                          </m:ctrlPr>
                        </m:sSubPr>
                        <m:e>
                          <m:r>
                            <a:rPr lang="en-VN" b="1" i="1">
                              <a:latin typeface="Cambria Math" panose="02040503050406030204" pitchFamily="18" charset="0"/>
                            </a:rPr>
                            <m:t>𝑺</m:t>
                          </m:r>
                        </m:e>
                        <m:sub>
                          <m:r>
                            <a:rPr lang="en-VN" b="1" i="1">
                              <a:latin typeface="Cambria Math" panose="02040503050406030204" pitchFamily="18" charset="0"/>
                            </a:rPr>
                            <m:t>𝒊</m:t>
                          </m:r>
                        </m:sub>
                      </m:sSub>
                      <m:r>
                        <a:rPr lang="en-VN" b="1" i="1">
                          <a:latin typeface="Cambria Math" panose="02040503050406030204" pitchFamily="18" charset="0"/>
                          <a:ea typeface="Cambria Math" panose="02040503050406030204" pitchFamily="18" charset="0"/>
                        </a:rPr>
                        <m:t>≤</m:t>
                      </m:r>
                      <m:f>
                        <m:fPr>
                          <m:ctrlPr>
                            <a:rPr lang="en-VN" b="1" i="1">
                              <a:latin typeface="Cambria Math" panose="02040503050406030204" pitchFamily="18" charset="0"/>
                              <a:ea typeface="Cambria Math" panose="02040503050406030204" pitchFamily="18" charset="0"/>
                            </a:rPr>
                          </m:ctrlPr>
                        </m:fPr>
                        <m:num>
                          <m:r>
                            <a:rPr lang="en-VN" b="1" i="1">
                              <a:latin typeface="Cambria Math" panose="02040503050406030204" pitchFamily="18" charset="0"/>
                              <a:ea typeface="Cambria Math" panose="02040503050406030204" pitchFamily="18" charset="0"/>
                            </a:rPr>
                            <m:t>𝑵</m:t>
                          </m:r>
                          <m:r>
                            <a:rPr lang="en-VN" b="1" i="1">
                              <a:latin typeface="Cambria Math" panose="02040503050406030204" pitchFamily="18" charset="0"/>
                              <a:ea typeface="Cambria Math" panose="02040503050406030204" pitchFamily="18" charset="0"/>
                            </a:rPr>
                            <m:t>−</m:t>
                          </m:r>
                          <m:r>
                            <a:rPr lang="en-VN" b="1" i="1">
                              <a:latin typeface="Cambria Math" panose="02040503050406030204" pitchFamily="18" charset="0"/>
                              <a:ea typeface="Cambria Math" panose="02040503050406030204" pitchFamily="18" charset="0"/>
                            </a:rPr>
                            <m:t>𝒊</m:t>
                          </m:r>
                          <m:r>
                            <a:rPr lang="en-VN" b="1" i="1">
                              <a:latin typeface="Cambria Math" panose="02040503050406030204" pitchFamily="18" charset="0"/>
                              <a:ea typeface="Cambria Math" panose="02040503050406030204" pitchFamily="18" charset="0"/>
                            </a:rPr>
                            <m:t>+</m:t>
                          </m:r>
                          <m:r>
                            <a:rPr lang="en-VN" b="1" i="1">
                              <a:latin typeface="Cambria Math" panose="02040503050406030204" pitchFamily="18" charset="0"/>
                              <a:ea typeface="Cambria Math" panose="02040503050406030204" pitchFamily="18" charset="0"/>
                            </a:rPr>
                            <m:t>𝟏</m:t>
                          </m:r>
                        </m:num>
                        <m:den>
                          <m:r>
                            <a:rPr lang="en-VN" b="1" i="1">
                              <a:latin typeface="Cambria Math" panose="02040503050406030204" pitchFamily="18" charset="0"/>
                              <a:ea typeface="Cambria Math" panose="02040503050406030204" pitchFamily="18" charset="0"/>
                            </a:rPr>
                            <m:t>𝑵</m:t>
                          </m:r>
                        </m:den>
                      </m:f>
                    </m:oMath>
                  </m:oMathPara>
                </a14:m>
                <a:endParaRPr lang="en-VN" b="1"/>
              </a:p>
            </p:txBody>
          </p:sp>
        </mc:Choice>
        <mc:Fallback xmlns="">
          <p:sp>
            <p:nvSpPr>
              <p:cNvPr id="18" name="TextBox 17">
                <a:extLst>
                  <a:ext uri="{FF2B5EF4-FFF2-40B4-BE49-F238E27FC236}">
                    <a16:creationId xmlns:a16="http://schemas.microsoft.com/office/drawing/2014/main" id="{B63B2546-AF13-3B64-1797-C36714AF6370}"/>
                  </a:ext>
                </a:extLst>
              </p:cNvPr>
              <p:cNvSpPr txBox="1">
                <a:spLocks noRot="1" noChangeAspect="1" noMove="1" noResize="1" noEditPoints="1" noAdjustHandles="1" noChangeArrowheads="1" noChangeShapeType="1" noTextEdit="1"/>
              </p:cNvSpPr>
              <p:nvPr/>
            </p:nvSpPr>
            <p:spPr>
              <a:xfrm>
                <a:off x="266700" y="1281505"/>
                <a:ext cx="8425237" cy="4592604"/>
              </a:xfrm>
              <a:prstGeom prst="rect">
                <a:avLst/>
              </a:prstGeom>
              <a:blipFill>
                <a:blip r:embed="rId3"/>
                <a:stretch>
                  <a:fillRect l="-753" t="-551" b="-28099"/>
                </a:stretch>
              </a:blipFill>
            </p:spPr>
            <p:txBody>
              <a:bodyPr/>
              <a:lstStyle/>
              <a:p>
                <a:r>
                  <a:rPr lang="en-VN">
                    <a:noFill/>
                  </a:rPr>
                  <a:t> </a:t>
                </a:r>
              </a:p>
            </p:txBody>
          </p:sp>
        </mc:Fallback>
      </mc:AlternateContent>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8A47-629E-6383-9125-EF8DE9DAF9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073B39-0658-43E6-D39D-726BC97DC8FF}"/>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202359C0-8A7A-196E-DD58-8E6569619F09}" type="slidenum">
              <a:rPr sz="1050">
                <a:solidFill>
                  <a:srgbClr val="C00000"/>
                </a:solidFill>
                <a:latin typeface="Lato"/>
                <a:ea typeface="Lato"/>
                <a:cs typeface="Lato"/>
              </a:rPr>
              <a:t>4</a:t>
            </a:fld>
            <a:endParaRPr/>
          </a:p>
        </p:txBody>
      </p:sp>
      <p:sp>
        <p:nvSpPr>
          <p:cNvPr id="3" name="Title 2">
            <a:extLst>
              <a:ext uri="{FF2B5EF4-FFF2-40B4-BE49-F238E27FC236}">
                <a16:creationId xmlns:a16="http://schemas.microsoft.com/office/drawing/2014/main" id="{A27565CC-0FE5-C6EC-7974-5FE4AEE619F0}"/>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lang="en-US" sz="2700" b="1">
                <a:solidFill>
                  <a:srgbClr val="FFFFFF"/>
                </a:solidFill>
                <a:latin typeface="Lato"/>
                <a:ea typeface="Lato"/>
                <a:cs typeface="Lato"/>
              </a:rPr>
              <a:t>Phân tích toán học</a:t>
            </a:r>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F8575AB-0167-E95B-B1E8-15B133015C0E}"/>
                  </a:ext>
                </a:extLst>
              </p:cNvPr>
              <p:cNvSpPr txBox="1"/>
              <p:nvPr/>
            </p:nvSpPr>
            <p:spPr>
              <a:xfrm>
                <a:off x="266699" y="852902"/>
                <a:ext cx="8425237" cy="2117887"/>
              </a:xfrm>
              <a:prstGeom prst="rect">
                <a:avLst/>
              </a:prstGeom>
              <a:noFill/>
            </p:spPr>
            <p:txBody>
              <a:bodyPr wrap="square">
                <a:spAutoFit/>
              </a:bodyPr>
              <a:lstStyle/>
              <a:p>
                <a:r>
                  <a:rPr lang="en-VN">
                    <a:latin typeface="+mn-lt"/>
                  </a:rPr>
                  <a:t>Với 5 user ta có:</a:t>
                </a:r>
              </a:p>
              <a:p>
                <a:pPr/>
                <a14:m>
                  <m:oMathPara xmlns:m="http://schemas.openxmlformats.org/officeDocument/2006/math">
                    <m:oMath>
                      <m:eqArr>
                        <m:eqArrPr>
                          <m:ctrlPr>
                            <a:rPr lang="en-VN" i="1">
                              <a:latin typeface="Cambria Math" panose="02040503050406030204" pitchFamily="18" charset="0"/>
                            </a:rPr>
                          </m:ctrlPr>
                        </m:eqArrPr>
                        <m:e>
                          <m:sSub>
                            <m:sSubPr>
                              <m:ctrlPr>
                                <a:rPr lang="en-VN" i="1">
                                  <a:latin typeface="+mn-lt"/>
                                </a:rPr>
                              </m:ctrlPr>
                            </m:sSubPr>
                            <m:e>
                              <m:r>
                                <a:rPr lang="en-VN" i="1">
                                  <a:latin typeface="+mn-lt"/>
                                </a:rPr>
                                <m:t>𝑆</m:t>
                              </m:r>
                            </m:e>
                            <m:sub>
                              <m:r>
                                <a:rPr lang="en-VN" i="0">
                                  <a:latin typeface="+mn-lt"/>
                                </a:rPr>
                                <m:t>2</m:t>
                              </m:r>
                            </m:sub>
                          </m:sSub>
                          <m:r>
                            <m:rPr>
                              <m:aln/>
                            </m:rPr>
                            <a:rPr lang="en-VN" i="0">
                              <a:latin typeface="+mn-lt"/>
                            </a:rPr>
                            <m:t>&amp;</m:t>
                          </m:r>
                          <m:r>
                            <a:rPr lang="en-VN" i="0">
                              <a:latin typeface="+mn-lt"/>
                            </a:rPr>
                            <m:t>=</m:t>
                          </m:r>
                          <m:sSub>
                            <m:sSubPr>
                              <m:ctrlPr>
                                <a:rPr lang="en-VN" i="1">
                                  <a:latin typeface="+mn-lt"/>
                                </a:rPr>
                              </m:ctrlPr>
                            </m:sSubPr>
                            <m:e>
                              <m:r>
                                <a:rPr lang="en-VN" i="1">
                                  <a:latin typeface="+mn-lt"/>
                                </a:rPr>
                                <m:t>𝛼</m:t>
                              </m:r>
                            </m:e>
                            <m:sub>
                              <m:r>
                                <a:rPr lang="en-VN" i="0">
                                  <a:latin typeface="+mn-lt"/>
                                </a:rPr>
                                <m:t>2</m:t>
                              </m:r>
                            </m:sub>
                          </m:sSub>
                          <m:r>
                            <a:rPr lang="en-VN" i="0">
                              <a:latin typeface="+mn-lt"/>
                            </a:rPr>
                            <m:t>+</m:t>
                          </m:r>
                          <m:sSub>
                            <m:sSubPr>
                              <m:ctrlPr>
                                <a:rPr lang="en-VN" i="1">
                                  <a:latin typeface="+mn-lt"/>
                                </a:rPr>
                              </m:ctrlPr>
                            </m:sSubPr>
                            <m:e>
                              <m:r>
                                <a:rPr lang="en-VN" i="1">
                                  <a:latin typeface="+mn-lt"/>
                                </a:rPr>
                                <m:t>𝛼</m:t>
                              </m:r>
                            </m:e>
                            <m:sub>
                              <m:r>
                                <a:rPr lang="en-VN" i="0">
                                  <a:latin typeface="+mn-lt"/>
                                </a:rPr>
                                <m:t>3</m:t>
                              </m:r>
                            </m:sub>
                          </m:sSub>
                          <m:r>
                            <a:rPr lang="en-VN" i="0">
                              <a:latin typeface="+mn-lt"/>
                            </a:rPr>
                            <m:t>+</m:t>
                          </m:r>
                          <m:sSub>
                            <m:sSubPr>
                              <m:ctrlPr>
                                <a:rPr lang="en-VN" i="1">
                                  <a:latin typeface="+mn-lt"/>
                                </a:rPr>
                              </m:ctrlPr>
                            </m:sSubPr>
                            <m:e>
                              <m:r>
                                <a:rPr lang="en-VN" i="1">
                                  <a:latin typeface="+mn-lt"/>
                                </a:rPr>
                                <m:t>𝛼</m:t>
                              </m:r>
                            </m:e>
                            <m:sub>
                              <m:r>
                                <a:rPr lang="en-VN" i="0">
                                  <a:latin typeface="+mn-lt"/>
                                </a:rPr>
                                <m:t>4</m:t>
                              </m:r>
                            </m:sub>
                          </m:sSub>
                          <m:r>
                            <a:rPr lang="en-VN" i="0">
                              <a:latin typeface="+mn-lt"/>
                            </a:rPr>
                            <m:t>+</m:t>
                          </m:r>
                          <m:sSub>
                            <m:sSubPr>
                              <m:ctrlPr>
                                <a:rPr lang="en-VN" i="1">
                                  <a:latin typeface="+mn-lt"/>
                                </a:rPr>
                              </m:ctrlPr>
                            </m:sSubPr>
                            <m:e>
                              <m:r>
                                <a:rPr lang="en-VN" i="1">
                                  <a:latin typeface="+mn-lt"/>
                                </a:rPr>
                                <m:t>𝛼</m:t>
                              </m:r>
                            </m:e>
                            <m:sub>
                              <m:r>
                                <a:rPr lang="en-VN" i="0">
                                  <a:latin typeface="+mn-lt"/>
                                </a:rPr>
                                <m:t>5</m:t>
                              </m:r>
                            </m:sub>
                          </m:sSub>
                          <m:r>
                            <a:rPr lang="en-VN" i="0">
                              <a:latin typeface="+mn-lt"/>
                            </a:rPr>
                            <m:t>≤0.8,</m:t>
                          </m:r>
                        </m:e>
                        <m:e>
                          <m:sSub>
                            <m:sSubPr>
                              <m:ctrlPr>
                                <a:rPr lang="en-VN" i="1">
                                  <a:latin typeface="+mn-lt"/>
                                </a:rPr>
                              </m:ctrlPr>
                            </m:sSubPr>
                            <m:e>
                              <m:r>
                                <a:rPr lang="en-VN" i="1">
                                  <a:latin typeface="+mn-lt"/>
                                </a:rPr>
                                <m:t>𝑆</m:t>
                              </m:r>
                            </m:e>
                            <m:sub>
                              <m:r>
                                <a:rPr lang="en-VN" i="0">
                                  <a:latin typeface="+mn-lt"/>
                                </a:rPr>
                                <m:t>3</m:t>
                              </m:r>
                            </m:sub>
                          </m:sSub>
                          <m:r>
                            <m:rPr>
                              <m:aln/>
                            </m:rPr>
                            <a:rPr lang="en-VN" i="0">
                              <a:latin typeface="+mn-lt"/>
                            </a:rPr>
                            <m:t>&amp;</m:t>
                          </m:r>
                          <m:r>
                            <a:rPr lang="en-VN" i="0">
                              <a:latin typeface="+mn-lt"/>
                            </a:rPr>
                            <m:t>=</m:t>
                          </m:r>
                          <m:sSub>
                            <m:sSubPr>
                              <m:ctrlPr>
                                <a:rPr lang="en-VN" i="1">
                                  <a:latin typeface="+mn-lt"/>
                                </a:rPr>
                              </m:ctrlPr>
                            </m:sSubPr>
                            <m:e>
                              <m:r>
                                <a:rPr lang="en-VN" i="1">
                                  <a:latin typeface="+mn-lt"/>
                                </a:rPr>
                                <m:t>𝛼</m:t>
                              </m:r>
                            </m:e>
                            <m:sub>
                              <m:r>
                                <a:rPr lang="en-VN" i="0">
                                  <a:latin typeface="+mn-lt"/>
                                </a:rPr>
                                <m:t>3</m:t>
                              </m:r>
                            </m:sub>
                          </m:sSub>
                          <m:r>
                            <a:rPr lang="en-VN" i="0">
                              <a:latin typeface="+mn-lt"/>
                            </a:rPr>
                            <m:t>+</m:t>
                          </m:r>
                          <m:sSub>
                            <m:sSubPr>
                              <m:ctrlPr>
                                <a:rPr lang="en-VN" i="1">
                                  <a:latin typeface="+mn-lt"/>
                                </a:rPr>
                              </m:ctrlPr>
                            </m:sSubPr>
                            <m:e>
                              <m:r>
                                <a:rPr lang="en-VN" i="1">
                                  <a:latin typeface="+mn-lt"/>
                                </a:rPr>
                                <m:t>𝛼</m:t>
                              </m:r>
                            </m:e>
                            <m:sub>
                              <m:r>
                                <a:rPr lang="en-VN" i="0">
                                  <a:latin typeface="+mn-lt"/>
                                </a:rPr>
                                <m:t>4</m:t>
                              </m:r>
                            </m:sub>
                          </m:sSub>
                          <m:r>
                            <a:rPr lang="en-VN" i="0">
                              <a:latin typeface="+mn-lt"/>
                            </a:rPr>
                            <m:t>+</m:t>
                          </m:r>
                          <m:sSub>
                            <m:sSubPr>
                              <m:ctrlPr>
                                <a:rPr lang="en-VN" i="1">
                                  <a:latin typeface="+mn-lt"/>
                                </a:rPr>
                              </m:ctrlPr>
                            </m:sSubPr>
                            <m:e>
                              <m:r>
                                <a:rPr lang="en-VN" i="1">
                                  <a:latin typeface="+mn-lt"/>
                                </a:rPr>
                                <m:t>𝛼</m:t>
                              </m:r>
                            </m:e>
                            <m:sub>
                              <m:r>
                                <a:rPr lang="en-VN" i="0">
                                  <a:latin typeface="+mn-lt"/>
                                </a:rPr>
                                <m:t>5</m:t>
                              </m:r>
                            </m:sub>
                          </m:sSub>
                          <m:r>
                            <a:rPr lang="en-VN" i="0">
                              <a:latin typeface="+mn-lt"/>
                            </a:rPr>
                            <m:t>≤0.6,</m:t>
                          </m:r>
                        </m:e>
                        <m:e>
                          <m:sSub>
                            <m:sSubPr>
                              <m:ctrlPr>
                                <a:rPr lang="en-VN" i="1">
                                  <a:latin typeface="+mn-lt"/>
                                </a:rPr>
                              </m:ctrlPr>
                            </m:sSubPr>
                            <m:e>
                              <m:r>
                                <a:rPr lang="en-VN" i="1">
                                  <a:latin typeface="+mn-lt"/>
                                </a:rPr>
                                <m:t>𝑆</m:t>
                              </m:r>
                            </m:e>
                            <m:sub>
                              <m:r>
                                <a:rPr lang="en-VN" i="0">
                                  <a:latin typeface="+mn-lt"/>
                                </a:rPr>
                                <m:t>4</m:t>
                              </m:r>
                            </m:sub>
                          </m:sSub>
                          <m:r>
                            <m:rPr>
                              <m:aln/>
                            </m:rPr>
                            <a:rPr lang="en-VN" i="0">
                              <a:latin typeface="+mn-lt"/>
                            </a:rPr>
                            <m:t>&amp;</m:t>
                          </m:r>
                          <m:r>
                            <a:rPr lang="en-VN" i="0">
                              <a:latin typeface="+mn-lt"/>
                            </a:rPr>
                            <m:t>=</m:t>
                          </m:r>
                          <m:sSub>
                            <m:sSubPr>
                              <m:ctrlPr>
                                <a:rPr lang="en-VN" i="1">
                                  <a:latin typeface="+mn-lt"/>
                                </a:rPr>
                              </m:ctrlPr>
                            </m:sSubPr>
                            <m:e>
                              <m:r>
                                <a:rPr lang="en-VN" i="1">
                                  <a:latin typeface="+mn-lt"/>
                                </a:rPr>
                                <m:t>𝛼</m:t>
                              </m:r>
                            </m:e>
                            <m:sub>
                              <m:r>
                                <a:rPr lang="en-VN" i="0">
                                  <a:latin typeface="+mn-lt"/>
                                </a:rPr>
                                <m:t>4</m:t>
                              </m:r>
                            </m:sub>
                          </m:sSub>
                          <m:r>
                            <a:rPr lang="en-VN" i="0">
                              <a:latin typeface="+mn-lt"/>
                            </a:rPr>
                            <m:t>+</m:t>
                          </m:r>
                          <m:sSub>
                            <m:sSubPr>
                              <m:ctrlPr>
                                <a:rPr lang="en-VN" i="1">
                                  <a:latin typeface="+mn-lt"/>
                                </a:rPr>
                              </m:ctrlPr>
                            </m:sSubPr>
                            <m:e>
                              <m:r>
                                <a:rPr lang="en-VN" i="1">
                                  <a:latin typeface="+mn-lt"/>
                                </a:rPr>
                                <m:t>𝛼</m:t>
                              </m:r>
                            </m:e>
                            <m:sub>
                              <m:r>
                                <a:rPr lang="en-VN" i="0">
                                  <a:latin typeface="+mn-lt"/>
                                </a:rPr>
                                <m:t>5</m:t>
                              </m:r>
                            </m:sub>
                          </m:sSub>
                          <m:r>
                            <a:rPr lang="en-VN" i="0">
                              <a:latin typeface="+mn-lt"/>
                            </a:rPr>
                            <m:t>≤0.4,</m:t>
                          </m:r>
                        </m:e>
                        <m:e>
                          <m:sSub>
                            <m:sSubPr>
                              <m:ctrlPr>
                                <a:rPr lang="en-VN" i="1">
                                  <a:latin typeface="+mn-lt"/>
                                </a:rPr>
                              </m:ctrlPr>
                            </m:sSubPr>
                            <m:e>
                              <m:r>
                                <a:rPr lang="en-VN" i="1">
                                  <a:latin typeface="+mn-lt"/>
                                </a:rPr>
                                <m:t>𝑆</m:t>
                              </m:r>
                            </m:e>
                            <m:sub>
                              <m:r>
                                <a:rPr lang="en-VN" i="0">
                                  <a:latin typeface="+mn-lt"/>
                                </a:rPr>
                                <m:t>5</m:t>
                              </m:r>
                            </m:sub>
                          </m:sSub>
                          <m:r>
                            <m:rPr>
                              <m:aln/>
                            </m:rPr>
                            <a:rPr lang="en-VN" i="0">
                              <a:latin typeface="+mn-lt"/>
                            </a:rPr>
                            <m:t>&amp;</m:t>
                          </m:r>
                          <m:r>
                            <a:rPr lang="en-VN" i="0">
                              <a:latin typeface="+mn-lt"/>
                            </a:rPr>
                            <m:t>=</m:t>
                          </m:r>
                          <m:sSub>
                            <m:sSubPr>
                              <m:ctrlPr>
                                <a:rPr lang="en-VN" i="1">
                                  <a:latin typeface="+mn-lt"/>
                                </a:rPr>
                              </m:ctrlPr>
                            </m:sSubPr>
                            <m:e>
                              <m:r>
                                <a:rPr lang="en-VN" i="1">
                                  <a:latin typeface="+mn-lt"/>
                                </a:rPr>
                                <m:t>𝛼</m:t>
                              </m:r>
                            </m:e>
                            <m:sub>
                              <m:r>
                                <a:rPr lang="en-VN" i="0">
                                  <a:latin typeface="+mn-lt"/>
                                </a:rPr>
                                <m:t>5</m:t>
                              </m:r>
                            </m:sub>
                          </m:sSub>
                          <m:r>
                            <a:rPr lang="en-VN" i="0">
                              <a:latin typeface="+mn-lt"/>
                            </a:rPr>
                            <m:t>≤0.2.</m:t>
                          </m:r>
                        </m:e>
                      </m:eqArr>
                    </m:oMath>
                  </m:oMathPara>
                </a14:m>
                <a:endParaRPr lang="en-VN"/>
              </a:p>
              <a:p>
                <a:r>
                  <a:rPr lang="en-VN" b="1"/>
                  <a:t>Nghiệm chia đều </a:t>
                </a:r>
                <a14:m>
                  <m:oMath xmlns:m="http://schemas.openxmlformats.org/officeDocument/2006/math">
                    <m:sSub>
                      <m:sSubPr>
                        <m:ctrlPr>
                          <a:rPr lang="en-VN" b="1" i="1">
                            <a:latin typeface="Cambria Math" panose="02040503050406030204" pitchFamily="18" charset="0"/>
                          </a:rPr>
                        </m:ctrlPr>
                      </m:sSubPr>
                      <m:e>
                        <m:r>
                          <a:rPr lang="en-VN" b="1" i="1">
                            <a:latin typeface="Cambria Math" panose="02040503050406030204" pitchFamily="18" charset="0"/>
                          </a:rPr>
                          <m:t>𝜶</m:t>
                        </m:r>
                      </m:e>
                      <m:sub>
                        <m:r>
                          <a:rPr lang="en-VN" b="1" i="0">
                            <a:latin typeface="Cambria Math" panose="02040503050406030204" pitchFamily="18" charset="0"/>
                          </a:rPr>
                          <m:t>𝐢</m:t>
                        </m:r>
                      </m:sub>
                    </m:sSub>
                    <m:r>
                      <a:rPr lang="en-VN" b="1" i="1">
                        <a:latin typeface="Cambria Math" panose="02040503050406030204" pitchFamily="18" charset="0"/>
                      </a:rPr>
                      <m:t>=</m:t>
                    </m:r>
                    <m:f>
                      <m:fPr>
                        <m:ctrlPr>
                          <a:rPr lang="en-VN" b="1" i="1">
                            <a:latin typeface="Cambria Math" panose="02040503050406030204" pitchFamily="18" charset="0"/>
                          </a:rPr>
                        </m:ctrlPr>
                      </m:fPr>
                      <m:num>
                        <m:r>
                          <a:rPr lang="en-VN" b="1" i="1">
                            <a:latin typeface="Cambria Math" panose="02040503050406030204" pitchFamily="18" charset="0"/>
                          </a:rPr>
                          <m:t>𝟏</m:t>
                        </m:r>
                      </m:num>
                      <m:den>
                        <m:r>
                          <a:rPr lang="en-VN" b="1" i="1">
                            <a:latin typeface="Cambria Math" panose="02040503050406030204" pitchFamily="18" charset="0"/>
                          </a:rPr>
                          <m:t>𝑵</m:t>
                        </m:r>
                      </m:den>
                    </m:f>
                  </m:oMath>
                </a14:m>
                <a:r>
                  <a:rPr lang="en-VN" b="1"/>
                  <a:t> thỏa mãn toàn bộ giới hạn trên.</a:t>
                </a:r>
              </a:p>
              <a:p>
                <a:endParaRPr lang="en-VN"/>
              </a:p>
            </p:txBody>
          </p:sp>
        </mc:Choice>
        <mc:Fallback>
          <p:sp>
            <p:nvSpPr>
              <p:cNvPr id="7" name="TextBox 6">
                <a:extLst>
                  <a:ext uri="{FF2B5EF4-FFF2-40B4-BE49-F238E27FC236}">
                    <a16:creationId xmlns:a16="http://schemas.microsoft.com/office/drawing/2014/main" id="{BF8575AB-0167-E95B-B1E8-15B133015C0E}"/>
                  </a:ext>
                </a:extLst>
              </p:cNvPr>
              <p:cNvSpPr txBox="1">
                <a:spLocks noRot="1" noChangeAspect="1" noMove="1" noResize="1" noEditPoints="1" noAdjustHandles="1" noChangeArrowheads="1" noChangeShapeType="1" noTextEdit="1"/>
              </p:cNvSpPr>
              <p:nvPr/>
            </p:nvSpPr>
            <p:spPr>
              <a:xfrm>
                <a:off x="266699" y="852902"/>
                <a:ext cx="8425237" cy="2117887"/>
              </a:xfrm>
              <a:prstGeom prst="rect">
                <a:avLst/>
              </a:prstGeom>
              <a:blipFill>
                <a:blip r:embed="rId3"/>
                <a:stretch>
                  <a:fillRect l="-753" t="-1796"/>
                </a:stretch>
              </a:blipFill>
            </p:spPr>
            <p:txBody>
              <a:bodyPr/>
              <a:lstStyle/>
              <a:p>
                <a:r>
                  <a:rPr lang="en-VN">
                    <a:noFill/>
                  </a:rPr>
                  <a:t> </a:t>
                </a:r>
              </a:p>
            </p:txBody>
          </p:sp>
        </mc:Fallback>
      </mc:AlternateContent>
    </p:spTree>
    <p:extLst>
      <p:ext uri="{BB962C8B-B14F-4D97-AF65-F5344CB8AC3E}">
        <p14:creationId xmlns:p14="http://schemas.microsoft.com/office/powerpoint/2010/main" val="724996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83736-03A1-D7CC-4B23-0010AE9920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76D691-92B9-D456-C781-33F3C678DCD2}"/>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E2598689-54C9-18A7-3A19-ED76AA08988F}" type="slidenum">
              <a:rPr sz="1050">
                <a:solidFill>
                  <a:srgbClr val="C00000"/>
                </a:solidFill>
                <a:latin typeface="Lato"/>
                <a:ea typeface="Lato"/>
                <a:cs typeface="Lato"/>
              </a:rPr>
              <a:t>5</a:t>
            </a:fld>
            <a:endParaRPr/>
          </a:p>
        </p:txBody>
      </p:sp>
      <p:sp>
        <p:nvSpPr>
          <p:cNvPr id="3" name="Title 2">
            <a:extLst>
              <a:ext uri="{FF2B5EF4-FFF2-40B4-BE49-F238E27FC236}">
                <a16:creationId xmlns:a16="http://schemas.microsoft.com/office/drawing/2014/main" id="{1523252E-B4B6-A87A-DF3B-8691D4488D71}"/>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lang="en-US" sz="2700" b="1">
                <a:solidFill>
                  <a:srgbClr val="FFFFFF"/>
                </a:solidFill>
                <a:latin typeface="Lato"/>
                <a:ea typeface="Lato"/>
                <a:cs typeface="Lato"/>
              </a:rPr>
              <a:t>Phân tích toán học</a:t>
            </a:r>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8C06FAF-05E1-A417-F7E2-AF56EBF898AE}"/>
                  </a:ext>
                </a:extLst>
              </p:cNvPr>
              <p:cNvSpPr txBox="1"/>
              <p:nvPr/>
            </p:nvSpPr>
            <p:spPr>
              <a:xfrm>
                <a:off x="266700" y="850213"/>
                <a:ext cx="8456060" cy="4998804"/>
              </a:xfrm>
              <a:prstGeom prst="rect">
                <a:avLst/>
              </a:prstGeom>
              <a:noFill/>
            </p:spPr>
            <p:txBody>
              <a:bodyPr wrap="square" rtlCol="0">
                <a:spAutoFit/>
              </a:bodyPr>
              <a:lstStyle/>
              <a:p>
                <a:r>
                  <a:rPr lang="en-VN"/>
                  <a:t>Ta có: </a:t>
                </a:r>
                <a:endParaRPr lang="en-VN">
                  <a:latin typeface="Cambria Math" panose="02040503050406030204" pitchFamily="18" charset="0"/>
                </a:endParaRPr>
              </a:p>
              <a:p>
                <a:pPr/>
                <a14:m>
                  <m:oMathPara xmlns:m="http://schemas.openxmlformats.org/officeDocument/2006/math">
                    <m:oMath>
                      <m:sSub>
                        <m:sSubPr>
                          <m:ctrlPr>
                            <a:rPr lang="en-VN" i="1">
                              <a:latin typeface="Cambria Math" panose="02040503050406030204" pitchFamily="18" charset="0"/>
                            </a:rPr>
                          </m:ctrlPr>
                        </m:sSubPr>
                        <m:e>
                          <m:r>
                            <a:rPr lang="en-VN" i="1">
                              <a:latin typeface="Cambria Math" panose="02040503050406030204" pitchFamily="18" charset="0"/>
                            </a:rPr>
                            <m:t>𝑅</m:t>
                          </m:r>
                        </m:e>
                        <m:sub>
                          <m:r>
                            <a:rPr lang="en-VN" i="1">
                              <a:latin typeface="Cambria Math" panose="02040503050406030204" pitchFamily="18" charset="0"/>
                            </a:rPr>
                            <m:t>𝑖</m:t>
                          </m:r>
                        </m:sub>
                      </m:sSub>
                      <m:r>
                        <a:rPr lang="en-VN" i="0">
                          <a:latin typeface="Cambria Math" panose="02040503050406030204" pitchFamily="18" charset="0"/>
                        </a:rPr>
                        <m:t>=</m:t>
                      </m:r>
                      <m:r>
                        <a:rPr lang="en-VN" i="1">
                          <a:latin typeface="Cambria Math" panose="02040503050406030204" pitchFamily="18" charset="0"/>
                        </a:rPr>
                        <m:t>𝐵</m:t>
                      </m:r>
                      <m:func>
                        <m:funcPr>
                          <m:ctrlPr>
                            <a:rPr lang="en-VN" i="1">
                              <a:latin typeface="Cambria Math" panose="02040503050406030204" pitchFamily="18" charset="0"/>
                            </a:rPr>
                          </m:ctrlPr>
                        </m:funcPr>
                        <m:fName>
                          <m:sSub>
                            <m:sSubPr>
                              <m:ctrlPr>
                                <a:rPr lang="en-VN" i="0">
                                  <a:latin typeface="Cambria Math" panose="02040503050406030204" pitchFamily="18" charset="0"/>
                                </a:rPr>
                              </m:ctrlPr>
                            </m:sSubPr>
                            <m:e>
                              <m:r>
                                <m:rPr>
                                  <m:sty m:val="p"/>
                                </m:rPr>
                                <a:rPr lang="en-VN" i="0">
                                  <a:latin typeface="Cambria Math" panose="02040503050406030204" pitchFamily="18" charset="0"/>
                                </a:rPr>
                                <m:t>log</m:t>
                              </m:r>
                            </m:e>
                            <m:sub>
                              <m:r>
                                <a:rPr lang="en-VN" i="0">
                                  <a:latin typeface="Cambria Math" panose="02040503050406030204" pitchFamily="18" charset="0"/>
                                </a:rPr>
                                <m:t>2</m:t>
                              </m:r>
                            </m:sub>
                          </m:sSub>
                        </m:fName>
                        <m:e>
                          <m:d>
                            <m:dPr>
                              <m:ctrlPr>
                                <a:rPr lang="en-VN" i="0">
                                  <a:latin typeface="Cambria Math" panose="02040503050406030204" pitchFamily="18" charset="0"/>
                                </a:rPr>
                              </m:ctrlPr>
                            </m:dPr>
                            <m:e>
                              <m:r>
                                <a:rPr lang="en-VN" i="0">
                                  <a:latin typeface="Cambria Math" panose="02040503050406030204" pitchFamily="18" charset="0"/>
                                </a:rPr>
                                <m:t>1+</m:t>
                              </m:r>
                              <m:f>
                                <m:fPr>
                                  <m:ctrlPr>
                                    <a:rPr lang="en-VN" i="1">
                                      <a:latin typeface="Cambria Math" panose="02040503050406030204" pitchFamily="18" charset="0"/>
                                    </a:rPr>
                                  </m:ctrlPr>
                                </m:fPr>
                                <m:num>
                                  <m:r>
                                    <a:rPr lang="en-VN" i="1">
                                      <a:latin typeface="Cambria Math" panose="02040503050406030204" pitchFamily="18" charset="0"/>
                                    </a:rPr>
                                    <m:t>𝑃</m:t>
                                  </m:r>
                                  <m:sSub>
                                    <m:sSubPr>
                                      <m:ctrlPr>
                                        <a:rPr lang="en-VN" i="1">
                                          <a:latin typeface="Cambria Math" panose="02040503050406030204" pitchFamily="18" charset="0"/>
                                        </a:rPr>
                                      </m:ctrlPr>
                                    </m:sSubPr>
                                    <m:e>
                                      <m:r>
                                        <a:rPr lang="en-VN" i="1">
                                          <a:latin typeface="Cambria Math" panose="02040503050406030204" pitchFamily="18" charset="0"/>
                                        </a:rPr>
                                        <m:t>𝑔</m:t>
                                      </m:r>
                                    </m:e>
                                    <m:sub>
                                      <m:r>
                                        <a:rPr lang="en-VN" i="1">
                                          <a:latin typeface="Cambria Math" panose="02040503050406030204" pitchFamily="18" charset="0"/>
                                        </a:rPr>
                                        <m:t>𝑖</m:t>
                                      </m:r>
                                    </m:sub>
                                  </m:sSub>
                                  <m:sSub>
                                    <m:sSubPr>
                                      <m:ctrlPr>
                                        <a:rPr lang="en-VN" i="1">
                                          <a:latin typeface="Cambria Math" panose="02040503050406030204" pitchFamily="18" charset="0"/>
                                        </a:rPr>
                                      </m:ctrlPr>
                                    </m:sSubPr>
                                    <m:e>
                                      <m:r>
                                        <a:rPr lang="en-VN" i="1">
                                          <a:latin typeface="Cambria Math" panose="02040503050406030204" pitchFamily="18" charset="0"/>
                                        </a:rPr>
                                        <m:t>𝛼</m:t>
                                      </m:r>
                                    </m:e>
                                    <m:sub>
                                      <m:r>
                                        <a:rPr lang="en-VN" i="1">
                                          <a:latin typeface="Cambria Math" panose="02040503050406030204" pitchFamily="18" charset="0"/>
                                        </a:rPr>
                                        <m:t>𝑖</m:t>
                                      </m:r>
                                    </m:sub>
                                  </m:sSub>
                                </m:num>
                                <m:den>
                                  <m:sSup>
                                    <m:sSupPr>
                                      <m:ctrlPr>
                                        <a:rPr lang="en-VN" i="1">
                                          <a:latin typeface="Cambria Math" panose="02040503050406030204" pitchFamily="18" charset="0"/>
                                        </a:rPr>
                                      </m:ctrlPr>
                                    </m:sSupPr>
                                    <m:e>
                                      <m:r>
                                        <a:rPr lang="en-VN" i="1">
                                          <a:latin typeface="Cambria Math" panose="02040503050406030204" pitchFamily="18" charset="0"/>
                                        </a:rPr>
                                        <m:t>𝜎</m:t>
                                      </m:r>
                                    </m:e>
                                    <m:sup>
                                      <m:r>
                                        <a:rPr lang="en-VN" i="0">
                                          <a:latin typeface="Cambria Math" panose="02040503050406030204" pitchFamily="18" charset="0"/>
                                        </a:rPr>
                                        <m:t>2</m:t>
                                      </m:r>
                                    </m:sup>
                                  </m:sSup>
                                  <m:r>
                                    <a:rPr lang="en-VN" i="0">
                                      <a:latin typeface="Cambria Math" panose="02040503050406030204" pitchFamily="18" charset="0"/>
                                    </a:rPr>
                                    <m:t>+</m:t>
                                  </m:r>
                                  <m:r>
                                    <a:rPr lang="en-VN" i="1">
                                      <a:latin typeface="Cambria Math" panose="02040503050406030204" pitchFamily="18" charset="0"/>
                                    </a:rPr>
                                    <m:t>𝑃</m:t>
                                  </m:r>
                                  <m:sSub>
                                    <m:sSubPr>
                                      <m:ctrlPr>
                                        <a:rPr lang="en-VN" i="1">
                                          <a:latin typeface="Cambria Math" panose="02040503050406030204" pitchFamily="18" charset="0"/>
                                        </a:rPr>
                                      </m:ctrlPr>
                                    </m:sSubPr>
                                    <m:e>
                                      <m:r>
                                        <a:rPr lang="en-VN" i="1">
                                          <a:latin typeface="Cambria Math" panose="02040503050406030204" pitchFamily="18" charset="0"/>
                                        </a:rPr>
                                        <m:t>𝑔</m:t>
                                      </m:r>
                                    </m:e>
                                    <m:sub>
                                      <m:r>
                                        <a:rPr lang="en-VN" i="1">
                                          <a:latin typeface="Cambria Math" panose="02040503050406030204" pitchFamily="18" charset="0"/>
                                        </a:rPr>
                                        <m:t>𝑖</m:t>
                                      </m:r>
                                    </m:sub>
                                  </m:sSub>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𝑘</m:t>
                                      </m:r>
                                      <m:r>
                                        <a:rPr lang="en-VN" i="0">
                                          <a:latin typeface="Cambria Math" panose="02040503050406030204" pitchFamily="18" charset="0"/>
                                        </a:rPr>
                                        <m:t>=</m:t>
                                      </m:r>
                                      <m:r>
                                        <a:rPr lang="en-VN" i="1">
                                          <a:latin typeface="Cambria Math" panose="02040503050406030204" pitchFamily="18" charset="0"/>
                                        </a:rPr>
                                        <m:t>𝑖</m:t>
                                      </m:r>
                                      <m:r>
                                        <a:rPr lang="en-VN" i="0">
                                          <a:latin typeface="Cambria Math" panose="02040503050406030204" pitchFamily="18" charset="0"/>
                                        </a:rPr>
                                        <m:t>+1</m:t>
                                      </m:r>
                                    </m:sub>
                                    <m:sup>
                                      <m:r>
                                        <a:rPr lang="en-VN" i="1">
                                          <a:latin typeface="Cambria Math" panose="02040503050406030204" pitchFamily="18" charset="0"/>
                                        </a:rPr>
                                        <m:t>𝑁</m:t>
                                      </m:r>
                                    </m:sup>
                                    <m:e>
                                      <m:sSub>
                                        <m:sSubPr>
                                          <m:ctrlPr>
                                            <a:rPr lang="en-VN" i="1">
                                              <a:latin typeface="Cambria Math" panose="02040503050406030204" pitchFamily="18" charset="0"/>
                                            </a:rPr>
                                          </m:ctrlPr>
                                        </m:sSubPr>
                                        <m:e>
                                          <m:r>
                                            <a:rPr lang="en-VN" i="1">
                                              <a:latin typeface="Cambria Math" panose="02040503050406030204" pitchFamily="18" charset="0"/>
                                            </a:rPr>
                                            <m:t>𝛼</m:t>
                                          </m:r>
                                        </m:e>
                                        <m:sub>
                                          <m:r>
                                            <a:rPr lang="en-VN" i="1">
                                              <a:latin typeface="Cambria Math" panose="02040503050406030204" pitchFamily="18" charset="0"/>
                                            </a:rPr>
                                            <m:t>𝑘</m:t>
                                          </m:r>
                                        </m:sub>
                                      </m:sSub>
                                    </m:e>
                                  </m:nary>
                                </m:den>
                              </m:f>
                            </m:e>
                          </m:d>
                        </m:e>
                      </m:func>
                    </m:oMath>
                  </m:oMathPara>
                </a14:m>
                <a:endParaRPr lang="en-VN"/>
              </a:p>
              <a:p>
                <a:r>
                  <a:rPr lang="en-VN"/>
                  <a:t>Đặt </a:t>
                </a:r>
                <a:endParaRPr lang="en-VN">
                  <a:latin typeface="Cambria Math" panose="02040503050406030204" pitchFamily="18" charset="0"/>
                </a:endParaRPr>
              </a:p>
              <a:p>
                <a:pPr/>
                <a14:m>
                  <m:oMathPara xmlns:m="http://schemas.openxmlformats.org/officeDocument/2006/math">
                    <m:oMath>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r>
                        <a:rPr lang="en-VN" i="0">
                          <a:latin typeface="Cambria Math" panose="02040503050406030204" pitchFamily="18" charset="0"/>
                        </a:rPr>
                        <m:t>=</m:t>
                      </m:r>
                      <m:f>
                        <m:fPr>
                          <m:ctrlPr>
                            <a:rPr lang="en-VN" i="1">
                              <a:latin typeface="Cambria Math" panose="02040503050406030204" pitchFamily="18" charset="0"/>
                            </a:rPr>
                          </m:ctrlPr>
                        </m:fPr>
                        <m:num>
                          <m:r>
                            <a:rPr lang="en-VN" i="1">
                              <a:latin typeface="Cambria Math" panose="02040503050406030204" pitchFamily="18" charset="0"/>
                            </a:rPr>
                            <m:t>𝑃</m:t>
                          </m:r>
                          <m:sSub>
                            <m:sSubPr>
                              <m:ctrlPr>
                                <a:rPr lang="en-VN" i="1">
                                  <a:latin typeface="Cambria Math" panose="02040503050406030204" pitchFamily="18" charset="0"/>
                                </a:rPr>
                              </m:ctrlPr>
                            </m:sSubPr>
                            <m:e>
                              <m:r>
                                <a:rPr lang="en-VN" i="1">
                                  <a:latin typeface="Cambria Math" panose="02040503050406030204" pitchFamily="18" charset="0"/>
                                </a:rPr>
                                <m:t>𝑔</m:t>
                              </m:r>
                            </m:e>
                            <m:sub>
                              <m:r>
                                <a:rPr lang="en-VN" i="1">
                                  <a:latin typeface="Cambria Math" panose="02040503050406030204" pitchFamily="18" charset="0"/>
                                </a:rPr>
                                <m:t>𝑖</m:t>
                              </m:r>
                            </m:sub>
                          </m:sSub>
                        </m:num>
                        <m:den>
                          <m:sSup>
                            <m:sSupPr>
                              <m:ctrlPr>
                                <a:rPr lang="en-VN" i="1">
                                  <a:latin typeface="Cambria Math" panose="02040503050406030204" pitchFamily="18" charset="0"/>
                                </a:rPr>
                              </m:ctrlPr>
                            </m:sSupPr>
                            <m:e>
                              <m:r>
                                <a:rPr lang="en-VN" i="1">
                                  <a:latin typeface="Cambria Math" panose="02040503050406030204" pitchFamily="18" charset="0"/>
                                </a:rPr>
                                <m:t>𝜎</m:t>
                              </m:r>
                            </m:e>
                            <m:sup>
                              <m:r>
                                <a:rPr lang="en-VN" i="0">
                                  <a:latin typeface="Cambria Math" panose="02040503050406030204" pitchFamily="18" charset="0"/>
                                </a:rPr>
                                <m:t>2</m:t>
                              </m:r>
                            </m:sup>
                          </m:sSup>
                        </m:den>
                      </m:f>
                      <m:r>
                        <a:rPr lang="en-VN" i="0">
                          <a:latin typeface="Cambria Math" panose="02040503050406030204" pitchFamily="18" charset="0"/>
                        </a:rPr>
                        <m:t>,  0≤</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0">
                              <a:latin typeface="Cambria Math" panose="02040503050406030204" pitchFamily="18" charset="0"/>
                            </a:rPr>
                            <m:t>1</m:t>
                          </m:r>
                        </m:sub>
                      </m:sSub>
                      <m:r>
                        <a:rPr lang="en-VN" i="0">
                          <a:latin typeface="Cambria Math" panose="02040503050406030204" pitchFamily="18" charset="0"/>
                        </a:rPr>
                        <m:t>≤⋯≤</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𝑁</m:t>
                          </m:r>
                        </m:sub>
                      </m:sSub>
                      <m:r>
                        <a:rPr lang="en-VN" i="0">
                          <a:latin typeface="Cambria Math" panose="02040503050406030204" pitchFamily="18" charset="0"/>
                        </a:rPr>
                        <m:t>.</m:t>
                      </m:r>
                    </m:oMath>
                  </m:oMathPara>
                </a14:m>
                <a:endParaRPr lang="en-VN"/>
              </a:p>
              <a:p>
                <a:r>
                  <a:rPr lang="en-VN"/>
                  <a:t>Do </a:t>
                </a:r>
                <a14:m>
                  <m:oMath xmlns:m="http://schemas.openxmlformats.org/officeDocument/2006/math">
                    <m:sSub>
                      <m:sSubPr>
                        <m:ctrlPr>
                          <a:rPr lang="en-VN" i="1">
                            <a:latin typeface="Cambria Math" panose="02040503050406030204" pitchFamily="18" charset="0"/>
                            <a:ea typeface="Cambria Math" panose="02040503050406030204" pitchFamily="18" charset="0"/>
                          </a:rPr>
                        </m:ctrlPr>
                      </m:sSubPr>
                      <m:e>
                        <m:r>
                          <a:rPr lang="en-VN" i="1">
                            <a:latin typeface="Cambria Math" panose="02040503050406030204" pitchFamily="18" charset="0"/>
                            <a:ea typeface="Cambria Math" panose="02040503050406030204" pitchFamily="18" charset="0"/>
                          </a:rPr>
                          <m:t>𝛼</m:t>
                        </m:r>
                      </m:e>
                      <m:sub>
                        <m:r>
                          <a:rPr lang="en-VN" b="0" i="1">
                            <a:latin typeface="Cambria Math" panose="02040503050406030204" pitchFamily="18" charset="0"/>
                          </a:rPr>
                          <m:t>𝑖</m:t>
                        </m:r>
                      </m:sub>
                    </m:sSub>
                    <m:r>
                      <a:rPr lang="en-VN" b="0" i="1">
                        <a:latin typeface="Cambria Math" panose="02040503050406030204" pitchFamily="18" charset="0"/>
                      </a:rPr>
                      <m:t>=</m:t>
                    </m:r>
                    <m:sSub>
                      <m:sSubPr>
                        <m:ctrlPr>
                          <a:rPr lang="en-VN" b="0" i="1">
                            <a:latin typeface="Cambria Math" panose="02040503050406030204" pitchFamily="18" charset="0"/>
                          </a:rPr>
                        </m:ctrlPr>
                      </m:sSubPr>
                      <m:e>
                        <m:r>
                          <a:rPr lang="en-VN" b="0" i="1">
                            <a:latin typeface="Cambria Math" panose="02040503050406030204" pitchFamily="18" charset="0"/>
                          </a:rPr>
                          <m:t>𝑆</m:t>
                        </m:r>
                      </m:e>
                      <m:sub>
                        <m:r>
                          <a:rPr lang="en-VN" b="0" i="1">
                            <a:latin typeface="Cambria Math" panose="02040503050406030204" pitchFamily="18" charset="0"/>
                          </a:rPr>
                          <m:t>𝑖</m:t>
                        </m:r>
                      </m:sub>
                    </m:sSub>
                    <m:r>
                      <a:rPr lang="en-VN" b="0" i="1">
                        <a:latin typeface="Cambria Math" panose="02040503050406030204" pitchFamily="18" charset="0"/>
                      </a:rPr>
                      <m:t>−</m:t>
                    </m:r>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r>
                          <a:rPr lang="en-VN" b="0" i="1">
                            <a:latin typeface="Cambria Math" panose="02040503050406030204" pitchFamily="18" charset="0"/>
                          </a:rPr>
                          <m:t>+1</m:t>
                        </m:r>
                      </m:sub>
                    </m:sSub>
                  </m:oMath>
                </a14:m>
                <a:r>
                  <a:rPr lang="en-VN"/>
                  <a:t>, ta có </a:t>
                </a:r>
                <a:endParaRPr lang="en-VN" i="1">
                  <a:latin typeface="Cambria Math" panose="02040503050406030204" pitchFamily="18" charset="0"/>
                </a:endParaRPr>
              </a:p>
              <a:p>
                <a:pPr/>
                <a14:m>
                  <m:oMathPara xmlns:m="http://schemas.openxmlformats.org/officeDocument/2006/math">
                    <m:oMath>
                      <m:eqArr>
                        <m:eqArrPr>
                          <m:ctrlPr>
                            <a:rPr lang="en-VN" i="1">
                              <a:latin typeface="Cambria Math" panose="02040503050406030204" pitchFamily="18" charset="0"/>
                            </a:rPr>
                          </m:ctrlPr>
                        </m:eqArrPr>
                        <m:e>
                          <m:r>
                            <a:rPr lang="en-VN" i="0">
                              <a:latin typeface="Cambria Math" panose="02040503050406030204" pitchFamily="18" charset="0"/>
                            </a:rPr>
                            <m:t>1+</m:t>
                          </m:r>
                          <m:sSub>
                            <m:sSubPr>
                              <m:ctrlPr>
                                <a:rPr lang="en-VN" i="0">
                                  <a:latin typeface="Cambria Math" panose="02040503050406030204" pitchFamily="18" charset="0"/>
                                </a:rPr>
                              </m:ctrlPr>
                            </m:sSubPr>
                            <m:e>
                              <m:r>
                                <m:rPr>
                                  <m:sty m:val="p"/>
                                </m:rPr>
                                <a:rPr lang="en-VN" i="0">
                                  <a:latin typeface="Cambria Math" panose="02040503050406030204" pitchFamily="18" charset="0"/>
                                </a:rPr>
                                <m:t>SINR</m:t>
                              </m:r>
                            </m:e>
                            <m:sub>
                              <m:r>
                                <a:rPr lang="en-VN" i="1">
                                  <a:latin typeface="Cambria Math" panose="02040503050406030204" pitchFamily="18" charset="0"/>
                                </a:rPr>
                                <m:t>𝑖</m:t>
                              </m:r>
                            </m:sub>
                          </m:sSub>
                          <m:r>
                            <m:rPr>
                              <m:aln/>
                            </m:rPr>
                            <a:rPr lang="en-VN" i="0">
                              <a:latin typeface="Cambria Math" panose="02040503050406030204" pitchFamily="18" charset="0"/>
                            </a:rPr>
                            <m:t>&amp;</m:t>
                          </m:r>
                          <m:r>
                            <a:rPr lang="en-VN" i="0">
                              <a:latin typeface="Cambria Math" panose="02040503050406030204" pitchFamily="18" charset="0"/>
                            </a:rPr>
                            <m:t>=1+</m:t>
                          </m:r>
                          <m:f>
                            <m:fPr>
                              <m:ctrlPr>
                                <a:rPr lang="en-VN" i="1">
                                  <a:latin typeface="Cambria Math" panose="02040503050406030204" pitchFamily="18" charset="0"/>
                                </a:rPr>
                              </m:ctrlPr>
                            </m:fPr>
                            <m:num>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d>
                                <m:dPr>
                                  <m:ctrlPr>
                                    <a:rPr lang="en-VN" i="1">
                                      <a:latin typeface="Cambria Math" panose="02040503050406030204" pitchFamily="18" charset="0"/>
                                    </a:rPr>
                                  </m:ctrlPr>
                                </m:dPr>
                                <m:e>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r>
                                    <a:rPr lang="en-VN" i="0">
                                      <a:latin typeface="Cambria Math" panose="02040503050406030204" pitchFamily="18" charset="0"/>
                                    </a:rPr>
                                    <m:t>−</m:t>
                                  </m:r>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r>
                                        <a:rPr lang="en-VN" i="0">
                                          <a:latin typeface="Cambria Math" panose="02040503050406030204" pitchFamily="18" charset="0"/>
                                        </a:rPr>
                                        <m:t>+1</m:t>
                                      </m:r>
                                    </m:sub>
                                  </m:sSub>
                                </m:e>
                              </m:d>
                            </m:num>
                            <m:den>
                              <m:r>
                                <a:rPr lang="en-VN" i="0">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r>
                                    <a:rPr lang="en-VN" i="0">
                                      <a:latin typeface="Cambria Math" panose="02040503050406030204" pitchFamily="18" charset="0"/>
                                    </a:rPr>
                                    <m:t>+1</m:t>
                                  </m:r>
                                </m:sub>
                              </m:sSub>
                            </m:den>
                          </m:f>
                          <m:r>
                            <a:rPr lang="en-VN">
                              <a:latin typeface="Cambria Math" panose="02040503050406030204" pitchFamily="18" charset="0"/>
                            </a:rPr>
                            <m:t>=</m:t>
                          </m:r>
                          <m:f>
                            <m:fPr>
                              <m:ctrlPr>
                                <a:rPr lang="en-VN">
                                  <a:latin typeface="Cambria Math" panose="02040503050406030204" pitchFamily="18" charset="0"/>
                                </a:rPr>
                              </m:ctrlPr>
                            </m:fPr>
                            <m:num>
                              <m:r>
                                <a:rPr lang="en-VN">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num>
                            <m:den>
                              <m:r>
                                <a:rPr lang="en-VN">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r>
                                    <a:rPr lang="en-VN">
                                      <a:latin typeface="Cambria Math" panose="02040503050406030204" pitchFamily="18" charset="0"/>
                                    </a:rPr>
                                    <m:t>+1</m:t>
                                  </m:r>
                                </m:sub>
                              </m:sSub>
                            </m:den>
                          </m:f>
                        </m:e>
                        <m:e>
                          <m:r>
                            <a:rPr lang="en-VN" i="0">
                              <a:latin typeface="Cambria Math" panose="02040503050406030204" pitchFamily="18" charset="0"/>
                            </a:rPr>
                            <m:t>.</m:t>
                          </m:r>
                        </m:e>
                      </m:eqArr>
                    </m:oMath>
                  </m:oMathPara>
                </a14:m>
                <a:endParaRPr lang="en-VN"/>
              </a:p>
              <a:p>
                <a:r>
                  <a:rPr lang="en-VN"/>
                  <a:t>Do đó ta có hiệu suất phổ: </a:t>
                </a:r>
                <a:endParaRPr lang="en-VN">
                  <a:latin typeface="Cambria Math" panose="02040503050406030204" pitchFamily="18" charset="0"/>
                </a:endParaRPr>
              </a:p>
              <a:p>
                <a:pPr/>
                <a14:m>
                  <m:oMathPara xmlns:m="http://schemas.openxmlformats.org/officeDocument/2006/math">
                    <m:oMath>
                      <m:f>
                        <m:fPr>
                          <m:ctrlPr>
                            <a:rPr lang="en-VN" i="1">
                              <a:latin typeface="Cambria Math" panose="02040503050406030204" pitchFamily="18" charset="0"/>
                            </a:rPr>
                          </m:ctrlPr>
                        </m:fPr>
                        <m:num>
                          <m:sSub>
                            <m:sSubPr>
                              <m:ctrlPr>
                                <a:rPr lang="en-VN" i="1">
                                  <a:latin typeface="Cambria Math" panose="02040503050406030204" pitchFamily="18" charset="0"/>
                                </a:rPr>
                              </m:ctrlPr>
                            </m:sSubPr>
                            <m:e>
                              <m:r>
                                <a:rPr lang="en-VN" i="1">
                                  <a:latin typeface="Cambria Math" panose="02040503050406030204" pitchFamily="18" charset="0"/>
                                </a:rPr>
                                <m:t>𝑅</m:t>
                              </m:r>
                            </m:e>
                            <m:sub>
                              <m:r>
                                <a:rPr lang="en-VN" i="1">
                                  <a:latin typeface="Cambria Math" panose="02040503050406030204" pitchFamily="18" charset="0"/>
                                </a:rPr>
                                <m:t>𝑖</m:t>
                              </m:r>
                            </m:sub>
                          </m:sSub>
                        </m:num>
                        <m:den>
                          <m:r>
                            <a:rPr lang="en-VN" i="1">
                              <a:latin typeface="Cambria Math" panose="02040503050406030204" pitchFamily="18" charset="0"/>
                            </a:rPr>
                            <m:t>𝐵</m:t>
                          </m:r>
                        </m:den>
                      </m:f>
                      <m:r>
                        <a:rPr lang="en-VN" i="0">
                          <a:latin typeface="Cambria Math" panose="02040503050406030204" pitchFamily="18" charset="0"/>
                        </a:rPr>
                        <m:t>=</m:t>
                      </m:r>
                      <m:func>
                        <m:funcPr>
                          <m:ctrlPr>
                            <a:rPr lang="en-VN" i="1">
                              <a:latin typeface="Cambria Math" panose="02040503050406030204" pitchFamily="18" charset="0"/>
                            </a:rPr>
                          </m:ctrlPr>
                        </m:funcPr>
                        <m:fName>
                          <m:sSub>
                            <m:sSubPr>
                              <m:ctrlPr>
                                <a:rPr lang="en-VN" i="0">
                                  <a:latin typeface="Cambria Math" panose="02040503050406030204" pitchFamily="18" charset="0"/>
                                </a:rPr>
                              </m:ctrlPr>
                            </m:sSubPr>
                            <m:e>
                              <m:r>
                                <m:rPr>
                                  <m:sty m:val="p"/>
                                </m:rPr>
                                <a:rPr lang="en-VN" i="0">
                                  <a:latin typeface="Cambria Math" panose="02040503050406030204" pitchFamily="18" charset="0"/>
                                </a:rPr>
                                <m:t>log</m:t>
                              </m:r>
                            </m:e>
                            <m:sub>
                              <m:r>
                                <a:rPr lang="en-VN" i="0">
                                  <a:latin typeface="Cambria Math" panose="02040503050406030204" pitchFamily="18" charset="0"/>
                                </a:rPr>
                                <m:t>2</m:t>
                              </m:r>
                            </m:sub>
                          </m:sSub>
                        </m:fName>
                        <m:e>
                          <m:d>
                            <m:dPr>
                              <m:ctrlPr>
                                <a:rPr lang="en-VN" i="0">
                                  <a:latin typeface="Cambria Math" panose="02040503050406030204" pitchFamily="18" charset="0"/>
                                </a:rPr>
                              </m:ctrlPr>
                            </m:dPr>
                            <m:e>
                              <m:r>
                                <a:rPr lang="en-VN" i="0">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e>
                          </m:d>
                        </m:e>
                      </m:func>
                      <m:r>
                        <a:rPr lang="en-VN" i="0">
                          <a:latin typeface="Cambria Math" panose="02040503050406030204" pitchFamily="18" charset="0"/>
                        </a:rPr>
                        <m:t>−</m:t>
                      </m:r>
                      <m:func>
                        <m:funcPr>
                          <m:ctrlPr>
                            <a:rPr lang="en-VN" i="1">
                              <a:latin typeface="Cambria Math" panose="02040503050406030204" pitchFamily="18" charset="0"/>
                            </a:rPr>
                          </m:ctrlPr>
                        </m:funcPr>
                        <m:fName>
                          <m:sSub>
                            <m:sSubPr>
                              <m:ctrlPr>
                                <a:rPr lang="en-VN" i="0">
                                  <a:latin typeface="Cambria Math" panose="02040503050406030204" pitchFamily="18" charset="0"/>
                                </a:rPr>
                              </m:ctrlPr>
                            </m:sSubPr>
                            <m:e>
                              <m:r>
                                <m:rPr>
                                  <m:sty m:val="p"/>
                                </m:rPr>
                                <a:rPr lang="en-VN" i="0">
                                  <a:latin typeface="Cambria Math" panose="02040503050406030204" pitchFamily="18" charset="0"/>
                                </a:rPr>
                                <m:t>log</m:t>
                              </m:r>
                            </m:e>
                            <m:sub>
                              <m:r>
                                <a:rPr lang="en-VN" i="0">
                                  <a:latin typeface="Cambria Math" panose="02040503050406030204" pitchFamily="18" charset="0"/>
                                </a:rPr>
                                <m:t>2</m:t>
                              </m:r>
                            </m:sub>
                          </m:sSub>
                        </m:fName>
                        <m:e>
                          <m:d>
                            <m:dPr>
                              <m:ctrlPr>
                                <a:rPr lang="en-VN" i="0">
                                  <a:latin typeface="Cambria Math" panose="02040503050406030204" pitchFamily="18" charset="0"/>
                                </a:rPr>
                              </m:ctrlPr>
                            </m:dPr>
                            <m:e>
                              <m:r>
                                <a:rPr lang="en-VN" i="0">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r>
                                    <a:rPr lang="en-VN" i="0">
                                      <a:latin typeface="Cambria Math" panose="02040503050406030204" pitchFamily="18" charset="0"/>
                                    </a:rPr>
                                    <m:t>+1</m:t>
                                  </m:r>
                                </m:sub>
                              </m:sSub>
                            </m:e>
                          </m:d>
                        </m:e>
                      </m:func>
                    </m:oMath>
                  </m:oMathPara>
                </a14:m>
                <a:endParaRPr lang="en-VN"/>
              </a:p>
              <a:p>
                <a:r>
                  <a:rPr lang="en-VN"/>
                  <a:t>Cộng tổng 5 user vào và rút gọn Si ta được:</a:t>
                </a:r>
              </a:p>
              <a:p>
                <a:pPr/>
                <a14:m>
                  <m:oMathPara xmlns:m="http://schemas.openxmlformats.org/officeDocument/2006/math">
                    <m:oMath>
                      <m:borderBox>
                        <m:borderBoxPr>
                          <m:ctrlPr>
                            <a:rPr lang="en-VN" i="1">
                              <a:latin typeface="Cambria Math" panose="02040503050406030204" pitchFamily="18" charset="0"/>
                            </a:rPr>
                          </m:ctrlPr>
                        </m:borderBoxPr>
                        <m:e>
                          <m:f>
                            <m:fPr>
                              <m:ctrlPr>
                                <a:rPr lang="en-VN" i="1">
                                  <a:latin typeface="Cambria Math" panose="02040503050406030204" pitchFamily="18" charset="0"/>
                                </a:rPr>
                              </m:ctrlPr>
                            </m:fPr>
                            <m:num>
                              <m:sSub>
                                <m:sSubPr>
                                  <m:ctrlPr>
                                    <a:rPr lang="en-VN" i="1">
                                      <a:latin typeface="Cambria Math" panose="02040503050406030204" pitchFamily="18" charset="0"/>
                                    </a:rPr>
                                  </m:ctrlPr>
                                </m:sSubPr>
                                <m:e>
                                  <m:r>
                                    <a:rPr lang="en-VN" i="1">
                                      <a:latin typeface="Cambria Math" panose="02040503050406030204" pitchFamily="18" charset="0"/>
                                    </a:rPr>
                                    <m:t>𝑅</m:t>
                                  </m:r>
                                </m:e>
                                <m:sub>
                                  <m:r>
                                    <m:rPr>
                                      <m:sty m:val="p"/>
                                    </m:rPr>
                                    <a:rPr lang="en-VN" i="0">
                                      <a:latin typeface="Cambria Math" panose="02040503050406030204" pitchFamily="18" charset="0"/>
                                    </a:rPr>
                                    <m:t>sum</m:t>
                                  </m:r>
                                </m:sub>
                              </m:sSub>
                            </m:num>
                            <m:den>
                              <m:r>
                                <a:rPr lang="en-VN" i="1">
                                  <a:latin typeface="Cambria Math" panose="02040503050406030204" pitchFamily="18" charset="0"/>
                                </a:rPr>
                                <m:t>𝐵</m:t>
                              </m:r>
                            </m:den>
                          </m:f>
                          <m:r>
                            <a:rPr lang="en-VN" i="0">
                              <a:latin typeface="Cambria Math" panose="02040503050406030204" pitchFamily="18" charset="0"/>
                            </a:rPr>
                            <m:t>=</m:t>
                          </m:r>
                          <m:func>
                            <m:funcPr>
                              <m:ctrlPr>
                                <a:rPr lang="en-VN" i="1">
                                  <a:latin typeface="Cambria Math" panose="02040503050406030204" pitchFamily="18" charset="0"/>
                                </a:rPr>
                              </m:ctrlPr>
                            </m:funcPr>
                            <m:fName>
                              <m:sSub>
                                <m:sSubPr>
                                  <m:ctrlPr>
                                    <a:rPr lang="en-VN" i="0">
                                      <a:latin typeface="Cambria Math" panose="02040503050406030204" pitchFamily="18" charset="0"/>
                                    </a:rPr>
                                  </m:ctrlPr>
                                </m:sSubPr>
                                <m:e>
                                  <m:r>
                                    <m:rPr>
                                      <m:sty m:val="p"/>
                                    </m:rPr>
                                    <a:rPr lang="en-VN" i="0">
                                      <a:latin typeface="Cambria Math" panose="02040503050406030204" pitchFamily="18" charset="0"/>
                                    </a:rPr>
                                    <m:t>log</m:t>
                                  </m:r>
                                </m:e>
                                <m:sub>
                                  <m:r>
                                    <a:rPr lang="en-VN" i="0">
                                      <a:latin typeface="Cambria Math" panose="02040503050406030204" pitchFamily="18" charset="0"/>
                                    </a:rPr>
                                    <m:t>2</m:t>
                                  </m:r>
                                </m:sub>
                              </m:sSub>
                            </m:fName>
                            <m:e>
                              <m:d>
                                <m:dPr>
                                  <m:ctrlPr>
                                    <a:rPr lang="en-VN" i="0">
                                      <a:latin typeface="Cambria Math" panose="02040503050406030204" pitchFamily="18" charset="0"/>
                                    </a:rPr>
                                  </m:ctrlPr>
                                </m:dPr>
                                <m:e>
                                  <m:r>
                                    <a:rPr lang="en-VN" i="0">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0">
                                          <a:latin typeface="Cambria Math" panose="02040503050406030204" pitchFamily="18" charset="0"/>
                                        </a:rPr>
                                        <m:t>1</m:t>
                                      </m:r>
                                    </m:sub>
                                  </m:sSub>
                                </m:e>
                              </m:d>
                            </m:e>
                          </m:func>
                          <m:r>
                            <a:rPr lang="en-VN" i="0">
                              <a:latin typeface="Cambria Math" panose="02040503050406030204" pitchFamily="18" charset="0"/>
                            </a:rPr>
                            <m:t>+</m:t>
                          </m:r>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𝑖</m:t>
                              </m:r>
                              <m:r>
                                <a:rPr lang="en-VN" i="0">
                                  <a:latin typeface="Cambria Math" panose="02040503050406030204" pitchFamily="18" charset="0"/>
                                </a:rPr>
                                <m:t>=2</m:t>
                              </m:r>
                            </m:sub>
                            <m:sup>
                              <m:r>
                                <a:rPr lang="en-VN" i="1">
                                  <a:latin typeface="Cambria Math" panose="02040503050406030204" pitchFamily="18" charset="0"/>
                                </a:rPr>
                                <m:t>𝑁</m:t>
                              </m:r>
                            </m:sup>
                            <m:e>
                              <m:func>
                                <m:funcPr>
                                  <m:ctrlPr>
                                    <a:rPr lang="en-VN" i="1">
                                      <a:latin typeface="Cambria Math" panose="02040503050406030204" pitchFamily="18" charset="0"/>
                                    </a:rPr>
                                  </m:ctrlPr>
                                </m:funcPr>
                                <m:fName>
                                  <m:sSub>
                                    <m:sSubPr>
                                      <m:ctrlPr>
                                        <a:rPr lang="en-VN" i="0">
                                          <a:latin typeface="Cambria Math" panose="02040503050406030204" pitchFamily="18" charset="0"/>
                                        </a:rPr>
                                      </m:ctrlPr>
                                    </m:sSubPr>
                                    <m:e>
                                      <m:r>
                                        <m:rPr>
                                          <m:sty m:val="p"/>
                                        </m:rPr>
                                        <a:rPr lang="en-VN" i="0">
                                          <a:latin typeface="Cambria Math" panose="02040503050406030204" pitchFamily="18" charset="0"/>
                                        </a:rPr>
                                        <m:t>log</m:t>
                                      </m:r>
                                    </m:e>
                                    <m:sub>
                                      <m:r>
                                        <a:rPr lang="en-VN" i="0">
                                          <a:latin typeface="Cambria Math" panose="02040503050406030204" pitchFamily="18" charset="0"/>
                                        </a:rPr>
                                        <m:t>2</m:t>
                                      </m:r>
                                    </m:sub>
                                  </m:sSub>
                                </m:fName>
                                <m:e>
                                  <m:d>
                                    <m:dPr>
                                      <m:ctrlPr>
                                        <a:rPr lang="en-VN" i="1">
                                          <a:latin typeface="Cambria Math" panose="02040503050406030204" pitchFamily="18" charset="0"/>
                                        </a:rPr>
                                      </m:ctrlPr>
                                    </m:dPr>
                                    <m:e>
                                      <m:f>
                                        <m:fPr>
                                          <m:ctrlPr>
                                            <a:rPr lang="en-VN" i="0">
                                              <a:latin typeface="Cambria Math" panose="02040503050406030204" pitchFamily="18" charset="0"/>
                                            </a:rPr>
                                          </m:ctrlPr>
                                        </m:fPr>
                                        <m:num>
                                          <m:r>
                                            <a:rPr lang="en-VN" i="0">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num>
                                        <m:den>
                                          <m:r>
                                            <a:rPr lang="en-VN" i="0">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r>
                                                <a:rPr lang="en-VN" i="0">
                                                  <a:latin typeface="Cambria Math" panose="02040503050406030204" pitchFamily="18" charset="0"/>
                                                </a:rPr>
                                                <m:t>−1</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den>
                                      </m:f>
                                    </m:e>
                                  </m:d>
                                </m:e>
                              </m:func>
                            </m:e>
                          </m:nary>
                        </m:e>
                      </m:borderBox>
                    </m:oMath>
                  </m:oMathPara>
                </a14:m>
                <a:endParaRPr lang="en-VN"/>
              </a:p>
              <a:p>
                <a:endParaRPr lang="en-VN"/>
              </a:p>
            </p:txBody>
          </p:sp>
        </mc:Choice>
        <mc:Fallback xmlns="">
          <p:sp>
            <p:nvSpPr>
              <p:cNvPr id="15" name="TextBox 14">
                <a:extLst>
                  <a:ext uri="{FF2B5EF4-FFF2-40B4-BE49-F238E27FC236}">
                    <a16:creationId xmlns:a16="http://schemas.microsoft.com/office/drawing/2014/main" id="{38C06FAF-05E1-A417-F7E2-AF56EBF898AE}"/>
                  </a:ext>
                </a:extLst>
              </p:cNvPr>
              <p:cNvSpPr txBox="1">
                <a:spLocks noRot="1" noChangeAspect="1" noMove="1" noResize="1" noEditPoints="1" noAdjustHandles="1" noChangeArrowheads="1" noChangeShapeType="1" noTextEdit="1"/>
              </p:cNvSpPr>
              <p:nvPr/>
            </p:nvSpPr>
            <p:spPr>
              <a:xfrm>
                <a:off x="266700" y="850213"/>
                <a:ext cx="8456060" cy="4998804"/>
              </a:xfrm>
              <a:prstGeom prst="rect">
                <a:avLst/>
              </a:prstGeom>
              <a:blipFill>
                <a:blip r:embed="rId3"/>
                <a:stretch>
                  <a:fillRect l="-751" t="-506" b="-18734"/>
                </a:stretch>
              </a:blipFill>
            </p:spPr>
            <p:txBody>
              <a:bodyPr/>
              <a:lstStyle/>
              <a:p>
                <a:r>
                  <a:rPr lang="en-VN">
                    <a:noFill/>
                  </a:rPr>
                  <a:t> </a:t>
                </a:r>
              </a:p>
            </p:txBody>
          </p:sp>
        </mc:Fallback>
      </mc:AlternateContent>
    </p:spTree>
    <p:extLst>
      <p:ext uri="{BB962C8B-B14F-4D97-AF65-F5344CB8AC3E}">
        <p14:creationId xmlns:p14="http://schemas.microsoft.com/office/powerpoint/2010/main" val="499417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D22C-E07B-ED60-F531-50931E903E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F6BA07-EA59-BF96-3E13-96BF34AD7C7D}"/>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E2598689-54C9-18A7-3A19-ED76AA08988F}" type="slidenum">
              <a:rPr sz="1050">
                <a:solidFill>
                  <a:srgbClr val="C00000"/>
                </a:solidFill>
                <a:latin typeface="Lato"/>
                <a:ea typeface="Lato"/>
                <a:cs typeface="Lato"/>
              </a:rPr>
              <a:t>6</a:t>
            </a:fld>
            <a:endParaRPr/>
          </a:p>
        </p:txBody>
      </p:sp>
      <p:sp>
        <p:nvSpPr>
          <p:cNvPr id="3" name="Title 2">
            <a:extLst>
              <a:ext uri="{FF2B5EF4-FFF2-40B4-BE49-F238E27FC236}">
                <a16:creationId xmlns:a16="http://schemas.microsoft.com/office/drawing/2014/main" id="{808E8FDB-3335-A8FD-7159-B04A8DBAF48E}"/>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lang="en-US" sz="2700" b="1">
                <a:solidFill>
                  <a:srgbClr val="FFFFFF"/>
                </a:solidFill>
                <a:latin typeface="Lato"/>
                <a:ea typeface="Lato"/>
                <a:cs typeface="Lato"/>
              </a:rPr>
              <a:t>Phân tích toán học</a:t>
            </a:r>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F5A1043A-874D-1553-567C-D9ABE72D57A9}"/>
                  </a:ext>
                </a:extLst>
              </p:cNvPr>
              <p:cNvSpPr txBox="1"/>
              <p:nvPr/>
            </p:nvSpPr>
            <p:spPr>
              <a:xfrm>
                <a:off x="359596" y="965771"/>
                <a:ext cx="8212904" cy="5216493"/>
              </a:xfrm>
              <a:prstGeom prst="rect">
                <a:avLst/>
              </a:prstGeom>
              <a:noFill/>
            </p:spPr>
            <p:txBody>
              <a:bodyPr wrap="square" rtlCol="0">
                <a:spAutoFit/>
              </a:bodyPr>
              <a:lstStyle/>
              <a:p>
                <a:r>
                  <a:rPr lang="en-VN"/>
                  <a:t>Xét đạo hàm theo S (các bước biển đổi đã được rút gọn):</a:t>
                </a:r>
                <a:endParaRPr lang="en-VN">
                  <a:latin typeface="Cambria Math" panose="02040503050406030204" pitchFamily="18" charset="0"/>
                </a:endParaRPr>
              </a:p>
              <a:p>
                <a:pPr/>
                <a14:m>
                  <m:oMathPara xmlns:m="http://schemas.openxmlformats.org/officeDocument/2006/math">
                    <m:oMath>
                      <m:sSub>
                        <m:sSubPr>
                          <m:ctrlPr>
                            <a:rPr lang="en-VN" i="1">
                              <a:latin typeface="Cambria Math" panose="02040503050406030204" pitchFamily="18" charset="0"/>
                            </a:rPr>
                          </m:ctrlPr>
                        </m:sSubPr>
                        <m:e>
                          <m:r>
                            <a:rPr lang="en-VN" i="1">
                              <a:latin typeface="Cambria Math" panose="02040503050406030204" pitchFamily="18" charset="0"/>
                            </a:rPr>
                            <m:t>𝑓</m:t>
                          </m:r>
                        </m:e>
                        <m:sub>
                          <m:r>
                            <a:rPr lang="en-VN" i="1">
                              <a:latin typeface="Cambria Math" panose="02040503050406030204" pitchFamily="18" charset="0"/>
                            </a:rPr>
                            <m:t>𝑖</m:t>
                          </m:r>
                        </m:sub>
                      </m:sSub>
                      <m:d>
                        <m:dPr>
                          <m:ctrlPr>
                            <a:rPr lang="en-VN" i="1">
                              <a:latin typeface="Cambria Math" panose="02040503050406030204" pitchFamily="18" charset="0"/>
                            </a:rPr>
                          </m:ctrlPr>
                        </m:dPr>
                        <m:e>
                          <m:r>
                            <a:rPr lang="en-VN" i="1">
                              <a:latin typeface="Cambria Math" panose="02040503050406030204" pitchFamily="18" charset="0"/>
                            </a:rPr>
                            <m:t>𝑆</m:t>
                          </m:r>
                        </m:e>
                      </m:d>
                      <m:r>
                        <a:rPr lang="en-VN" i="0">
                          <a:latin typeface="Cambria Math" panose="02040503050406030204" pitchFamily="18" charset="0"/>
                        </a:rPr>
                        <m:t>=</m:t>
                      </m:r>
                      <m:func>
                        <m:funcPr>
                          <m:ctrlPr>
                            <a:rPr lang="en-VN" i="1">
                              <a:latin typeface="Cambria Math" panose="02040503050406030204" pitchFamily="18" charset="0"/>
                            </a:rPr>
                          </m:ctrlPr>
                        </m:funcPr>
                        <m:fName>
                          <m:sSub>
                            <m:sSubPr>
                              <m:ctrlPr>
                                <a:rPr lang="en-VN" i="0">
                                  <a:latin typeface="Cambria Math" panose="02040503050406030204" pitchFamily="18" charset="0"/>
                                </a:rPr>
                              </m:ctrlPr>
                            </m:sSubPr>
                            <m:e>
                              <m:r>
                                <m:rPr>
                                  <m:sty m:val="p"/>
                                </m:rPr>
                                <a:rPr lang="en-VN" i="0">
                                  <a:latin typeface="Cambria Math" panose="02040503050406030204" pitchFamily="18" charset="0"/>
                                </a:rPr>
                                <m:t>log</m:t>
                              </m:r>
                            </m:e>
                            <m:sub>
                              <m:r>
                                <a:rPr lang="en-VN" i="0">
                                  <a:latin typeface="Cambria Math" panose="02040503050406030204" pitchFamily="18" charset="0"/>
                                </a:rPr>
                                <m:t>2</m:t>
                              </m:r>
                            </m:sub>
                          </m:sSub>
                        </m:fName>
                        <m:e>
                          <m:d>
                            <m:dPr>
                              <m:ctrlPr>
                                <a:rPr lang="en-VN" i="1">
                                  <a:latin typeface="Cambria Math" panose="02040503050406030204" pitchFamily="18" charset="0"/>
                                </a:rPr>
                              </m:ctrlPr>
                            </m:dPr>
                            <m:e>
                              <m:f>
                                <m:fPr>
                                  <m:ctrlPr>
                                    <a:rPr lang="en-VN" i="0">
                                      <a:latin typeface="Cambria Math" panose="02040503050406030204" pitchFamily="18" charset="0"/>
                                    </a:rPr>
                                  </m:ctrlPr>
                                </m:fPr>
                                <m:num>
                                  <m:r>
                                    <a:rPr lang="en-VN" i="0">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r>
                                    <a:rPr lang="en-VN" i="1">
                                      <a:latin typeface="Cambria Math" panose="02040503050406030204" pitchFamily="18" charset="0"/>
                                    </a:rPr>
                                    <m:t>𝑆</m:t>
                                  </m:r>
                                </m:num>
                                <m:den>
                                  <m:r>
                                    <a:rPr lang="en-VN" i="0">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r>
                                        <a:rPr lang="en-VN" i="0">
                                          <a:latin typeface="Cambria Math" panose="02040503050406030204" pitchFamily="18" charset="0"/>
                                        </a:rPr>
                                        <m:t>−1</m:t>
                                      </m:r>
                                    </m:sub>
                                  </m:sSub>
                                  <m:r>
                                    <a:rPr lang="en-VN" i="1">
                                      <a:latin typeface="Cambria Math" panose="02040503050406030204" pitchFamily="18" charset="0"/>
                                    </a:rPr>
                                    <m:t>𝑆</m:t>
                                  </m:r>
                                </m:den>
                              </m:f>
                            </m:e>
                          </m:d>
                        </m:e>
                      </m:func>
                      <m:r>
                        <a:rPr lang="en-VN" b="0" i="0">
                          <a:latin typeface="Cambria Math" panose="02040503050406030204" pitchFamily="18" charset="0"/>
                        </a:rPr>
                        <m:t>→</m:t>
                      </m:r>
                    </m:oMath>
                  </m:oMathPara>
                </a14:m>
                <a:endParaRPr lang="en-VN" b="0" i="0">
                  <a:latin typeface="Cambria Math" panose="02040503050406030204" pitchFamily="18" charset="0"/>
                </a:endParaRPr>
              </a:p>
              <a:p>
                <a:pPr/>
                <a14:m>
                  <m:oMathPara xmlns:m="http://schemas.openxmlformats.org/officeDocument/2006/math">
                    <m:oMath>
                      <m:eqArr>
                        <m:eqArrPr>
                          <m:ctrlPr>
                            <a:rPr lang="en-VN" b="0" i="1">
                              <a:latin typeface="Cambria Math" panose="02040503050406030204" pitchFamily="18" charset="0"/>
                            </a:rPr>
                          </m:ctrlPr>
                        </m:eqArrPr>
                        <m:e>
                          <m:sSub>
                            <m:sSubPr>
                              <m:ctrlPr>
                                <a:rPr lang="en-VN" b="0" i="0">
                                  <a:latin typeface="Cambria Math" panose="02040503050406030204" pitchFamily="18" charset="0"/>
                                </a:rPr>
                              </m:ctrlPr>
                            </m:sSubPr>
                            <m:e>
                              <m:r>
                                <a:rPr lang="en-VN" b="0" i="0">
                                  <a:latin typeface="Cambria Math" panose="02040503050406030204" pitchFamily="18" charset="0"/>
                                </a:rPr>
                                <m:t>𝑓</m:t>
                              </m:r>
                            </m:e>
                            <m:sub>
                              <m:r>
                                <a:rPr lang="en-VN" b="0" i="0">
                                  <a:latin typeface="Cambria Math" panose="02040503050406030204" pitchFamily="18" charset="0"/>
                                </a:rPr>
                                <m:t>𝑖</m:t>
                              </m:r>
                            </m:sub>
                          </m:sSub>
                          <m:r>
                            <a:rPr lang="en-VN" b="0" i="0">
                              <a:latin typeface="Cambria Math" panose="02040503050406030204" pitchFamily="18" charset="0"/>
                            </a:rPr>
                            <m:t>′</m:t>
                          </m:r>
                          <m:d>
                            <m:dPr>
                              <m:ctrlPr>
                                <a:rPr lang="en-VN" b="0" i="0">
                                  <a:latin typeface="Cambria Math" panose="02040503050406030204" pitchFamily="18" charset="0"/>
                                </a:rPr>
                              </m:ctrlPr>
                            </m:dPr>
                            <m:e>
                              <m:r>
                                <a:rPr lang="en-VN" b="0" i="0">
                                  <a:latin typeface="Cambria Math" panose="02040503050406030204" pitchFamily="18" charset="0"/>
                                </a:rPr>
                                <m:t>𝑆</m:t>
                              </m:r>
                            </m:e>
                          </m:d>
                          <m:r>
                            <m:rPr>
                              <m:aln/>
                            </m:rPr>
                            <a:rPr lang="en-VN" b="0" i="0">
                              <a:latin typeface="Cambria Math" panose="02040503050406030204" pitchFamily="18" charset="0"/>
                            </a:rPr>
                            <m:t>&amp;</m:t>
                          </m:r>
                          <m:r>
                            <a:rPr lang="en-VN" b="0" i="0">
                              <a:latin typeface="Cambria Math" panose="02040503050406030204" pitchFamily="18" charset="0"/>
                            </a:rPr>
                            <m:t>=</m:t>
                          </m:r>
                          <m:f>
                            <m:fPr>
                              <m:ctrlPr>
                                <a:rPr lang="en-VN" i="1">
                                  <a:latin typeface="Cambria Math" panose="02040503050406030204" pitchFamily="18" charset="0"/>
                                </a:rPr>
                              </m:ctrlPr>
                            </m:fPr>
                            <m:num>
                              <m:sSub>
                                <m:sSubPr>
                                  <m:ctrlPr>
                                    <a:rPr lang="en-VN">
                                      <a:latin typeface="Cambria Math" panose="02040503050406030204" pitchFamily="18" charset="0"/>
                                    </a:rPr>
                                  </m:ctrlPr>
                                </m:sSubPr>
                                <m:e>
                                  <m:r>
                                    <a:rPr lang="en-VN">
                                      <a:latin typeface="Cambria Math" panose="02040503050406030204" pitchFamily="18" charset="0"/>
                                    </a:rPr>
                                    <m:t>𝑐</m:t>
                                  </m:r>
                                </m:e>
                                <m:sub>
                                  <m:r>
                                    <a:rPr lang="en-VN">
                                      <a:latin typeface="Cambria Math" panose="02040503050406030204" pitchFamily="18" charset="0"/>
                                    </a:rPr>
                                    <m:t>𝑖</m:t>
                                  </m:r>
                                </m:sub>
                              </m:sSub>
                              <m:r>
                                <a:rPr lang="en-VN">
                                  <a:latin typeface="Cambria Math" panose="02040503050406030204" pitchFamily="18" charset="0"/>
                                </a:rPr>
                                <m:t>−</m:t>
                              </m:r>
                              <m:sSub>
                                <m:sSubPr>
                                  <m:ctrlPr>
                                    <a:rPr lang="en-VN">
                                      <a:latin typeface="Cambria Math" panose="02040503050406030204" pitchFamily="18" charset="0"/>
                                    </a:rPr>
                                  </m:ctrlPr>
                                </m:sSubPr>
                                <m:e>
                                  <m:r>
                                    <a:rPr lang="en-VN">
                                      <a:latin typeface="Cambria Math" panose="02040503050406030204" pitchFamily="18" charset="0"/>
                                    </a:rPr>
                                    <m:t>𝑐</m:t>
                                  </m:r>
                                </m:e>
                                <m:sub>
                                  <m:r>
                                    <a:rPr lang="en-VN">
                                      <a:latin typeface="Cambria Math" panose="02040503050406030204" pitchFamily="18" charset="0"/>
                                    </a:rPr>
                                    <m:t>𝑖</m:t>
                                  </m:r>
                                  <m:r>
                                    <a:rPr lang="en-VN">
                                      <a:latin typeface="Cambria Math" panose="02040503050406030204" pitchFamily="18" charset="0"/>
                                    </a:rPr>
                                    <m:t>−1</m:t>
                                  </m:r>
                                </m:sub>
                              </m:sSub>
                            </m:num>
                            <m:den>
                              <m:func>
                                <m:funcPr>
                                  <m:ctrlPr>
                                    <a:rPr lang="en-VN">
                                      <a:latin typeface="Cambria Math" panose="02040503050406030204" pitchFamily="18" charset="0"/>
                                    </a:rPr>
                                  </m:ctrlPr>
                                </m:funcPr>
                                <m:fName>
                                  <m:r>
                                    <m:rPr>
                                      <m:sty m:val="p"/>
                                    </m:rPr>
                                    <a:rPr lang="en-VN">
                                      <a:latin typeface="Cambria Math" panose="02040503050406030204" pitchFamily="18" charset="0"/>
                                    </a:rPr>
                                    <m:t>ln</m:t>
                                  </m:r>
                                </m:fName>
                                <m:e>
                                  <m:r>
                                    <a:rPr lang="en-VN">
                                      <a:latin typeface="Cambria Math" panose="02040503050406030204" pitchFamily="18" charset="0"/>
                                    </a:rPr>
                                    <m:t>2</m:t>
                                  </m:r>
                                </m:e>
                              </m:func>
                              <m:r>
                                <a:rPr lang="en-VN">
                                  <a:latin typeface="Cambria Math" panose="02040503050406030204" pitchFamily="18" charset="0"/>
                                </a:rPr>
                                <m:t> </m:t>
                              </m:r>
                              <m:d>
                                <m:dPr>
                                  <m:ctrlPr>
                                    <a:rPr lang="en-VN">
                                      <a:latin typeface="Cambria Math" panose="02040503050406030204" pitchFamily="18" charset="0"/>
                                    </a:rPr>
                                  </m:ctrlPr>
                                </m:dPr>
                                <m:e>
                                  <m:r>
                                    <a:rPr lang="en-VN">
                                      <a:latin typeface="Cambria Math" panose="02040503050406030204" pitchFamily="18" charset="0"/>
                                    </a:rPr>
                                    <m:t>1+</m:t>
                                  </m:r>
                                  <m:sSub>
                                    <m:sSubPr>
                                      <m:ctrlPr>
                                        <a:rPr lang="en-VN">
                                          <a:latin typeface="Cambria Math" panose="02040503050406030204" pitchFamily="18" charset="0"/>
                                        </a:rPr>
                                      </m:ctrlPr>
                                    </m:sSubPr>
                                    <m:e>
                                      <m:r>
                                        <a:rPr lang="en-VN">
                                          <a:latin typeface="Cambria Math" panose="02040503050406030204" pitchFamily="18" charset="0"/>
                                        </a:rPr>
                                        <m:t>𝑐</m:t>
                                      </m:r>
                                    </m:e>
                                    <m:sub>
                                      <m:r>
                                        <a:rPr lang="en-VN">
                                          <a:latin typeface="Cambria Math" panose="02040503050406030204" pitchFamily="18" charset="0"/>
                                        </a:rPr>
                                        <m:t>𝑖</m:t>
                                      </m:r>
                                    </m:sub>
                                  </m:sSub>
                                  <m:r>
                                    <a:rPr lang="en-VN">
                                      <a:latin typeface="Cambria Math" panose="02040503050406030204" pitchFamily="18" charset="0"/>
                                    </a:rPr>
                                    <m:t>𝑆</m:t>
                                  </m:r>
                                </m:e>
                              </m:d>
                              <m:d>
                                <m:dPr>
                                  <m:ctrlPr>
                                    <a:rPr lang="en-VN">
                                      <a:latin typeface="Cambria Math" panose="02040503050406030204" pitchFamily="18" charset="0"/>
                                    </a:rPr>
                                  </m:ctrlPr>
                                </m:dPr>
                                <m:e>
                                  <m:r>
                                    <a:rPr lang="en-VN">
                                      <a:latin typeface="Cambria Math" panose="02040503050406030204" pitchFamily="18" charset="0"/>
                                    </a:rPr>
                                    <m:t>1+</m:t>
                                  </m:r>
                                  <m:sSub>
                                    <m:sSubPr>
                                      <m:ctrlPr>
                                        <a:rPr lang="en-VN">
                                          <a:latin typeface="Cambria Math" panose="02040503050406030204" pitchFamily="18" charset="0"/>
                                        </a:rPr>
                                      </m:ctrlPr>
                                    </m:sSubPr>
                                    <m:e>
                                      <m:r>
                                        <a:rPr lang="en-VN">
                                          <a:latin typeface="Cambria Math" panose="02040503050406030204" pitchFamily="18" charset="0"/>
                                        </a:rPr>
                                        <m:t>𝑐</m:t>
                                      </m:r>
                                    </m:e>
                                    <m:sub>
                                      <m:r>
                                        <a:rPr lang="en-VN">
                                          <a:latin typeface="Cambria Math" panose="02040503050406030204" pitchFamily="18" charset="0"/>
                                        </a:rPr>
                                        <m:t>𝑖</m:t>
                                      </m:r>
                                      <m:r>
                                        <a:rPr lang="en-VN">
                                          <a:latin typeface="Cambria Math" panose="02040503050406030204" pitchFamily="18" charset="0"/>
                                        </a:rPr>
                                        <m:t>−1</m:t>
                                      </m:r>
                                    </m:sub>
                                  </m:sSub>
                                  <m:r>
                                    <a:rPr lang="en-VN">
                                      <a:latin typeface="Cambria Math" panose="02040503050406030204" pitchFamily="18" charset="0"/>
                                    </a:rPr>
                                    <m:t>𝑆</m:t>
                                  </m:r>
                                </m:e>
                              </m:d>
                            </m:den>
                          </m:f>
                        </m:e>
                        <m:e>
                          <m:r>
                            <a:rPr lang="en-VN" b="0" i="0">
                              <a:latin typeface="Cambria Math" panose="02040503050406030204" pitchFamily="18" charset="0"/>
                            </a:rPr>
                            <m:t>.</m:t>
                          </m:r>
                        </m:e>
                      </m:eqArr>
                    </m:oMath>
                  </m:oMathPara>
                </a14:m>
                <a:endParaRPr lang="en-VN"/>
              </a:p>
              <a:p>
                <a:r>
                  <a:rPr lang="en-VN"/>
                  <a:t>Dễ thấy </a:t>
                </a:r>
                <a14:m>
                  <m:oMath xmlns:m="http://schemas.openxmlformats.org/officeDocument/2006/math">
                    <m:sSub>
                      <m:sSubPr>
                        <m:ctrlPr>
                          <a:rPr lang="en-VN">
                            <a:latin typeface="Cambria Math" panose="02040503050406030204" pitchFamily="18" charset="0"/>
                          </a:rPr>
                        </m:ctrlPr>
                      </m:sSubPr>
                      <m:e>
                        <m:r>
                          <a:rPr lang="en-VN">
                            <a:latin typeface="Cambria Math" panose="02040503050406030204" pitchFamily="18" charset="0"/>
                          </a:rPr>
                          <m:t>𝑐</m:t>
                        </m:r>
                      </m:e>
                      <m:sub>
                        <m:r>
                          <a:rPr lang="en-VN">
                            <a:latin typeface="Cambria Math" panose="02040503050406030204" pitchFamily="18" charset="0"/>
                          </a:rPr>
                          <m:t>𝑖</m:t>
                        </m:r>
                      </m:sub>
                    </m:sSub>
                    <m:r>
                      <a:rPr lang="en-VN">
                        <a:latin typeface="Cambria Math" panose="02040503050406030204" pitchFamily="18" charset="0"/>
                        <a:ea typeface="Cambria Math" panose="02040503050406030204" pitchFamily="18" charset="0"/>
                      </a:rPr>
                      <m:t>≥</m:t>
                    </m:r>
                    <m:sSub>
                      <m:sSubPr>
                        <m:ctrlPr>
                          <a:rPr lang="en-VN">
                            <a:latin typeface="Cambria Math" panose="02040503050406030204" pitchFamily="18" charset="0"/>
                          </a:rPr>
                        </m:ctrlPr>
                      </m:sSubPr>
                      <m:e>
                        <m:r>
                          <a:rPr lang="en-VN">
                            <a:latin typeface="Cambria Math" panose="02040503050406030204" pitchFamily="18" charset="0"/>
                          </a:rPr>
                          <m:t>𝑐</m:t>
                        </m:r>
                      </m:e>
                      <m:sub>
                        <m:r>
                          <a:rPr lang="en-VN">
                            <a:latin typeface="Cambria Math" panose="02040503050406030204" pitchFamily="18" charset="0"/>
                          </a:rPr>
                          <m:t>𝑖</m:t>
                        </m:r>
                        <m:r>
                          <a:rPr lang="en-VN">
                            <a:latin typeface="Cambria Math" panose="02040503050406030204" pitchFamily="18" charset="0"/>
                          </a:rPr>
                          <m:t>−1</m:t>
                        </m:r>
                      </m:sub>
                    </m:sSub>
                  </m:oMath>
                </a14:m>
                <a:r>
                  <a:rPr lang="en-VN"/>
                  <a:t> do</a:t>
                </a:r>
                <a14:m>
                  <m:oMath xmlns:m="http://schemas.openxmlformats.org/officeDocument/2006/math">
                    <m:sSub>
                      <m:sSubPr>
                        <m:ctrlPr>
                          <a:rPr lang="en-VN" b="0" i="0">
                            <a:latin typeface="Cambria Math" panose="02040503050406030204" pitchFamily="18" charset="0"/>
                          </a:rPr>
                        </m:ctrlPr>
                      </m:sSubPr>
                      <m:e>
                        <m:r>
                          <a:rPr lang="en-VN" b="0" i="0">
                            <a:latin typeface="Cambria Math" panose="02040503050406030204" pitchFamily="18" charset="0"/>
                          </a:rPr>
                          <m:t> </m:t>
                        </m:r>
                        <m:r>
                          <m:rPr>
                            <m:sty m:val="p"/>
                          </m:rPr>
                          <a:rPr lang="en-VN" b="0" i="0">
                            <a:latin typeface="Cambria Math" panose="02040503050406030204" pitchFamily="18" charset="0"/>
                          </a:rPr>
                          <m:t>g</m:t>
                        </m:r>
                      </m:e>
                      <m:sub>
                        <m:r>
                          <a:rPr lang="en-VN">
                            <a:latin typeface="Cambria Math" panose="02040503050406030204" pitchFamily="18" charset="0"/>
                          </a:rPr>
                          <m:t>𝑖</m:t>
                        </m:r>
                      </m:sub>
                    </m:sSub>
                    <m:r>
                      <a:rPr lang="en-VN">
                        <a:latin typeface="Cambria Math" panose="02040503050406030204" pitchFamily="18" charset="0"/>
                        <a:ea typeface="Cambria Math" panose="02040503050406030204" pitchFamily="18" charset="0"/>
                      </a:rPr>
                      <m:t>≥</m:t>
                    </m:r>
                    <m:sSub>
                      <m:sSubPr>
                        <m:ctrlPr>
                          <a:rPr lang="en-VN" b="0" i="0">
                            <a:latin typeface="Cambria Math" panose="02040503050406030204" pitchFamily="18" charset="0"/>
                          </a:rPr>
                        </m:ctrlPr>
                      </m:sSubPr>
                      <m:e>
                        <m:r>
                          <m:rPr>
                            <m:sty m:val="p"/>
                          </m:rPr>
                          <a:rPr lang="en-VN" b="0" i="0">
                            <a:latin typeface="Cambria Math" panose="02040503050406030204" pitchFamily="18" charset="0"/>
                          </a:rPr>
                          <m:t>g</m:t>
                        </m:r>
                      </m:e>
                      <m:sub>
                        <m:r>
                          <a:rPr lang="en-VN">
                            <a:latin typeface="Cambria Math" panose="02040503050406030204" pitchFamily="18" charset="0"/>
                          </a:rPr>
                          <m:t>𝑖</m:t>
                        </m:r>
                        <m:r>
                          <a:rPr lang="en-VN">
                            <a:latin typeface="Cambria Math" panose="02040503050406030204" pitchFamily="18" charset="0"/>
                          </a:rPr>
                          <m:t>−1</m:t>
                        </m:r>
                      </m:sub>
                    </m:sSub>
                  </m:oMath>
                </a14:m>
                <a:r>
                  <a:rPr lang="en-VN"/>
                  <a:t>. Suy ra </a:t>
                </a:r>
                <a14:m>
                  <m:oMath xmlns:m="http://schemas.openxmlformats.org/officeDocument/2006/math">
                    <m:sSub>
                      <m:sSubPr>
                        <m:ctrlPr>
                          <a:rPr lang="en-VN">
                            <a:latin typeface="Cambria Math" panose="02040503050406030204" pitchFamily="18" charset="0"/>
                          </a:rPr>
                        </m:ctrlPr>
                      </m:sSubPr>
                      <m:e>
                        <m:r>
                          <a:rPr lang="en-VN">
                            <a:latin typeface="Cambria Math" panose="02040503050406030204" pitchFamily="18" charset="0"/>
                          </a:rPr>
                          <m:t>𝑓</m:t>
                        </m:r>
                      </m:e>
                      <m:sub>
                        <m:r>
                          <a:rPr lang="en-VN">
                            <a:latin typeface="Cambria Math" panose="02040503050406030204" pitchFamily="18" charset="0"/>
                          </a:rPr>
                          <m:t>𝑖</m:t>
                        </m:r>
                      </m:sub>
                    </m:sSub>
                    <m:r>
                      <a:rPr lang="en-VN">
                        <a:latin typeface="Cambria Math" panose="02040503050406030204" pitchFamily="18" charset="0"/>
                      </a:rPr>
                      <m:t>′</m:t>
                    </m:r>
                    <m:d>
                      <m:dPr>
                        <m:ctrlPr>
                          <a:rPr lang="en-VN">
                            <a:latin typeface="Cambria Math" panose="02040503050406030204" pitchFamily="18" charset="0"/>
                          </a:rPr>
                        </m:ctrlPr>
                      </m:dPr>
                      <m:e>
                        <m:r>
                          <a:rPr lang="en-VN">
                            <a:latin typeface="Cambria Math" panose="02040503050406030204" pitchFamily="18" charset="0"/>
                          </a:rPr>
                          <m:t>𝑆</m:t>
                        </m:r>
                      </m:e>
                    </m:d>
                    <m:r>
                      <a:rPr lang="en-VN" i="1">
                        <a:latin typeface="Cambria Math" panose="02040503050406030204" pitchFamily="18" charset="0"/>
                        <a:ea typeface="Cambria Math" panose="02040503050406030204" pitchFamily="18" charset="0"/>
                      </a:rPr>
                      <m:t>≥</m:t>
                    </m:r>
                    <m:r>
                      <a:rPr lang="en-VN" b="0" i="1">
                        <a:latin typeface="Cambria Math" panose="02040503050406030204" pitchFamily="18" charset="0"/>
                        <a:ea typeface="Cambria Math" panose="02040503050406030204" pitchFamily="18" charset="0"/>
                      </a:rPr>
                      <m:t>0</m:t>
                    </m:r>
                  </m:oMath>
                </a14:m>
                <a:r>
                  <a:rPr lang="en-VN"/>
                  <a:t>.</a:t>
                </a:r>
              </a:p>
              <a:p>
                <a:endParaRPr lang="en-VN"/>
              </a:p>
              <a:p>
                <a:r>
                  <a:rPr lang="en-VN" b="1"/>
                  <a:t>Tức là mỗi số hạng </a:t>
                </a:r>
                <a14:m>
                  <m:oMath xmlns:m="http://schemas.openxmlformats.org/officeDocument/2006/math">
                    <m:sSub>
                      <m:sSubPr>
                        <m:ctrlPr>
                          <a:rPr lang="en-VN" b="1" i="1">
                            <a:latin typeface="Cambria Math" panose="02040503050406030204" pitchFamily="18" charset="0"/>
                          </a:rPr>
                        </m:ctrlPr>
                      </m:sSubPr>
                      <m:e>
                        <m:r>
                          <a:rPr lang="en-VN" b="1" i="1">
                            <a:latin typeface="Cambria Math" panose="02040503050406030204" pitchFamily="18" charset="0"/>
                          </a:rPr>
                          <m:t>𝒇</m:t>
                        </m:r>
                      </m:e>
                      <m:sub>
                        <m:r>
                          <a:rPr lang="en-VN" b="1" i="1">
                            <a:latin typeface="Cambria Math" panose="02040503050406030204" pitchFamily="18" charset="0"/>
                          </a:rPr>
                          <m:t>𝒊</m:t>
                        </m:r>
                      </m:sub>
                    </m:sSub>
                    <m:d>
                      <m:dPr>
                        <m:ctrlPr>
                          <a:rPr lang="en-VN" b="1" i="1">
                            <a:latin typeface="Cambria Math" panose="02040503050406030204" pitchFamily="18" charset="0"/>
                          </a:rPr>
                        </m:ctrlPr>
                      </m:dPr>
                      <m:e>
                        <m:r>
                          <a:rPr lang="en-VN" b="1" i="1">
                            <a:latin typeface="Cambria Math" panose="02040503050406030204" pitchFamily="18" charset="0"/>
                          </a:rPr>
                          <m:t>𝑺</m:t>
                        </m:r>
                      </m:e>
                    </m:d>
                  </m:oMath>
                </a14:m>
                <a:r>
                  <a:rPr lang="en-VN" b="1"/>
                  <a:t> đồng biến theo Si. </a:t>
                </a:r>
              </a:p>
              <a:p>
                <a:endParaRPr lang="en-VN"/>
              </a:p>
              <a:p>
                <a:r>
                  <a:rPr lang="en-VN"/>
                  <a:t> Ta có </a:t>
                </a:r>
                <a14:m>
                  <m:oMath xmlns:m="http://schemas.openxmlformats.org/officeDocument/2006/math">
                    <m:sSub>
                      <m:sSubPr>
                        <m:ctrlPr>
                          <a:rPr lang="en-VN" b="1" i="1">
                            <a:latin typeface="Cambria Math" panose="02040503050406030204" pitchFamily="18" charset="0"/>
                          </a:rPr>
                        </m:ctrlPr>
                      </m:sSubPr>
                      <m:e>
                        <m:sSub>
                          <m:sSubPr>
                            <m:ctrlPr>
                              <a:rPr lang="en-VN" b="1" i="1">
                                <a:latin typeface="Cambria Math" panose="02040503050406030204" pitchFamily="18" charset="0"/>
                              </a:rPr>
                            </m:ctrlPr>
                          </m:sSubPr>
                          <m:e>
                            <m:r>
                              <a:rPr lang="en-VN" b="1" i="1">
                                <a:latin typeface="Cambria Math" panose="02040503050406030204" pitchFamily="18" charset="0"/>
                              </a:rPr>
                              <m:t>𝑺</m:t>
                            </m:r>
                          </m:e>
                          <m:sub>
                            <m:r>
                              <a:rPr lang="en-VN" b="1" i="1">
                                <a:latin typeface="Cambria Math" panose="02040503050406030204" pitchFamily="18" charset="0"/>
                              </a:rPr>
                              <m:t>𝒊</m:t>
                            </m:r>
                          </m:sub>
                        </m:sSub>
                        <m:r>
                          <a:rPr lang="en-VN" b="1" i="1">
                            <a:latin typeface="Cambria Math" panose="02040503050406030204" pitchFamily="18" charset="0"/>
                            <a:ea typeface="Cambria Math" panose="02040503050406030204" pitchFamily="18" charset="0"/>
                          </a:rPr>
                          <m:t>≤</m:t>
                        </m:r>
                        <m:f>
                          <m:fPr>
                            <m:ctrlPr>
                              <a:rPr lang="en-VN" b="1" i="1">
                                <a:latin typeface="Cambria Math" panose="02040503050406030204" pitchFamily="18" charset="0"/>
                                <a:ea typeface="Cambria Math" panose="02040503050406030204" pitchFamily="18" charset="0"/>
                              </a:rPr>
                            </m:ctrlPr>
                          </m:fPr>
                          <m:num>
                            <m:r>
                              <a:rPr lang="en-VN" b="1" i="1">
                                <a:latin typeface="Cambria Math" panose="02040503050406030204" pitchFamily="18" charset="0"/>
                                <a:ea typeface="Cambria Math" panose="02040503050406030204" pitchFamily="18" charset="0"/>
                              </a:rPr>
                              <m:t>𝑵</m:t>
                            </m:r>
                            <m:r>
                              <a:rPr lang="en-VN" b="1" i="1">
                                <a:latin typeface="Cambria Math" panose="02040503050406030204" pitchFamily="18" charset="0"/>
                                <a:ea typeface="Cambria Math" panose="02040503050406030204" pitchFamily="18" charset="0"/>
                              </a:rPr>
                              <m:t>−</m:t>
                            </m:r>
                            <m:r>
                              <a:rPr lang="en-VN" b="1" i="1">
                                <a:latin typeface="Cambria Math" panose="02040503050406030204" pitchFamily="18" charset="0"/>
                                <a:ea typeface="Cambria Math" panose="02040503050406030204" pitchFamily="18" charset="0"/>
                              </a:rPr>
                              <m:t>𝒊</m:t>
                            </m:r>
                            <m:r>
                              <a:rPr lang="en-VN" b="1" i="1">
                                <a:latin typeface="Cambria Math" panose="02040503050406030204" pitchFamily="18" charset="0"/>
                                <a:ea typeface="Cambria Math" panose="02040503050406030204" pitchFamily="18" charset="0"/>
                              </a:rPr>
                              <m:t>+</m:t>
                            </m:r>
                            <m:r>
                              <a:rPr lang="en-VN" b="1" i="1">
                                <a:latin typeface="Cambria Math" panose="02040503050406030204" pitchFamily="18" charset="0"/>
                                <a:ea typeface="Cambria Math" panose="02040503050406030204" pitchFamily="18" charset="0"/>
                              </a:rPr>
                              <m:t>𝟏</m:t>
                            </m:r>
                          </m:num>
                          <m:den>
                            <m:r>
                              <a:rPr lang="en-VN" b="1" i="1">
                                <a:latin typeface="Cambria Math" panose="02040503050406030204" pitchFamily="18" charset="0"/>
                                <a:ea typeface="Cambria Math" panose="02040503050406030204" pitchFamily="18" charset="0"/>
                              </a:rPr>
                              <m:t>𝑵</m:t>
                            </m:r>
                          </m:den>
                        </m:f>
                        <m:r>
                          <a:rPr lang="en-VN" b="1" i="1">
                            <a:latin typeface="Cambria Math" panose="02040503050406030204" pitchFamily="18" charset="0"/>
                            <a:ea typeface="Cambria Math" panose="02040503050406030204" pitchFamily="18" charset="0"/>
                          </a:rPr>
                          <m:t>⇒</m:t>
                        </m:r>
                        <m:r>
                          <a:rPr lang="en-VN" i="1">
                            <a:latin typeface="Cambria Math" panose="02040503050406030204" pitchFamily="18" charset="0"/>
                          </a:rPr>
                          <m:t>𝑓</m:t>
                        </m:r>
                      </m:e>
                      <m:sub>
                        <m:r>
                          <a:rPr lang="en-VN" i="1">
                            <a:latin typeface="Cambria Math" panose="02040503050406030204" pitchFamily="18" charset="0"/>
                          </a:rPr>
                          <m:t>𝑖</m:t>
                        </m:r>
                      </m:sub>
                    </m:sSub>
                    <m:d>
                      <m:dPr>
                        <m:ctrlPr>
                          <a:rPr lang="en-VN" b="0" i="1">
                            <a:latin typeface="Cambria Math" panose="02040503050406030204" pitchFamily="18" charset="0"/>
                          </a:rPr>
                        </m:ctrlPr>
                      </m:dPr>
                      <m:e>
                        <m:sSub>
                          <m:sSubPr>
                            <m:ctrlPr>
                              <a:rPr lang="en-VN" b="0" i="1">
                                <a:latin typeface="Cambria Math" panose="02040503050406030204" pitchFamily="18" charset="0"/>
                              </a:rPr>
                            </m:ctrlPr>
                          </m:sSubPr>
                          <m:e>
                            <m:r>
                              <a:rPr lang="en-VN" b="0" i="1">
                                <a:latin typeface="Cambria Math" panose="02040503050406030204" pitchFamily="18" charset="0"/>
                              </a:rPr>
                              <m:t>𝑆</m:t>
                            </m:r>
                          </m:e>
                          <m:sub>
                            <m:r>
                              <a:rPr lang="en-VN" b="0" i="1">
                                <a:latin typeface="Cambria Math" panose="02040503050406030204" pitchFamily="18" charset="0"/>
                              </a:rPr>
                              <m:t>𝑖</m:t>
                            </m:r>
                          </m:sub>
                        </m:sSub>
                      </m:e>
                    </m:d>
                    <m:r>
                      <a:rPr lang="en-VN" b="0" i="1">
                        <a:latin typeface="Cambria Math" panose="02040503050406030204" pitchFamily="18" charset="0"/>
                      </a:rPr>
                      <m:t>≤</m:t>
                    </m:r>
                  </m:oMath>
                </a14:m>
                <a:r>
                  <a:rPr lang="en-VN"/>
                  <a:t> </a:t>
                </a:r>
                <a14:m>
                  <m:oMath xmlns:m="http://schemas.openxmlformats.org/officeDocument/2006/math">
                    <m:sSub>
                      <m:sSubPr>
                        <m:ctrlPr>
                          <a:rPr lang="en-VN" i="1">
                            <a:latin typeface="Cambria Math" panose="02040503050406030204" pitchFamily="18" charset="0"/>
                          </a:rPr>
                        </m:ctrlPr>
                      </m:sSubPr>
                      <m:e>
                        <m:r>
                          <a:rPr lang="en-VN" i="1">
                            <a:latin typeface="Cambria Math" panose="02040503050406030204" pitchFamily="18" charset="0"/>
                          </a:rPr>
                          <m:t>𝑓</m:t>
                        </m:r>
                      </m:e>
                      <m:sub>
                        <m:r>
                          <a:rPr lang="en-VN" i="1">
                            <a:latin typeface="Cambria Math" panose="02040503050406030204" pitchFamily="18" charset="0"/>
                          </a:rPr>
                          <m:t>𝑖</m:t>
                        </m:r>
                      </m:sub>
                    </m:sSub>
                    <m:d>
                      <m:dPr>
                        <m:ctrlPr>
                          <a:rPr lang="en-VN" b="1" i="1">
                            <a:latin typeface="Cambria Math" panose="02040503050406030204" pitchFamily="18" charset="0"/>
                            <a:ea typeface="Cambria Math" panose="02040503050406030204" pitchFamily="18" charset="0"/>
                          </a:rPr>
                        </m:ctrlPr>
                      </m:dPr>
                      <m:e>
                        <m:f>
                          <m:fPr>
                            <m:ctrlPr>
                              <a:rPr lang="en-VN" b="1" i="1">
                                <a:latin typeface="Cambria Math" panose="02040503050406030204" pitchFamily="18" charset="0"/>
                                <a:ea typeface="Cambria Math" panose="02040503050406030204" pitchFamily="18" charset="0"/>
                              </a:rPr>
                            </m:ctrlPr>
                          </m:fPr>
                          <m:num>
                            <m:r>
                              <a:rPr lang="en-VN" b="1" i="1">
                                <a:latin typeface="Cambria Math" panose="02040503050406030204" pitchFamily="18" charset="0"/>
                                <a:ea typeface="Cambria Math" panose="02040503050406030204" pitchFamily="18" charset="0"/>
                              </a:rPr>
                              <m:t>𝑵</m:t>
                            </m:r>
                            <m:r>
                              <a:rPr lang="en-VN" b="1" i="1">
                                <a:latin typeface="Cambria Math" panose="02040503050406030204" pitchFamily="18" charset="0"/>
                                <a:ea typeface="Cambria Math" panose="02040503050406030204" pitchFamily="18" charset="0"/>
                              </a:rPr>
                              <m:t>−</m:t>
                            </m:r>
                            <m:r>
                              <a:rPr lang="en-VN" b="1" i="1">
                                <a:latin typeface="Cambria Math" panose="02040503050406030204" pitchFamily="18" charset="0"/>
                                <a:ea typeface="Cambria Math" panose="02040503050406030204" pitchFamily="18" charset="0"/>
                              </a:rPr>
                              <m:t>𝒊</m:t>
                            </m:r>
                            <m:r>
                              <a:rPr lang="en-VN" b="1" i="1">
                                <a:latin typeface="Cambria Math" panose="02040503050406030204" pitchFamily="18" charset="0"/>
                                <a:ea typeface="Cambria Math" panose="02040503050406030204" pitchFamily="18" charset="0"/>
                              </a:rPr>
                              <m:t>+</m:t>
                            </m:r>
                            <m:r>
                              <a:rPr lang="en-VN" b="1" i="1">
                                <a:latin typeface="Cambria Math" panose="02040503050406030204" pitchFamily="18" charset="0"/>
                                <a:ea typeface="Cambria Math" panose="02040503050406030204" pitchFamily="18" charset="0"/>
                              </a:rPr>
                              <m:t>𝟏</m:t>
                            </m:r>
                          </m:num>
                          <m:den>
                            <m:r>
                              <a:rPr lang="en-VN" b="1" i="1">
                                <a:latin typeface="Cambria Math" panose="02040503050406030204" pitchFamily="18" charset="0"/>
                                <a:ea typeface="Cambria Math" panose="02040503050406030204" pitchFamily="18" charset="0"/>
                              </a:rPr>
                              <m:t>𝑵</m:t>
                            </m:r>
                          </m:den>
                        </m:f>
                      </m:e>
                    </m:d>
                  </m:oMath>
                </a14:m>
                <a:endParaRPr lang="en-VN"/>
              </a:p>
              <a:p>
                <a:r>
                  <a:rPr lang="en-VN"/>
                  <a:t>Thay vào </a:t>
                </a:r>
                <a14:m>
                  <m:oMath xmlns:m="http://schemas.openxmlformats.org/officeDocument/2006/math">
                    <m:borderBox>
                      <m:borderBoxPr>
                        <m:ctrlPr>
                          <a:rPr lang="en-VN" i="1">
                            <a:latin typeface="Cambria Math" panose="02040503050406030204" pitchFamily="18" charset="0"/>
                          </a:rPr>
                        </m:ctrlPr>
                      </m:borderBoxPr>
                      <m:e>
                        <m:f>
                          <m:fPr>
                            <m:ctrlPr>
                              <a:rPr lang="en-VN" i="1">
                                <a:latin typeface="Cambria Math" panose="02040503050406030204" pitchFamily="18" charset="0"/>
                              </a:rPr>
                            </m:ctrlPr>
                          </m:fPr>
                          <m:num>
                            <m:sSub>
                              <m:sSubPr>
                                <m:ctrlPr>
                                  <a:rPr lang="en-VN" i="1">
                                    <a:latin typeface="Cambria Math" panose="02040503050406030204" pitchFamily="18" charset="0"/>
                                  </a:rPr>
                                </m:ctrlPr>
                              </m:sSubPr>
                              <m:e>
                                <m:r>
                                  <a:rPr lang="en-VN" i="1">
                                    <a:latin typeface="Cambria Math" panose="02040503050406030204" pitchFamily="18" charset="0"/>
                                  </a:rPr>
                                  <m:t>𝑅</m:t>
                                </m:r>
                              </m:e>
                              <m:sub>
                                <m:r>
                                  <m:rPr>
                                    <m:sty m:val="p"/>
                                  </m:rPr>
                                  <a:rPr lang="en-VN">
                                    <a:latin typeface="Cambria Math" panose="02040503050406030204" pitchFamily="18" charset="0"/>
                                  </a:rPr>
                                  <m:t>sum</m:t>
                                </m:r>
                              </m:sub>
                            </m:sSub>
                          </m:num>
                          <m:den>
                            <m:r>
                              <a:rPr lang="en-VN" i="1">
                                <a:latin typeface="Cambria Math" panose="02040503050406030204" pitchFamily="18" charset="0"/>
                              </a:rPr>
                              <m:t>𝐵</m:t>
                            </m:r>
                          </m:den>
                        </m:f>
                        <m:r>
                          <a:rPr lang="en-VN">
                            <a:latin typeface="Cambria Math" panose="02040503050406030204" pitchFamily="18" charset="0"/>
                          </a:rPr>
                          <m:t>=</m:t>
                        </m:r>
                        <m:func>
                          <m:funcPr>
                            <m:ctrlPr>
                              <a:rPr lang="en-VN" i="1">
                                <a:latin typeface="Cambria Math" panose="02040503050406030204" pitchFamily="18" charset="0"/>
                              </a:rPr>
                            </m:ctrlPr>
                          </m:funcPr>
                          <m:fName>
                            <m:sSub>
                              <m:sSubPr>
                                <m:ctrlPr>
                                  <a:rPr lang="en-VN">
                                    <a:latin typeface="Cambria Math" panose="02040503050406030204" pitchFamily="18" charset="0"/>
                                  </a:rPr>
                                </m:ctrlPr>
                              </m:sSubPr>
                              <m:e>
                                <m:r>
                                  <m:rPr>
                                    <m:sty m:val="p"/>
                                  </m:rPr>
                                  <a:rPr lang="en-VN">
                                    <a:latin typeface="Cambria Math" panose="02040503050406030204" pitchFamily="18" charset="0"/>
                                  </a:rPr>
                                  <m:t>log</m:t>
                                </m:r>
                              </m:e>
                              <m:sub>
                                <m:r>
                                  <a:rPr lang="en-VN">
                                    <a:latin typeface="Cambria Math" panose="02040503050406030204" pitchFamily="18" charset="0"/>
                                  </a:rPr>
                                  <m:t>2</m:t>
                                </m:r>
                              </m:sub>
                            </m:sSub>
                          </m:fName>
                          <m:e>
                            <m:d>
                              <m:dPr>
                                <m:ctrlPr>
                                  <a:rPr lang="en-VN">
                                    <a:latin typeface="Cambria Math" panose="02040503050406030204" pitchFamily="18" charset="0"/>
                                  </a:rPr>
                                </m:ctrlPr>
                              </m:dPr>
                              <m:e>
                                <m:r>
                                  <a:rPr lang="en-VN">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a:latin typeface="Cambria Math" panose="02040503050406030204" pitchFamily="18" charset="0"/>
                                      </a:rPr>
                                      <m:t>1</m:t>
                                    </m:r>
                                  </m:sub>
                                </m:sSub>
                              </m:e>
                            </m:d>
                          </m:e>
                        </m:func>
                        <m:r>
                          <a:rPr lang="en-VN">
                            <a:latin typeface="Cambria Math" panose="02040503050406030204" pitchFamily="18" charset="0"/>
                          </a:rPr>
                          <m:t>+</m:t>
                        </m:r>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𝑖</m:t>
                            </m:r>
                            <m:r>
                              <a:rPr lang="en-VN">
                                <a:latin typeface="Cambria Math" panose="02040503050406030204" pitchFamily="18" charset="0"/>
                              </a:rPr>
                              <m:t>=2</m:t>
                            </m:r>
                          </m:sub>
                          <m:sup>
                            <m:r>
                              <a:rPr lang="en-VN" i="1">
                                <a:latin typeface="Cambria Math" panose="02040503050406030204" pitchFamily="18" charset="0"/>
                              </a:rPr>
                              <m:t>𝑁</m:t>
                            </m:r>
                          </m:sup>
                          <m:e>
                            <m:func>
                              <m:funcPr>
                                <m:ctrlPr>
                                  <a:rPr lang="en-VN" i="1">
                                    <a:latin typeface="Cambria Math" panose="02040503050406030204" pitchFamily="18" charset="0"/>
                                  </a:rPr>
                                </m:ctrlPr>
                              </m:funcPr>
                              <m:fName>
                                <m:sSub>
                                  <m:sSubPr>
                                    <m:ctrlPr>
                                      <a:rPr lang="en-VN">
                                        <a:latin typeface="Cambria Math" panose="02040503050406030204" pitchFamily="18" charset="0"/>
                                      </a:rPr>
                                    </m:ctrlPr>
                                  </m:sSubPr>
                                  <m:e>
                                    <m:r>
                                      <m:rPr>
                                        <m:sty m:val="p"/>
                                      </m:rPr>
                                      <a:rPr lang="en-VN">
                                        <a:latin typeface="Cambria Math" panose="02040503050406030204" pitchFamily="18" charset="0"/>
                                      </a:rPr>
                                      <m:t>log</m:t>
                                    </m:r>
                                  </m:e>
                                  <m:sub>
                                    <m:r>
                                      <a:rPr lang="en-VN">
                                        <a:latin typeface="Cambria Math" panose="02040503050406030204" pitchFamily="18" charset="0"/>
                                      </a:rPr>
                                      <m:t>2</m:t>
                                    </m:r>
                                  </m:sub>
                                </m:sSub>
                              </m:fName>
                              <m:e>
                                <m:d>
                                  <m:dPr>
                                    <m:ctrlPr>
                                      <a:rPr lang="en-VN" i="1">
                                        <a:latin typeface="Cambria Math" panose="02040503050406030204" pitchFamily="18" charset="0"/>
                                      </a:rPr>
                                    </m:ctrlPr>
                                  </m:dPr>
                                  <m:e>
                                    <m:f>
                                      <m:fPr>
                                        <m:ctrlPr>
                                          <a:rPr lang="en-VN">
                                            <a:latin typeface="Cambria Math" panose="02040503050406030204" pitchFamily="18" charset="0"/>
                                          </a:rPr>
                                        </m:ctrlPr>
                                      </m:fPr>
                                      <m:num>
                                        <m:r>
                                          <a:rPr lang="en-VN">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num>
                                      <m:den>
                                        <m:r>
                                          <a:rPr lang="en-VN">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i="1">
                                                <a:latin typeface="Cambria Math" panose="02040503050406030204" pitchFamily="18" charset="0"/>
                                              </a:rPr>
                                              <m:t>𝑖</m:t>
                                            </m:r>
                                            <m:r>
                                              <a:rPr lang="en-VN">
                                                <a:latin typeface="Cambria Math" panose="02040503050406030204" pitchFamily="18" charset="0"/>
                                              </a:rPr>
                                              <m:t>−1</m:t>
                                            </m:r>
                                          </m:sub>
                                        </m:sSub>
                                        <m:sSub>
                                          <m:sSubPr>
                                            <m:ctrlPr>
                                              <a:rPr lang="en-VN" i="1">
                                                <a:latin typeface="Cambria Math" panose="02040503050406030204" pitchFamily="18" charset="0"/>
                                              </a:rPr>
                                            </m:ctrlPr>
                                          </m:sSubPr>
                                          <m:e>
                                            <m:r>
                                              <a:rPr lang="en-VN" i="1">
                                                <a:latin typeface="Cambria Math" panose="02040503050406030204" pitchFamily="18" charset="0"/>
                                              </a:rPr>
                                              <m:t>𝑆</m:t>
                                            </m:r>
                                          </m:e>
                                          <m:sub>
                                            <m:r>
                                              <a:rPr lang="en-VN" i="1">
                                                <a:latin typeface="Cambria Math" panose="02040503050406030204" pitchFamily="18" charset="0"/>
                                              </a:rPr>
                                              <m:t>𝑖</m:t>
                                            </m:r>
                                          </m:sub>
                                        </m:sSub>
                                      </m:den>
                                    </m:f>
                                  </m:e>
                                </m:d>
                              </m:e>
                            </m:func>
                          </m:e>
                        </m:nary>
                      </m:e>
                    </m:borderBox>
                  </m:oMath>
                </a14:m>
                <a:r>
                  <a:rPr lang="en-VN"/>
                  <a:t> ta được: </a:t>
                </a:r>
              </a:p>
              <a:p>
                <a:pPr/>
                <a14:m>
                  <m:oMathPara xmlns:m="http://schemas.openxmlformats.org/officeDocument/2006/math">
                    <m:oMath>
                      <m:borderBox>
                        <m:borderBoxPr>
                          <m:ctrlPr>
                            <a:rPr lang="en-VN" i="1">
                              <a:latin typeface="Cambria Math" panose="02040503050406030204" pitchFamily="18" charset="0"/>
                            </a:rPr>
                          </m:ctrlPr>
                        </m:borderBoxPr>
                        <m:e>
                          <m:f>
                            <m:fPr>
                              <m:ctrlPr>
                                <a:rPr lang="en-VN" i="1">
                                  <a:latin typeface="Cambria Math" panose="02040503050406030204" pitchFamily="18" charset="0"/>
                                </a:rPr>
                              </m:ctrlPr>
                            </m:fPr>
                            <m:num>
                              <m:sSub>
                                <m:sSubPr>
                                  <m:ctrlPr>
                                    <a:rPr lang="en-VN" i="1">
                                      <a:latin typeface="Cambria Math" panose="02040503050406030204" pitchFamily="18" charset="0"/>
                                    </a:rPr>
                                  </m:ctrlPr>
                                </m:sSubPr>
                                <m:e>
                                  <m:r>
                                    <a:rPr lang="en-VN" i="1">
                                      <a:latin typeface="Cambria Math" panose="02040503050406030204" pitchFamily="18" charset="0"/>
                                    </a:rPr>
                                    <m:t>𝑅</m:t>
                                  </m:r>
                                </m:e>
                                <m:sub>
                                  <m:r>
                                    <m:rPr>
                                      <m:sty m:val="p"/>
                                    </m:rPr>
                                    <a:rPr lang="en-VN">
                                      <a:latin typeface="Cambria Math" panose="02040503050406030204" pitchFamily="18" charset="0"/>
                                    </a:rPr>
                                    <m:t>sum</m:t>
                                  </m:r>
                                </m:sub>
                              </m:sSub>
                            </m:num>
                            <m:den>
                              <m:r>
                                <a:rPr lang="en-VN" i="1">
                                  <a:latin typeface="Cambria Math" panose="02040503050406030204" pitchFamily="18" charset="0"/>
                                </a:rPr>
                                <m:t>𝐵</m:t>
                              </m:r>
                            </m:den>
                          </m:f>
                          <m:r>
                            <a:rPr lang="en-VN" b="0" i="0">
                              <a:latin typeface="Cambria Math" panose="02040503050406030204" pitchFamily="18" charset="0"/>
                            </a:rPr>
                            <m:t>≤</m:t>
                          </m:r>
                          <m:func>
                            <m:funcPr>
                              <m:ctrlPr>
                                <a:rPr lang="en-VN" i="1">
                                  <a:latin typeface="Cambria Math" panose="02040503050406030204" pitchFamily="18" charset="0"/>
                                </a:rPr>
                              </m:ctrlPr>
                            </m:funcPr>
                            <m:fName>
                              <m:sSub>
                                <m:sSubPr>
                                  <m:ctrlPr>
                                    <a:rPr lang="en-VN">
                                      <a:latin typeface="Cambria Math" panose="02040503050406030204" pitchFamily="18" charset="0"/>
                                    </a:rPr>
                                  </m:ctrlPr>
                                </m:sSubPr>
                                <m:e>
                                  <m:r>
                                    <m:rPr>
                                      <m:sty m:val="p"/>
                                    </m:rPr>
                                    <a:rPr lang="en-VN">
                                      <a:latin typeface="Cambria Math" panose="02040503050406030204" pitchFamily="18" charset="0"/>
                                    </a:rPr>
                                    <m:t>log</m:t>
                                  </m:r>
                                </m:e>
                                <m:sub>
                                  <m:r>
                                    <a:rPr lang="en-VN">
                                      <a:latin typeface="Cambria Math" panose="02040503050406030204" pitchFamily="18" charset="0"/>
                                    </a:rPr>
                                    <m:t>2</m:t>
                                  </m:r>
                                </m:sub>
                              </m:sSub>
                            </m:fName>
                            <m:e>
                              <m:d>
                                <m:dPr>
                                  <m:ctrlPr>
                                    <a:rPr lang="en-VN">
                                      <a:latin typeface="Cambria Math" panose="02040503050406030204" pitchFamily="18" charset="0"/>
                                    </a:rPr>
                                  </m:ctrlPr>
                                </m:dPr>
                                <m:e>
                                  <m:r>
                                    <a:rPr lang="en-VN">
                                      <a:latin typeface="Cambria Math" panose="02040503050406030204" pitchFamily="18" charset="0"/>
                                    </a:rPr>
                                    <m:t>1+</m:t>
                                  </m:r>
                                  <m:sSub>
                                    <m:sSubPr>
                                      <m:ctrlPr>
                                        <a:rPr lang="en-VN" i="1">
                                          <a:latin typeface="Cambria Math" panose="02040503050406030204" pitchFamily="18" charset="0"/>
                                        </a:rPr>
                                      </m:ctrlPr>
                                    </m:sSubPr>
                                    <m:e>
                                      <m:r>
                                        <a:rPr lang="en-VN" i="1">
                                          <a:latin typeface="Cambria Math" panose="02040503050406030204" pitchFamily="18" charset="0"/>
                                        </a:rPr>
                                        <m:t>𝑐</m:t>
                                      </m:r>
                                    </m:e>
                                    <m:sub>
                                      <m:r>
                                        <a:rPr lang="en-VN">
                                          <a:latin typeface="Cambria Math" panose="02040503050406030204" pitchFamily="18" charset="0"/>
                                        </a:rPr>
                                        <m:t>1</m:t>
                                      </m:r>
                                    </m:sub>
                                  </m:sSub>
                                </m:e>
                              </m:d>
                            </m:e>
                          </m:func>
                          <m:r>
                            <a:rPr lang="en-VN">
                              <a:latin typeface="Cambria Math" panose="02040503050406030204" pitchFamily="18" charset="0"/>
                            </a:rPr>
                            <m:t>+</m:t>
                          </m:r>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𝑖</m:t>
                              </m:r>
                              <m:r>
                                <a:rPr lang="en-VN">
                                  <a:latin typeface="Cambria Math" panose="02040503050406030204" pitchFamily="18" charset="0"/>
                                </a:rPr>
                                <m:t>=2</m:t>
                              </m:r>
                            </m:sub>
                            <m:sup>
                              <m:r>
                                <a:rPr lang="en-VN" i="1">
                                  <a:latin typeface="Cambria Math" panose="02040503050406030204" pitchFamily="18" charset="0"/>
                                </a:rPr>
                                <m:t>𝑁</m:t>
                              </m:r>
                            </m:sup>
                            <m:e>
                              <m:sSub>
                                <m:sSubPr>
                                  <m:ctrlPr>
                                    <a:rPr lang="en-VN" i="1">
                                      <a:latin typeface="Cambria Math" panose="02040503050406030204" pitchFamily="18" charset="0"/>
                                    </a:rPr>
                                  </m:ctrlPr>
                                </m:sSubPr>
                                <m:e>
                                  <m:r>
                                    <a:rPr lang="en-VN" i="1">
                                      <a:latin typeface="Cambria Math" panose="02040503050406030204" pitchFamily="18" charset="0"/>
                                    </a:rPr>
                                    <m:t>𝑓</m:t>
                                  </m:r>
                                </m:e>
                                <m:sub>
                                  <m:r>
                                    <a:rPr lang="en-VN" i="1">
                                      <a:latin typeface="Cambria Math" panose="02040503050406030204" pitchFamily="18" charset="0"/>
                                    </a:rPr>
                                    <m:t>𝑖</m:t>
                                  </m:r>
                                </m:sub>
                              </m:sSub>
                              <m:d>
                                <m:dPr>
                                  <m:ctrlPr>
                                    <a:rPr lang="en-VN" b="1" i="1">
                                      <a:latin typeface="Cambria Math" panose="02040503050406030204" pitchFamily="18" charset="0"/>
                                      <a:ea typeface="Cambria Math" panose="02040503050406030204" pitchFamily="18" charset="0"/>
                                    </a:rPr>
                                  </m:ctrlPr>
                                </m:dPr>
                                <m:e>
                                  <m:f>
                                    <m:fPr>
                                      <m:ctrlPr>
                                        <a:rPr lang="en-VN" b="1" i="1">
                                          <a:latin typeface="Cambria Math" panose="02040503050406030204" pitchFamily="18" charset="0"/>
                                          <a:ea typeface="Cambria Math" panose="02040503050406030204" pitchFamily="18" charset="0"/>
                                        </a:rPr>
                                      </m:ctrlPr>
                                    </m:fPr>
                                    <m:num>
                                      <m:r>
                                        <a:rPr lang="en-VN" b="1" i="1">
                                          <a:latin typeface="Cambria Math" panose="02040503050406030204" pitchFamily="18" charset="0"/>
                                          <a:ea typeface="Cambria Math" panose="02040503050406030204" pitchFamily="18" charset="0"/>
                                        </a:rPr>
                                        <m:t>𝑵</m:t>
                                      </m:r>
                                      <m:r>
                                        <a:rPr lang="en-VN" b="1" i="1">
                                          <a:latin typeface="Cambria Math" panose="02040503050406030204" pitchFamily="18" charset="0"/>
                                          <a:ea typeface="Cambria Math" panose="02040503050406030204" pitchFamily="18" charset="0"/>
                                        </a:rPr>
                                        <m:t>−</m:t>
                                      </m:r>
                                      <m:r>
                                        <a:rPr lang="en-VN" b="1" i="1">
                                          <a:latin typeface="Cambria Math" panose="02040503050406030204" pitchFamily="18" charset="0"/>
                                          <a:ea typeface="Cambria Math" panose="02040503050406030204" pitchFamily="18" charset="0"/>
                                        </a:rPr>
                                        <m:t>𝒊</m:t>
                                      </m:r>
                                      <m:r>
                                        <a:rPr lang="en-VN" b="1" i="1">
                                          <a:latin typeface="Cambria Math" panose="02040503050406030204" pitchFamily="18" charset="0"/>
                                          <a:ea typeface="Cambria Math" panose="02040503050406030204" pitchFamily="18" charset="0"/>
                                        </a:rPr>
                                        <m:t>+</m:t>
                                      </m:r>
                                      <m:r>
                                        <a:rPr lang="en-VN" b="1" i="1">
                                          <a:latin typeface="Cambria Math" panose="02040503050406030204" pitchFamily="18" charset="0"/>
                                          <a:ea typeface="Cambria Math" panose="02040503050406030204" pitchFamily="18" charset="0"/>
                                        </a:rPr>
                                        <m:t>𝟏</m:t>
                                      </m:r>
                                    </m:num>
                                    <m:den>
                                      <m:r>
                                        <a:rPr lang="en-VN" b="1" i="1">
                                          <a:latin typeface="Cambria Math" panose="02040503050406030204" pitchFamily="18" charset="0"/>
                                          <a:ea typeface="Cambria Math" panose="02040503050406030204" pitchFamily="18" charset="0"/>
                                        </a:rPr>
                                        <m:t>𝑵</m:t>
                                      </m:r>
                                    </m:den>
                                  </m:f>
                                </m:e>
                              </m:d>
                            </m:e>
                          </m:nary>
                        </m:e>
                      </m:borderBox>
                    </m:oMath>
                  </m:oMathPara>
                </a14:m>
                <a:endParaRPr lang="en-VN"/>
              </a:p>
              <a:p>
                <a:r>
                  <a:rPr lang="en-VN"/>
                  <a:t>Trong đó vế phải là biểu thức xảy ra khi các alpha=0.2 thỏa mãn điều kiện chia đều.</a:t>
                </a:r>
              </a:p>
              <a:p>
                <a:r>
                  <a:rPr lang="en-VN"/>
                  <a:t>Suy ra: </a:t>
                </a:r>
                <a14:m>
                  <m:oMath xmlns:m="http://schemas.openxmlformats.org/officeDocument/2006/math">
                    <m:sSub>
                      <m:sSubPr>
                        <m:ctrlPr>
                          <a:rPr lang="en-VN" b="0" i="1">
                            <a:latin typeface="Cambria Math" panose="02040503050406030204" pitchFamily="18" charset="0"/>
                          </a:rPr>
                        </m:ctrlPr>
                      </m:sSubPr>
                      <m:e>
                        <m:r>
                          <a:rPr lang="en-VN" b="0" i="1">
                            <a:latin typeface="Cambria Math" panose="02040503050406030204" pitchFamily="18" charset="0"/>
                          </a:rPr>
                          <m:t>𝑅</m:t>
                        </m:r>
                      </m:e>
                      <m:sub>
                        <m:r>
                          <a:rPr lang="en-VN" b="0" i="1">
                            <a:latin typeface="Cambria Math" panose="02040503050406030204" pitchFamily="18" charset="0"/>
                          </a:rPr>
                          <m:t>𝑠𝑢𝑚</m:t>
                        </m:r>
                      </m:sub>
                    </m:sSub>
                    <m:d>
                      <m:dPr>
                        <m:ctrlPr>
                          <a:rPr lang="en-VN" b="0" i="1">
                            <a:latin typeface="Cambria Math" panose="02040503050406030204" pitchFamily="18" charset="0"/>
                            <a:ea typeface="Cambria Math" panose="02040503050406030204" pitchFamily="18" charset="0"/>
                          </a:rPr>
                        </m:ctrlPr>
                      </m:dPr>
                      <m:e>
                        <m:r>
                          <a:rPr lang="en-VN" b="0" i="1">
                            <a:latin typeface="Cambria Math" panose="02040503050406030204" pitchFamily="18" charset="0"/>
                            <a:ea typeface="Cambria Math" panose="02040503050406030204" pitchFamily="18" charset="0"/>
                          </a:rPr>
                          <m:t>𝛼</m:t>
                        </m:r>
                      </m:e>
                    </m:d>
                    <m:r>
                      <a:rPr lang="en-VN" b="0" i="1">
                        <a:latin typeface="Cambria Math" panose="02040503050406030204" pitchFamily="18" charset="0"/>
                        <a:ea typeface="Cambria Math" panose="02040503050406030204" pitchFamily="18" charset="0"/>
                      </a:rPr>
                      <m:t>≤</m:t>
                    </m:r>
                    <m:r>
                      <a:rPr lang="en-VN" b="0" i="1">
                        <a:latin typeface="Cambria Math" panose="02040503050406030204" pitchFamily="18" charset="0"/>
                        <a:ea typeface="Cambria Math" panose="02040503050406030204" pitchFamily="18" charset="0"/>
                      </a:rPr>
                      <m:t>𝑅</m:t>
                    </m:r>
                    <m:r>
                      <a:rPr lang="en-VN" b="0" i="1">
                        <a:latin typeface="Cambria Math" panose="02040503050406030204" pitchFamily="18" charset="0"/>
                        <a:ea typeface="Cambria Math" panose="02040503050406030204" pitchFamily="18" charset="0"/>
                      </a:rPr>
                      <m:t>(</m:t>
                    </m:r>
                    <m:f>
                      <m:fPr>
                        <m:ctrlPr>
                          <a:rPr lang="en-VN" b="0" i="1">
                            <a:latin typeface="Cambria Math" panose="02040503050406030204" pitchFamily="18" charset="0"/>
                            <a:ea typeface="Cambria Math" panose="02040503050406030204" pitchFamily="18" charset="0"/>
                          </a:rPr>
                        </m:ctrlPr>
                      </m:fPr>
                      <m:num>
                        <m:r>
                          <a:rPr lang="en-VN" b="0" i="1">
                            <a:latin typeface="Cambria Math" panose="02040503050406030204" pitchFamily="18" charset="0"/>
                            <a:ea typeface="Cambria Math" panose="02040503050406030204" pitchFamily="18" charset="0"/>
                          </a:rPr>
                          <m:t>1</m:t>
                        </m:r>
                      </m:num>
                      <m:den>
                        <m:r>
                          <a:rPr lang="en-VN" b="0" i="1">
                            <a:latin typeface="Cambria Math" panose="02040503050406030204" pitchFamily="18" charset="0"/>
                            <a:ea typeface="Cambria Math" panose="02040503050406030204" pitchFamily="18" charset="0"/>
                          </a:rPr>
                          <m:t>𝑁</m:t>
                        </m:r>
                      </m:den>
                    </m:f>
                    <m:r>
                      <a:rPr lang="en-VN" b="0" i="1">
                        <a:latin typeface="Cambria Math" panose="02040503050406030204" pitchFamily="18" charset="0"/>
                        <a:ea typeface="Cambria Math" panose="02040503050406030204" pitchFamily="18" charset="0"/>
                      </a:rPr>
                      <m:t>,</m:t>
                    </m:r>
                    <m:f>
                      <m:fPr>
                        <m:ctrlPr>
                          <a:rPr lang="en-VN" i="1">
                            <a:latin typeface="Cambria Math" panose="02040503050406030204" pitchFamily="18" charset="0"/>
                            <a:ea typeface="Cambria Math" panose="02040503050406030204" pitchFamily="18" charset="0"/>
                          </a:rPr>
                        </m:ctrlPr>
                      </m:fPr>
                      <m:num>
                        <m:r>
                          <a:rPr lang="en-VN" i="1">
                            <a:latin typeface="Cambria Math" panose="02040503050406030204" pitchFamily="18" charset="0"/>
                            <a:ea typeface="Cambria Math" panose="02040503050406030204" pitchFamily="18" charset="0"/>
                          </a:rPr>
                          <m:t>1</m:t>
                        </m:r>
                      </m:num>
                      <m:den>
                        <m:r>
                          <a:rPr lang="en-VN" i="1">
                            <a:latin typeface="Cambria Math" panose="02040503050406030204" pitchFamily="18" charset="0"/>
                            <a:ea typeface="Cambria Math" panose="02040503050406030204" pitchFamily="18" charset="0"/>
                          </a:rPr>
                          <m:t>𝑁</m:t>
                        </m:r>
                      </m:den>
                    </m:f>
                    <m:r>
                      <a:rPr lang="en-VN" b="0" i="1">
                        <a:latin typeface="Cambria Math" panose="02040503050406030204" pitchFamily="18" charset="0"/>
                        <a:ea typeface="Cambria Math" panose="02040503050406030204" pitchFamily="18" charset="0"/>
                      </a:rPr>
                      <m:t>,</m:t>
                    </m:r>
                    <m:r>
                      <a:rPr lang="en-VN" i="1">
                        <a:latin typeface="Cambria Math" panose="02040503050406030204" pitchFamily="18" charset="0"/>
                        <a:ea typeface="Cambria Math" panose="02040503050406030204" pitchFamily="18" charset="0"/>
                      </a:rPr>
                      <m:t> </m:t>
                    </m:r>
                    <m:r>
                      <a:rPr lang="en-VN" b="0" i="1">
                        <a:latin typeface="Cambria Math" panose="02040503050406030204" pitchFamily="18" charset="0"/>
                        <a:ea typeface="Cambria Math" panose="02040503050406030204" pitchFamily="18" charset="0"/>
                      </a:rPr>
                      <m:t>…</m:t>
                    </m:r>
                    <m:f>
                      <m:fPr>
                        <m:ctrlPr>
                          <a:rPr lang="en-VN" i="1">
                            <a:latin typeface="Cambria Math" panose="02040503050406030204" pitchFamily="18" charset="0"/>
                            <a:ea typeface="Cambria Math" panose="02040503050406030204" pitchFamily="18" charset="0"/>
                          </a:rPr>
                        </m:ctrlPr>
                      </m:fPr>
                      <m:num>
                        <m:r>
                          <a:rPr lang="en-VN" i="1">
                            <a:latin typeface="Cambria Math" panose="02040503050406030204" pitchFamily="18" charset="0"/>
                            <a:ea typeface="Cambria Math" panose="02040503050406030204" pitchFamily="18" charset="0"/>
                          </a:rPr>
                          <m:t>1</m:t>
                        </m:r>
                      </m:num>
                      <m:den>
                        <m:r>
                          <a:rPr lang="en-VN" i="1">
                            <a:latin typeface="Cambria Math" panose="02040503050406030204" pitchFamily="18" charset="0"/>
                            <a:ea typeface="Cambria Math" panose="02040503050406030204" pitchFamily="18" charset="0"/>
                          </a:rPr>
                          <m:t>𝑁</m:t>
                        </m:r>
                      </m:den>
                    </m:f>
                    <m:r>
                      <a:rPr lang="en-VN" b="0" i="1">
                        <a:latin typeface="Cambria Math" panose="02040503050406030204" pitchFamily="18" charset="0"/>
                        <a:ea typeface="Cambria Math" panose="02040503050406030204" pitchFamily="18" charset="0"/>
                      </a:rPr>
                      <m:t>)</m:t>
                    </m:r>
                  </m:oMath>
                </a14:m>
                <a:r>
                  <a:rPr lang="en-VN"/>
                  <a:t>.</a:t>
                </a:r>
              </a:p>
            </p:txBody>
          </p:sp>
        </mc:Choice>
        <mc:Fallback>
          <p:sp>
            <p:nvSpPr>
              <p:cNvPr id="4" name="TextBox 3">
                <a:extLst>
                  <a:ext uri="{FF2B5EF4-FFF2-40B4-BE49-F238E27FC236}">
                    <a16:creationId xmlns:a16="http://schemas.microsoft.com/office/drawing/2014/main" id="{F5A1043A-874D-1553-567C-D9ABE72D57A9}"/>
                  </a:ext>
                </a:extLst>
              </p:cNvPr>
              <p:cNvSpPr txBox="1">
                <a:spLocks noRot="1" noChangeAspect="1" noMove="1" noResize="1" noEditPoints="1" noAdjustHandles="1" noChangeArrowheads="1" noChangeShapeType="1" noTextEdit="1"/>
              </p:cNvSpPr>
              <p:nvPr/>
            </p:nvSpPr>
            <p:spPr>
              <a:xfrm>
                <a:off x="359596" y="965771"/>
                <a:ext cx="8212904" cy="5216493"/>
              </a:xfrm>
              <a:prstGeom prst="rect">
                <a:avLst/>
              </a:prstGeom>
              <a:blipFill>
                <a:blip r:embed="rId3"/>
                <a:stretch>
                  <a:fillRect l="-618" t="-485" b="-10437"/>
                </a:stretch>
              </a:blipFill>
            </p:spPr>
            <p:txBody>
              <a:bodyPr/>
              <a:lstStyle/>
              <a:p>
                <a:r>
                  <a:rPr lang="en-VN">
                    <a:noFill/>
                  </a:rPr>
                  <a:t> </a:t>
                </a:r>
              </a:p>
            </p:txBody>
          </p:sp>
        </mc:Fallback>
      </mc:AlternateContent>
    </p:spTree>
    <p:extLst>
      <p:ext uri="{BB962C8B-B14F-4D97-AF65-F5344CB8AC3E}">
        <p14:creationId xmlns:p14="http://schemas.microsoft.com/office/powerpoint/2010/main" val="1896583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EE5B3003-2C54-13C6-9832-7637201064DE}" type="slidenum">
              <a:rPr sz="1050">
                <a:solidFill>
                  <a:srgbClr val="C00000"/>
                </a:solidFill>
                <a:latin typeface="Lato"/>
                <a:ea typeface="Lato"/>
                <a:cs typeface="Lato"/>
              </a:rPr>
              <a:t>7</a:t>
            </a:fld>
            <a:endParaRPr/>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sz="2700" b="1">
                <a:solidFill>
                  <a:srgbClr val="FFFFFF"/>
                </a:solidFill>
                <a:latin typeface="Lato"/>
                <a:ea typeface="Lato"/>
                <a:cs typeface="Lato"/>
              </a:rPr>
              <a:t>Đồ thị α trước khi thêm L</a:t>
            </a:r>
            <a:endParaRPr/>
          </a:p>
        </p:txBody>
      </p:sp>
      <p:pic>
        <p:nvPicPr>
          <p:cNvPr id="5" name="Picture 4">
            <a:extLst>
              <a:ext uri="{FF2B5EF4-FFF2-40B4-BE49-F238E27FC236}">
                <a16:creationId xmlns:a16="http://schemas.microsoft.com/office/drawing/2014/main" id="{5BEEF288-9318-4EBB-984D-1C3D300B83A8}"/>
              </a:ext>
            </a:extLst>
          </p:cNvPr>
          <p:cNvPicPr>
            <a:picLocks noChangeAspect="1"/>
          </p:cNvPicPr>
          <p:nvPr/>
        </p:nvPicPr>
        <p:blipFill>
          <a:blip r:embed="rId3"/>
          <a:stretch/>
        </p:blipFill>
        <p:spPr>
          <a:xfrm>
            <a:off x="878108" y="895350"/>
            <a:ext cx="7387785" cy="4819650"/>
          </a:xfrm>
          <a:prstGeom prst="rect">
            <a:avLst/>
          </a:prstGeom>
        </p:spPr>
      </p:pic>
      <p:sp>
        <p:nvSpPr>
          <p:cNvPr id="6" name="figure-caption">
            <a:extLst>
              <a:ext uri="{FF2B5EF4-FFF2-40B4-BE49-F238E27FC236}">
                <a16:creationId xmlns:a16="http://schemas.microsoft.com/office/drawing/2014/main" id="{52AFC80F-AD00-4B8C-A297-76C5E577ABFC}"/>
              </a:ext>
            </a:extLst>
          </p:cNvPr>
          <p:cNvSpPr>
            <a:spLocks noGrp="1"/>
          </p:cNvSpPr>
          <p:nvPr/>
        </p:nvSpPr>
        <p:spPr>
          <a:xfrm>
            <a:off x="533400" y="5800725"/>
            <a:ext cx="8077200" cy="400050"/>
          </a:xfrm>
          <a:prstGeom prst="rect">
            <a:avLst/>
          </a:prstGeom>
          <a:noFill/>
          <a:ln w="0">
            <a:noFill/>
          </a:ln>
        </p:spPr>
        <p:txBody>
          <a:bodyPr wrap="square" lIns="0" tIns="0" rIns="0" bIns="0" anchor="t">
            <a:noAutofit/>
          </a:bodyPr>
          <a:lstStyle>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a:pPr algn="l">
              <a:defRPr sz="1350">
                <a:solidFill>
                  <a:srgbClr val="555555"/>
                </a:solidFill>
                <a:latin typeface="Lato"/>
                <a:ea typeface="Lato"/>
                <a:cs typeface="Lato"/>
              </a:defRPr>
            </a:pPr>
            <a:r>
              <a:rPr lang="en-US" sz="1350">
                <a:solidFill>
                  <a:srgbClr val="555555"/>
                </a:solidFill>
                <a:latin typeface="Lato"/>
                <a:ea typeface="Lato"/>
                <a:cs typeface="Lato"/>
              </a:rPr>
              <a:t>3 Biểu đồ đã chứng minh việc alpha hội tụ về 0.2, đặc biệt là IPSO khiến alpha hội tụ rất sớm.</a:t>
            </a:r>
            <a:endParaRPr sz="1350">
              <a:solidFill>
                <a:srgbClr val="555555"/>
              </a:solidFill>
              <a:latin typeface="Lato"/>
              <a:ea typeface="Lato"/>
              <a:cs typeface="Lato"/>
            </a:endParaRPr>
          </a:p>
        </p:txBody>
      </p:sp>
    </p:spTree>
    <p:extLst>
      <p:ext uri="{BB962C8B-B14F-4D97-AF65-F5344CB8AC3E}">
        <p14:creationId xmlns:p14="http://schemas.microsoft.com/office/powerpoint/2010/main" val="292364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8C630A04-5A25-9E0C-9436-126091DB86B3}" type="slidenum">
              <a:rPr sz="1050">
                <a:solidFill>
                  <a:srgbClr val="C00000"/>
                </a:solidFill>
                <a:latin typeface="Lato"/>
                <a:ea typeface="Lato"/>
                <a:cs typeface="Lato"/>
              </a:rPr>
              <a:t>8</a:t>
            </a:fld>
            <a:endParaRPr/>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lang="en-US" sz="2700" b="1">
                <a:solidFill>
                  <a:srgbClr val="FFFFFF"/>
                </a:solidFill>
                <a:latin typeface="Lato"/>
                <a:ea typeface="Lato"/>
                <a:cs typeface="Lato"/>
              </a:rPr>
              <a:t>Giới </a:t>
            </a:r>
            <a:r>
              <a:rPr sz="2700" b="1">
                <a:solidFill>
                  <a:srgbClr val="FFFFFF"/>
                </a:solidFill>
                <a:latin typeface="Lato"/>
                <a:ea typeface="Lato"/>
                <a:cs typeface="Lato"/>
              </a:rPr>
              <a:t>hạn dữ liệu L bit/user</a:t>
            </a:r>
            <a:endParaRPr/>
          </a:p>
        </p:txBody>
      </p:sp>
      <p:pic>
        <p:nvPicPr>
          <p:cNvPr id="5" name="Picture 4">
            <a:extLst>
              <a:ext uri="{FF2B5EF4-FFF2-40B4-BE49-F238E27FC236}">
                <a16:creationId xmlns:a16="http://schemas.microsoft.com/office/drawing/2014/main" id="{D896DAC0-B779-4B75-A5FA-66808817F2B3}"/>
              </a:ext>
            </a:extLst>
          </p:cNvPr>
          <p:cNvPicPr>
            <a:picLocks noChangeAspect="1"/>
          </p:cNvPicPr>
          <p:nvPr/>
        </p:nvPicPr>
        <p:blipFill>
          <a:blip r:embed="rId3"/>
          <a:stretch/>
        </p:blipFill>
        <p:spPr>
          <a:xfrm>
            <a:off x="2677186" y="1285875"/>
            <a:ext cx="3229213" cy="676275"/>
          </a:xfrm>
          <a:prstGeom prst="rect">
            <a:avLst/>
          </a:prstGeom>
        </p:spPr>
      </p:pic>
      <p:sp>
        <p:nvSpPr>
          <p:cNvPr id="7" name="meaning">
            <a:extLst>
              <a:ext uri="{FF2B5EF4-FFF2-40B4-BE49-F238E27FC236}">
                <a16:creationId xmlns:a16="http://schemas.microsoft.com/office/drawing/2014/main" id="{C6D765CD-B449-4FD8-9C35-C8CCF0E1097A}"/>
              </a:ext>
            </a:extLst>
          </p:cNvPr>
          <p:cNvSpPr>
            <a:spLocks noGrp="1"/>
          </p:cNvSpPr>
          <p:nvPr/>
        </p:nvSpPr>
        <p:spPr>
          <a:xfrm>
            <a:off x="495300" y="1019175"/>
            <a:ext cx="8077200" cy="304800"/>
          </a:xfrm>
          <a:prstGeom prst="rect">
            <a:avLst/>
          </a:prstGeom>
          <a:noFill/>
          <a:ln w="0">
            <a:noFill/>
          </a:ln>
        </p:spPr>
        <p:txBody>
          <a:bodyPr wrap="square" lIns="0" tIns="0" rIns="0" bIns="0" anchor="t">
            <a:noAutofit/>
          </a:bodyPr>
          <a:lstStyle>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a:pPr algn="l">
              <a:defRPr sz="1875">
                <a:solidFill>
                  <a:srgbClr val="222222"/>
                </a:solidFill>
                <a:latin typeface="Lato"/>
                <a:ea typeface="Lato"/>
                <a:cs typeface="Lato"/>
              </a:defRPr>
            </a:pPr>
            <a:r>
              <a:rPr lang="en-US" sz="1875">
                <a:solidFill>
                  <a:srgbClr val="222222"/>
                </a:solidFill>
                <a:latin typeface="Lato"/>
                <a:ea typeface="Lato"/>
                <a:cs typeface="Lato"/>
              </a:rPr>
              <a:t>Gọi </a:t>
            </a:r>
            <a:r>
              <a:rPr sz="1875">
                <a:solidFill>
                  <a:srgbClr val="222222"/>
                </a:solidFill>
                <a:latin typeface="Lato"/>
                <a:ea typeface="Lato"/>
                <a:cs typeface="Lato"/>
              </a:rPr>
              <a:t>L là tổng dữ liệu tối thiểu mỗi user nhận trong cả chuyến bay.</a:t>
            </a:r>
          </a:p>
        </p:txBody>
      </p:sp>
      <p:sp>
        <p:nvSpPr>
          <p:cNvPr id="8" name="fitness-label">
            <a:extLst>
              <a:ext uri="{FF2B5EF4-FFF2-40B4-BE49-F238E27FC236}">
                <a16:creationId xmlns:a16="http://schemas.microsoft.com/office/drawing/2014/main" id="{BAE52BFA-2321-4B09-8A6C-447502D8A35D}"/>
              </a:ext>
            </a:extLst>
          </p:cNvPr>
          <p:cNvSpPr>
            <a:spLocks noGrp="1"/>
          </p:cNvSpPr>
          <p:nvPr/>
        </p:nvSpPr>
        <p:spPr>
          <a:xfrm>
            <a:off x="533400" y="2105025"/>
            <a:ext cx="8077200" cy="304800"/>
          </a:xfrm>
          <a:prstGeom prst="rect">
            <a:avLst/>
          </a:prstGeom>
          <a:noFill/>
          <a:ln w="0">
            <a:noFill/>
          </a:ln>
        </p:spPr>
        <p:txBody>
          <a:bodyPr wrap="square" lIns="0" tIns="0" rIns="0" bIns="0" anchor="t">
            <a:noAutofit/>
          </a:bodyPr>
          <a:lstStyle>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a:pPr algn="l">
              <a:defRPr sz="1575" b="1">
                <a:solidFill>
                  <a:srgbClr val="C00000"/>
                </a:solidFill>
                <a:latin typeface="Lato"/>
                <a:ea typeface="Lato"/>
                <a:cs typeface="Lato"/>
              </a:defRPr>
            </a:pPr>
            <a:r>
              <a:rPr sz="1575" b="1">
                <a:solidFill>
                  <a:srgbClr val="C00000"/>
                </a:solidFill>
                <a:latin typeface="Lato"/>
                <a:ea typeface="Lato"/>
                <a:cs typeface="Lato"/>
              </a:rPr>
              <a:t>CÁCH XẾP HẠNG NGHIỆM TRONG CODE</a:t>
            </a:r>
          </a:p>
        </p:txBody>
      </p:sp>
      <p:sp>
        <p:nvSpPr>
          <p:cNvPr id="9" name="fitness-feasible">
            <a:extLst>
              <a:ext uri="{FF2B5EF4-FFF2-40B4-BE49-F238E27FC236}">
                <a16:creationId xmlns:a16="http://schemas.microsoft.com/office/drawing/2014/main" id="{74838676-04D5-498F-B2B8-F86A0CB1D684}"/>
              </a:ext>
            </a:extLst>
          </p:cNvPr>
          <p:cNvSpPr>
            <a:spLocks noGrp="1"/>
          </p:cNvSpPr>
          <p:nvPr/>
        </p:nvSpPr>
        <p:spPr>
          <a:xfrm>
            <a:off x="533400" y="2428875"/>
            <a:ext cx="8077200" cy="381000"/>
          </a:xfrm>
          <a:prstGeom prst="rect">
            <a:avLst/>
          </a:prstGeom>
          <a:noFill/>
          <a:ln w="0">
            <a:noFill/>
          </a:ln>
        </p:spPr>
        <p:txBody>
          <a:bodyPr wrap="square" lIns="0" tIns="0" rIns="0" bIns="0" anchor="t">
            <a:noAutofit/>
          </a:bodyPr>
          <a:lstStyle>
            <a:defPPr algn="l">
              <a:defRPr sz="2025" b="1">
                <a:solidFill>
                  <a:srgbClr val="222222"/>
                </a:solidFill>
                <a:latin typeface="Lato"/>
                <a:ea typeface="Lato"/>
                <a:cs typeface="Lato"/>
              </a:defRPr>
            </a:defPPr>
            <a:lvl1pPr algn="l">
              <a:defRPr sz="2025" b="1">
                <a:solidFill>
                  <a:srgbClr val="222222"/>
                </a:solidFill>
                <a:latin typeface="Lato"/>
                <a:ea typeface="Lato"/>
                <a:cs typeface="Lato"/>
              </a:defRPr>
            </a:lvl1pPr>
            <a:lvl2pPr algn="l">
              <a:defRPr sz="2025" b="1">
                <a:solidFill>
                  <a:srgbClr val="222222"/>
                </a:solidFill>
                <a:latin typeface="Lato"/>
                <a:ea typeface="Lato"/>
                <a:cs typeface="Lato"/>
              </a:defRPr>
            </a:lvl2pPr>
            <a:lvl3pPr algn="l">
              <a:defRPr sz="2025" b="1">
                <a:solidFill>
                  <a:srgbClr val="222222"/>
                </a:solidFill>
                <a:latin typeface="Lato"/>
                <a:ea typeface="Lato"/>
                <a:cs typeface="Lato"/>
              </a:defRPr>
            </a:lvl3pPr>
            <a:lvl4pPr algn="l">
              <a:defRPr sz="2025" b="1">
                <a:solidFill>
                  <a:srgbClr val="222222"/>
                </a:solidFill>
                <a:latin typeface="Lato"/>
                <a:ea typeface="Lato"/>
                <a:cs typeface="Lato"/>
              </a:defRPr>
            </a:lvl4pPr>
            <a:lvl5pPr algn="l">
              <a:defRPr sz="2025" b="1">
                <a:solidFill>
                  <a:srgbClr val="222222"/>
                </a:solidFill>
                <a:latin typeface="Lato"/>
                <a:ea typeface="Lato"/>
                <a:cs typeface="Lato"/>
              </a:defRPr>
            </a:lvl5pPr>
            <a:lvl6pPr algn="l">
              <a:defRPr sz="2025" b="1">
                <a:solidFill>
                  <a:srgbClr val="222222"/>
                </a:solidFill>
                <a:latin typeface="Lato"/>
                <a:ea typeface="Lato"/>
                <a:cs typeface="Lato"/>
              </a:defRPr>
            </a:lvl6pPr>
            <a:lvl7pPr algn="l">
              <a:defRPr sz="2025" b="1">
                <a:solidFill>
                  <a:srgbClr val="222222"/>
                </a:solidFill>
                <a:latin typeface="Lato"/>
                <a:ea typeface="Lato"/>
                <a:cs typeface="Lato"/>
              </a:defRPr>
            </a:lvl7pPr>
            <a:lvl8pPr algn="l">
              <a:defRPr sz="2025" b="1">
                <a:solidFill>
                  <a:srgbClr val="222222"/>
                </a:solidFill>
                <a:latin typeface="Lato"/>
                <a:ea typeface="Lato"/>
                <a:cs typeface="Lato"/>
              </a:defRPr>
            </a:lvl8pPr>
            <a:lvl9pPr algn="l">
              <a:defRPr sz="2025" b="1">
                <a:solidFill>
                  <a:srgbClr val="222222"/>
                </a:solidFill>
                <a:latin typeface="Lato"/>
                <a:ea typeface="Lato"/>
                <a:cs typeface="Lato"/>
              </a:defRPr>
            </a:lvl9pPr>
          </a:lstStyle>
          <a:p>
            <a:pPr algn="l">
              <a:defRPr sz="2025" b="1">
                <a:solidFill>
                  <a:srgbClr val="222222"/>
                </a:solidFill>
                <a:latin typeface="Lato"/>
                <a:ea typeface="Lato"/>
                <a:cs typeface="Lato"/>
              </a:defRPr>
            </a:pPr>
            <a:r>
              <a:rPr lang="en-US" sz="2025" b="0">
                <a:solidFill>
                  <a:srgbClr val="222222"/>
                </a:solidFill>
                <a:latin typeface="Lato"/>
                <a:ea typeface="Lato"/>
                <a:cs typeface="Lato"/>
              </a:rPr>
              <a:t>Nếu mọi user đều nhận được đủ dữ liệu thì</a:t>
            </a:r>
            <a:r>
              <a:rPr sz="2025" b="0">
                <a:solidFill>
                  <a:srgbClr val="222222"/>
                </a:solidFill>
                <a:latin typeface="Lato"/>
                <a:ea typeface="Lato"/>
                <a:cs typeface="Lato"/>
              </a:rPr>
              <a:t> fitness = EE</a:t>
            </a:r>
          </a:p>
        </p:txBody>
      </p:sp>
      <p:sp>
        <p:nvSpPr>
          <p:cNvPr id="10" name="fitness-infeasible-label">
            <a:extLst>
              <a:ext uri="{FF2B5EF4-FFF2-40B4-BE49-F238E27FC236}">
                <a16:creationId xmlns:a16="http://schemas.microsoft.com/office/drawing/2014/main" id="{BA00C7DC-DB87-4282-9D22-A6CE692D866E}"/>
              </a:ext>
            </a:extLst>
          </p:cNvPr>
          <p:cNvSpPr>
            <a:spLocks noGrp="1"/>
          </p:cNvSpPr>
          <p:nvPr/>
        </p:nvSpPr>
        <p:spPr>
          <a:xfrm>
            <a:off x="533400" y="3190875"/>
            <a:ext cx="2152650" cy="381000"/>
          </a:xfrm>
          <a:prstGeom prst="rect">
            <a:avLst/>
          </a:prstGeom>
          <a:noFill/>
          <a:ln w="0">
            <a:noFill/>
          </a:ln>
        </p:spPr>
        <p:txBody>
          <a:bodyPr wrap="square" lIns="0" tIns="0" rIns="0" bIns="0" anchor="t">
            <a:noAutofit/>
          </a:bodyPr>
          <a:lstStyle>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a:pPr algn="l">
              <a:defRPr sz="1875">
                <a:solidFill>
                  <a:srgbClr val="222222"/>
                </a:solidFill>
                <a:latin typeface="Lato"/>
                <a:ea typeface="Lato"/>
                <a:cs typeface="Lato"/>
              </a:defRPr>
            </a:pPr>
            <a:r>
              <a:rPr lang="en-US" sz="1875">
                <a:solidFill>
                  <a:srgbClr val="222222"/>
                </a:solidFill>
                <a:latin typeface="Lato"/>
                <a:ea typeface="Lato"/>
                <a:cs typeface="Lato"/>
              </a:rPr>
              <a:t>Nếu không thì</a:t>
            </a:r>
            <a:r>
              <a:rPr sz="1875">
                <a:solidFill>
                  <a:srgbClr val="222222"/>
                </a:solidFill>
                <a:latin typeface="Lato"/>
                <a:ea typeface="Lato"/>
                <a:cs typeface="Lato"/>
              </a:rPr>
              <a:t>:</a:t>
            </a:r>
          </a:p>
        </p:txBody>
      </p:sp>
      <p:pic>
        <p:nvPicPr>
          <p:cNvPr id="11" name="Picture 10">
            <a:extLst>
              <a:ext uri="{FF2B5EF4-FFF2-40B4-BE49-F238E27FC236}">
                <a16:creationId xmlns:a16="http://schemas.microsoft.com/office/drawing/2014/main" id="{B2726A74-462E-43E0-8A2F-2864C36FB8E2}"/>
              </a:ext>
            </a:extLst>
          </p:cNvPr>
          <p:cNvPicPr>
            <a:picLocks noChangeAspect="1"/>
          </p:cNvPicPr>
          <p:nvPr/>
        </p:nvPicPr>
        <p:blipFill>
          <a:blip r:embed="rId4"/>
          <a:stretch/>
        </p:blipFill>
        <p:spPr>
          <a:xfrm>
            <a:off x="2999713" y="2952752"/>
            <a:ext cx="2906686" cy="733425"/>
          </a:xfrm>
          <a:prstGeom prst="rect">
            <a:avLst/>
          </a:prstGeom>
        </p:spPr>
      </p:pic>
      <p:sp>
        <p:nvSpPr>
          <p:cNvPr id="12" name="alpha-after-qos">
            <a:extLst>
              <a:ext uri="{FF2B5EF4-FFF2-40B4-BE49-F238E27FC236}">
                <a16:creationId xmlns:a16="http://schemas.microsoft.com/office/drawing/2014/main" id="{A4AC48A7-AD9F-4DB4-A40B-37133E919606}"/>
              </a:ext>
            </a:extLst>
          </p:cNvPr>
          <p:cNvSpPr>
            <a:spLocks noGrp="1"/>
          </p:cNvSpPr>
          <p:nvPr/>
        </p:nvSpPr>
        <p:spPr>
          <a:xfrm>
            <a:off x="533400" y="3905248"/>
            <a:ext cx="8077200" cy="2135955"/>
          </a:xfrm>
          <a:prstGeom prst="rect">
            <a:avLst/>
          </a:prstGeom>
          <a:noFill/>
          <a:ln w="0">
            <a:noFill/>
          </a:ln>
        </p:spPr>
        <p:txBody>
          <a:bodyPr wrap="square" lIns="0" tIns="0" rIns="0" bIns="0" anchor="t">
            <a:noAutofit/>
          </a:bodyPr>
          <a:lstStyle>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a:pPr marL="342900" indent="-342900" algn="l">
              <a:buFont typeface="Arial" panose="020B0604020202020204" pitchFamily="34" charset="0"/>
              <a:buChar char="•"/>
              <a:defRPr sz="1875">
                <a:solidFill>
                  <a:srgbClr val="222222"/>
                </a:solidFill>
                <a:latin typeface="Lato"/>
                <a:ea typeface="Lato"/>
                <a:cs typeface="Lato"/>
              </a:defRPr>
            </a:pPr>
            <a:r>
              <a:rPr lang="en-US" sz="1875">
                <a:solidFill>
                  <a:srgbClr val="222222"/>
                </a:solidFill>
                <a:latin typeface="Lato"/>
                <a:ea typeface="Lato"/>
                <a:cs typeface="Lato"/>
              </a:rPr>
              <a:t>Công thức trên đảm bảo nguyên lý hoạt động max fitness. </a:t>
            </a:r>
          </a:p>
          <a:p>
            <a:pPr marL="342900" indent="-342900" algn="l">
              <a:buFont typeface="Arial" panose="020B0604020202020204" pitchFamily="34" charset="0"/>
              <a:buChar char="•"/>
              <a:defRPr sz="1875">
                <a:solidFill>
                  <a:srgbClr val="222222"/>
                </a:solidFill>
                <a:latin typeface="Lato"/>
                <a:ea typeface="Lato"/>
                <a:cs typeface="Lato"/>
              </a:defRPr>
            </a:pPr>
            <a:r>
              <a:rPr lang="en-US"/>
              <a:t>Khi thiếu dữ liệu, fitness được tính thành tổng bit còn thiếu của 5 user.</a:t>
            </a:r>
          </a:p>
          <a:p>
            <a:pPr marL="342900" indent="-342900" algn="l">
              <a:buFont typeface="Arial" panose="020B0604020202020204" pitchFamily="34" charset="0"/>
              <a:buChar char="•"/>
              <a:defRPr sz="1875">
                <a:solidFill>
                  <a:srgbClr val="222222"/>
                </a:solidFill>
                <a:latin typeface="Lato"/>
                <a:ea typeface="Lato"/>
                <a:cs typeface="Lato"/>
              </a:defRPr>
            </a:pPr>
            <a:r>
              <a:rPr lang="en-US"/>
              <a:t>Khi fitness đang âm, bài toán thay đổi</a:t>
            </a:r>
            <a:r>
              <a:rPr lang="en-US" sz="1875">
                <a:solidFill>
                  <a:srgbClr val="222222"/>
                </a:solidFill>
                <a:latin typeface="Lato"/>
                <a:ea typeface="Lato"/>
                <a:cs typeface="Lato"/>
              </a:rPr>
              <a:t> mục tiêu thành tối ưu đáp ứng L bit dữ liệu cho từng user (Gbest âm) -&gt; </a:t>
            </a:r>
            <a:r>
              <a:rPr lang="en-US" sz="1875" b="1">
                <a:solidFill>
                  <a:srgbClr val="222222"/>
                </a:solidFill>
                <a:latin typeface="Lato"/>
                <a:ea typeface="Lato"/>
                <a:cs typeface="Lato"/>
              </a:rPr>
              <a:t>THAY ĐỔI FITNESS LÚC ĐẦU</a:t>
            </a:r>
          </a:p>
          <a:p>
            <a:pPr marL="342900" indent="-342900" algn="l">
              <a:buFont typeface="Arial" panose="020B0604020202020204" pitchFamily="34" charset="0"/>
              <a:buChar char="•"/>
              <a:defRPr sz="1875">
                <a:solidFill>
                  <a:srgbClr val="222222"/>
                </a:solidFill>
                <a:latin typeface="Lato"/>
                <a:ea typeface="Lato"/>
                <a:cs typeface="Lato"/>
              </a:defRPr>
            </a:pPr>
            <a:r>
              <a:rPr lang="en-US" sz="1875">
                <a:solidFill>
                  <a:srgbClr val="222222"/>
                </a:solidFill>
                <a:latin typeface="Lato"/>
                <a:ea typeface="Lato"/>
                <a:cs typeface="Lato"/>
              </a:rPr>
              <a:t>Khi xuất hiện 1 nghiệm đáp ứng đủ giới hạn L, fitness lập tức được đặt thành EE (Gbest được đặt thành dương) giúp các nghiệm sau sẽ cùng tối ưu EE.</a:t>
            </a:r>
            <a:endParaRPr sz="1875">
              <a:solidFill>
                <a:srgbClr val="222222"/>
              </a:solidFill>
              <a:latin typeface="Lato"/>
              <a:ea typeface="Lato"/>
              <a:cs typeface="Lato"/>
            </a:endParaRPr>
          </a:p>
        </p:txBody>
      </p:sp>
    </p:spTree>
    <p:extLst>
      <p:ext uri="{BB962C8B-B14F-4D97-AF65-F5344CB8AC3E}">
        <p14:creationId xmlns:p14="http://schemas.microsoft.com/office/powerpoint/2010/main" val="292364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D3D7D1C8-AE23-AA48-DF65-C742588DBE47}" type="slidenum">
              <a:rPr sz="1050">
                <a:solidFill>
                  <a:srgbClr val="C00000"/>
                </a:solidFill>
                <a:latin typeface="Lato"/>
                <a:ea typeface="Lato"/>
                <a:cs typeface="Lato"/>
              </a:rPr>
              <a:t>9</a:t>
            </a:fld>
            <a:endParaRPr/>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sz="2700" b="1">
                <a:solidFill>
                  <a:srgbClr val="FFFFFF"/>
                </a:solidFill>
                <a:latin typeface="Lato"/>
                <a:ea typeface="Lato"/>
                <a:cs typeface="Lato"/>
              </a:rPr>
              <a:t>Kết quả theo L: hiệu quả năng lượng</a:t>
            </a:r>
            <a:endParaRPr/>
          </a:p>
        </p:txBody>
      </p:sp>
      <p:sp>
        <p:nvSpPr>
          <p:cNvPr id="5" name="ee-units">
            <a:extLst>
              <a:ext uri="{FF2B5EF4-FFF2-40B4-BE49-F238E27FC236}">
                <a16:creationId xmlns:a16="http://schemas.microsoft.com/office/drawing/2014/main" id="{D617F6DC-DC23-4E13-A135-7A74DD1CEF72}"/>
              </a:ext>
            </a:extLst>
          </p:cNvPr>
          <p:cNvSpPr>
            <a:spLocks noGrp="1"/>
          </p:cNvSpPr>
          <p:nvPr/>
        </p:nvSpPr>
        <p:spPr>
          <a:xfrm>
            <a:off x="533400" y="1009650"/>
            <a:ext cx="8077200" cy="361950"/>
          </a:xfrm>
          <a:prstGeom prst="rect">
            <a:avLst/>
          </a:prstGeom>
          <a:noFill/>
          <a:ln w="0">
            <a:noFill/>
          </a:ln>
        </p:spPr>
        <p:txBody>
          <a:bodyPr wrap="square" lIns="0" tIns="0" rIns="0" bIns="0" anchor="t">
            <a:noAutofit/>
          </a:bodyPr>
          <a:lstStyle>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a:pPr algn="l">
              <a:defRPr sz="1875">
                <a:solidFill>
                  <a:srgbClr val="222222"/>
                </a:solidFill>
                <a:latin typeface="Lato"/>
                <a:ea typeface="Lato"/>
                <a:cs typeface="Lato"/>
              </a:defRPr>
            </a:pPr>
            <a:r>
              <a:rPr sz="1875">
                <a:solidFill>
                  <a:srgbClr val="222222"/>
                </a:solidFill>
                <a:latin typeface="Lato"/>
                <a:ea typeface="Lato"/>
                <a:cs typeface="Lato"/>
              </a:rPr>
              <a:t>EE_RF, đơn vị 10¹² bit/J. Seed</a:t>
            </a:r>
            <a:r>
              <a:rPr lang="en-US" sz="1875">
                <a:solidFill>
                  <a:srgbClr val="222222"/>
                </a:solidFill>
                <a:latin typeface="Lato"/>
                <a:ea typeface="Lato"/>
                <a:cs typeface="Lato"/>
              </a:rPr>
              <a:t> khởi tạo</a:t>
            </a:r>
            <a:r>
              <a:rPr sz="1875">
                <a:solidFill>
                  <a:srgbClr val="222222"/>
                </a:solidFill>
                <a:latin typeface="Lato"/>
                <a:ea typeface="Lato"/>
                <a:cs typeface="Lato"/>
              </a:rPr>
              <a:t> </a:t>
            </a:r>
            <a:r>
              <a:rPr lang="en-US" sz="1875">
                <a:solidFill>
                  <a:srgbClr val="222222"/>
                </a:solidFill>
                <a:latin typeface="Lato"/>
                <a:ea typeface="Lato"/>
                <a:cs typeface="Lato"/>
              </a:rPr>
              <a:t>3486784401</a:t>
            </a:r>
            <a:r>
              <a:rPr sz="1875">
                <a:solidFill>
                  <a:srgbClr val="222222"/>
                </a:solidFill>
                <a:latin typeface="Lato"/>
                <a:ea typeface="Lato"/>
                <a:cs typeface="Lato"/>
              </a:rPr>
              <a:t>.</a:t>
            </a:r>
          </a:p>
        </p:txBody>
      </p:sp>
      <p:graphicFrame>
        <p:nvGraphicFramePr>
          <p:cNvPr id="6" name="EE_summary">
            <a:extLst>
              <a:ext uri="{FF2B5EF4-FFF2-40B4-BE49-F238E27FC236}">
                <a16:creationId xmlns:a16="http://schemas.microsoft.com/office/drawing/2014/main" id="{1AFA17B2-4D87-43C8-B20E-1FAC9B1A055B}"/>
              </a:ext>
            </a:extLst>
          </p:cNvPr>
          <p:cNvGraphicFramePr/>
          <p:nvPr>
            <p:extLst>
              <p:ext uri="{D42A27DB-BD31-4B8C-83A1-F6EECF244321}">
                <p14:modId xmlns:p14="http://schemas.microsoft.com/office/powerpoint/2010/main" val="562644498"/>
              </p:ext>
            </p:extLst>
          </p:nvPr>
        </p:nvGraphicFramePr>
        <p:xfrm>
          <a:off x="533400" y="1581150"/>
          <a:ext cx="8077200" cy="3556362"/>
        </p:xfrm>
        <a:graphic>
          <a:graphicData uri="http://schemas.openxmlformats.org/drawingml/2006/table">
            <a:tbl>
              <a:tblPr/>
              <a:tblGrid>
                <a:gridCol w="15049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489857">
                <a:tc>
                  <a:txBody>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a:lstStyle/>
                    <a:p>
                      <a:pPr algn="ctr"/>
                      <a:r>
                        <a:rPr sz="1725" b="1">
                          <a:solidFill>
                            <a:srgbClr val="FFFFFF"/>
                          </a:solidFill>
                          <a:latin typeface="Lato"/>
                          <a:ea typeface="Lato"/>
                          <a:cs typeface="Lato"/>
                        </a:rPr>
                        <a:t>Joint PSO</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a:lstStyle/>
                    <a:p>
                      <a:pPr algn="ctr"/>
                      <a:r>
                        <a:rPr sz="1725" b="1">
                          <a:solidFill>
                            <a:srgbClr val="FFFFFF"/>
                          </a:solidFill>
                          <a:latin typeface="Lato"/>
                          <a:ea typeface="Lato"/>
                          <a:cs typeface="Lato"/>
                        </a:rPr>
                        <a:t>Full PSO</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a:lstStyle/>
                    <a:p>
                      <a:pPr algn="ctr"/>
                      <a:r>
                        <a:rPr sz="1725" b="1">
                          <a:solidFill>
                            <a:srgbClr val="FFFFFF"/>
                          </a:solidFill>
                          <a:latin typeface="Lato"/>
                          <a:ea typeface="Lato"/>
                          <a:cs typeface="Lato"/>
                        </a:rPr>
                        <a:t>Full IPSO</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extLst>
                  <a:ext uri="{0D108BD9-81ED-4DB2-BD59-A6C34878D82A}">
                    <a16:rowId xmlns:a16="http://schemas.microsoft.com/office/drawing/2014/main" val="10000"/>
                  </a:ext>
                </a:extLst>
              </a:tr>
              <a:tr h="489857">
                <a:tc>
                  <a:txBody>
                    <a:bodyPr/>
                    <a:lstStyle/>
                    <a:p>
                      <a:pPr algn="ctr"/>
                      <a:r>
                        <a:rPr sz="1875" b="0">
                          <a:solidFill>
                            <a:srgbClr val="222222"/>
                          </a:solidFill>
                          <a:latin typeface="Lato"/>
                          <a:ea typeface="Lato"/>
                          <a:cs typeface="Lato"/>
                        </a:rPr>
                        <a:t>1</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1">
                          <a:solidFill>
                            <a:srgbClr val="C00000"/>
                          </a:solidFill>
                          <a:latin typeface="Lato"/>
                          <a:ea typeface="Lato"/>
                          <a:cs typeface="Lato"/>
                        </a:rPr>
                        <a:t>13,103</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11,834</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11,660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extLst>
                  <a:ext uri="{0D108BD9-81ED-4DB2-BD59-A6C34878D82A}">
                    <a16:rowId xmlns:a16="http://schemas.microsoft.com/office/drawing/2014/main" val="10001"/>
                  </a:ext>
                </a:extLst>
              </a:tr>
              <a:tr h="489857">
                <a:tc>
                  <a:txBody>
                    <a:bodyPr/>
                    <a:lstStyle/>
                    <a:p>
                      <a:pPr algn="ctr"/>
                      <a:r>
                        <a:rPr sz="1875" b="0">
                          <a:solidFill>
                            <a:srgbClr val="222222"/>
                          </a:solidFill>
                          <a:latin typeface="Lato"/>
                          <a:ea typeface="Lato"/>
                          <a:cs typeface="Lato"/>
                        </a:rPr>
                        <a:t>1,5</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8,973</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10,911</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1">
                          <a:solidFill>
                            <a:srgbClr val="C00000"/>
                          </a:solidFill>
                          <a:latin typeface="Lato"/>
                          <a:ea typeface="Lato"/>
                          <a:cs typeface="Lato"/>
                        </a:rPr>
                        <a:t>11,813</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extLst>
                  <a:ext uri="{0D108BD9-81ED-4DB2-BD59-A6C34878D82A}">
                    <a16:rowId xmlns:a16="http://schemas.microsoft.com/office/drawing/2014/main" val="10002"/>
                  </a:ext>
                </a:extLst>
              </a:tr>
              <a:tr h="489857">
                <a:tc>
                  <a:txBody>
                    <a:bodyPr/>
                    <a:lstStyle/>
                    <a:p>
                      <a:pPr algn="ctr"/>
                      <a:r>
                        <a:rPr sz="1875" b="0">
                          <a:solidFill>
                            <a:srgbClr val="222222"/>
                          </a:solidFill>
                          <a:latin typeface="Lato"/>
                          <a:ea typeface="Lato"/>
                          <a:cs typeface="Lato"/>
                        </a:rPr>
                        <a:t>2</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7,061</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8,338</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1">
                          <a:solidFill>
                            <a:srgbClr val="C00000"/>
                          </a:solidFill>
                          <a:latin typeface="Lato"/>
                          <a:ea typeface="Lato"/>
                          <a:cs typeface="Lato"/>
                        </a:rPr>
                        <a:t>11,064</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extLst>
                  <a:ext uri="{0D108BD9-81ED-4DB2-BD59-A6C34878D82A}">
                    <a16:rowId xmlns:a16="http://schemas.microsoft.com/office/drawing/2014/main" val="10003"/>
                  </a:ext>
                </a:extLst>
              </a:tr>
              <a:tr h="489857">
                <a:tc>
                  <a:txBody>
                    <a:bodyPr/>
                    <a:lstStyle/>
                    <a:p>
                      <a:pPr algn="ctr"/>
                      <a:r>
                        <a:rPr sz="1875" b="0">
                          <a:solidFill>
                            <a:srgbClr val="222222"/>
                          </a:solidFill>
                          <a:latin typeface="Lato"/>
                          <a:ea typeface="Lato"/>
                          <a:cs typeface="Lato"/>
                        </a:rPr>
                        <a:t>3</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lang="en-US" sz="1875" b="0">
                          <a:solidFill>
                            <a:srgbClr val="888888"/>
                          </a:solidFill>
                          <a:latin typeface="Lato"/>
                          <a:ea typeface="Lato"/>
                          <a:cs typeface="Lato"/>
                        </a:rPr>
                        <a:t>*</a:t>
                      </a:r>
                      <a:endParaRPr sz="1875" b="0">
                        <a:solidFill>
                          <a:srgbClr val="888888"/>
                        </a:solidFill>
                        <a:latin typeface="Lato"/>
                        <a:ea typeface="Lato"/>
                        <a:cs typeface="Lato"/>
                      </a:endParaRP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5,271</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1">
                          <a:solidFill>
                            <a:srgbClr val="C00000"/>
                          </a:solidFill>
                          <a:latin typeface="Lato"/>
                          <a:ea typeface="Lato"/>
                          <a:cs typeface="Lato"/>
                        </a:rPr>
                        <a:t>7,989</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extLst>
                  <a:ext uri="{0D108BD9-81ED-4DB2-BD59-A6C34878D82A}">
                    <a16:rowId xmlns:a16="http://schemas.microsoft.com/office/drawing/2014/main" val="10004"/>
                  </a:ext>
                </a:extLst>
              </a:tr>
              <a:tr h="489857">
                <a:tc>
                  <a:txBody>
                    <a:bodyPr/>
                    <a:lstStyle/>
                    <a:p>
                      <a:pPr algn="ctr"/>
                      <a:r>
                        <a:rPr sz="1875" b="0">
                          <a:solidFill>
                            <a:srgbClr val="222222"/>
                          </a:solidFill>
                          <a:latin typeface="Lato"/>
                          <a:ea typeface="Lato"/>
                          <a:cs typeface="Lato"/>
                        </a:rPr>
                        <a:t>4</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lang="en-US" sz="1875" b="0">
                          <a:solidFill>
                            <a:srgbClr val="888888"/>
                          </a:solidFill>
                          <a:latin typeface="Lato"/>
                          <a:ea typeface="Lato"/>
                          <a:cs typeface="Lato"/>
                        </a:rPr>
                        <a:t>*</a:t>
                      </a:r>
                      <a:endParaRPr sz="1875" b="0">
                        <a:solidFill>
                          <a:srgbClr val="888888"/>
                        </a:solidFill>
                        <a:latin typeface="Lato"/>
                        <a:ea typeface="Lato"/>
                        <a:cs typeface="Lato"/>
                      </a:endParaRP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1,992</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1">
                          <a:solidFill>
                            <a:srgbClr val="C00000"/>
                          </a:solidFill>
                          <a:latin typeface="Lato"/>
                          <a:ea typeface="Lato"/>
                          <a:cs typeface="Lato"/>
                        </a:rPr>
                        <a:t>7,153</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extLst>
                  <a:ext uri="{0D108BD9-81ED-4DB2-BD59-A6C34878D82A}">
                    <a16:rowId xmlns:a16="http://schemas.microsoft.com/office/drawing/2014/main" val="10005"/>
                  </a:ext>
                </a:extLst>
              </a:tr>
              <a:tr h="489857">
                <a:tc>
                  <a:txBody>
                    <a:bodyPr/>
                    <a:lstStyle/>
                    <a:p>
                      <a:pPr algn="ctr"/>
                      <a:r>
                        <a:rPr sz="1875" b="0">
                          <a:solidFill>
                            <a:srgbClr val="222222"/>
                          </a:solidFill>
                          <a:latin typeface="Lato"/>
                          <a:ea typeface="Lato"/>
                          <a:cs typeface="Lato"/>
                        </a:rPr>
                        <a:t>4,2</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lang="en-US" sz="1875" b="0">
                          <a:solidFill>
                            <a:srgbClr val="888888"/>
                          </a:solidFill>
                          <a:latin typeface="Lato"/>
                          <a:ea typeface="Lato"/>
                          <a:cs typeface="Lato"/>
                        </a:rPr>
                        <a:t>*</a:t>
                      </a:r>
                      <a:endParaRPr sz="1875" b="0">
                        <a:solidFill>
                          <a:srgbClr val="888888"/>
                        </a:solidFill>
                        <a:latin typeface="Lato"/>
                        <a:ea typeface="Lato"/>
                        <a:cs typeface="Lato"/>
                      </a:endParaRP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2,257</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1">
                          <a:solidFill>
                            <a:srgbClr val="C00000"/>
                          </a:solidFill>
                          <a:latin typeface="Lato"/>
                          <a:ea typeface="Lato"/>
                          <a:cs typeface="Lato"/>
                        </a:rPr>
                        <a:t>5,907</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extLst>
                  <a:ext uri="{0D108BD9-81ED-4DB2-BD59-A6C34878D82A}">
                    <a16:rowId xmlns:a16="http://schemas.microsoft.com/office/drawing/2014/main" val="10006"/>
                  </a:ext>
                </a:extLst>
              </a:tr>
            </a:tbl>
          </a:graphicData>
        </a:graphic>
      </p:graphicFrame>
      <p:sp>
        <p:nvSpPr>
          <p:cNvPr id="7" name="ee-legend">
            <a:extLst>
              <a:ext uri="{FF2B5EF4-FFF2-40B4-BE49-F238E27FC236}">
                <a16:creationId xmlns:a16="http://schemas.microsoft.com/office/drawing/2014/main" id="{F85349A7-AF0C-4C3C-BF81-9937CD2F19A0}"/>
              </a:ext>
            </a:extLst>
          </p:cNvPr>
          <p:cNvSpPr>
            <a:spLocks noGrp="1"/>
          </p:cNvSpPr>
          <p:nvPr/>
        </p:nvSpPr>
        <p:spPr>
          <a:xfrm>
            <a:off x="533400" y="5248275"/>
            <a:ext cx="8077200" cy="571500"/>
          </a:xfrm>
          <a:prstGeom prst="rect">
            <a:avLst/>
          </a:prstGeom>
          <a:noFill/>
          <a:ln w="0">
            <a:noFill/>
          </a:ln>
        </p:spPr>
        <p:txBody>
          <a:bodyPr wrap="square" lIns="0" tIns="0" rIns="0" bIns="0" anchor="t">
            <a:noAutofit/>
          </a:bodyPr>
          <a:lstStyle>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a:pPr algn="l">
              <a:defRPr sz="1575">
                <a:solidFill>
                  <a:srgbClr val="555555"/>
                </a:solidFill>
                <a:latin typeface="Lato"/>
                <a:ea typeface="Lato"/>
                <a:cs typeface="Lato"/>
              </a:defRPr>
            </a:pPr>
            <a:r>
              <a:rPr sz="1575">
                <a:solidFill>
                  <a:srgbClr val="555555"/>
                </a:solidFill>
                <a:latin typeface="Lato"/>
                <a:ea typeface="Lato"/>
                <a:cs typeface="Lato"/>
              </a:rPr>
              <a:t>* Chưa đạt L</a:t>
            </a:r>
            <a:r>
              <a:rPr lang="en-US" sz="1575">
                <a:solidFill>
                  <a:srgbClr val="555555"/>
                </a:solidFill>
                <a:latin typeface="Lato"/>
                <a:ea typeface="Lato"/>
                <a:cs typeface="Lato"/>
              </a:rPr>
              <a:t>, thể hiện việc user thiếu dữ liệu</a:t>
            </a:r>
          </a:p>
          <a:p>
            <a:pPr algn="l">
              <a:defRPr sz="1575">
                <a:solidFill>
                  <a:srgbClr val="555555"/>
                </a:solidFill>
                <a:latin typeface="Lato"/>
                <a:ea typeface="Lato"/>
                <a:cs typeface="Lato"/>
              </a:defRPr>
            </a:pPr>
            <a:r>
              <a:rPr lang="en-US"/>
              <a:t>* Điều kiện L là nghiêm ngặt</a:t>
            </a:r>
            <a:endParaRPr sz="1575">
              <a:solidFill>
                <a:srgbClr val="555555"/>
              </a:solidFill>
              <a:latin typeface="Lato"/>
              <a:ea typeface="Lato"/>
              <a:cs typeface="Lato"/>
            </a:endParaRPr>
          </a:p>
        </p:txBody>
      </p:sp>
    </p:spTree>
    <p:extLst>
      <p:ext uri="{BB962C8B-B14F-4D97-AF65-F5344CB8AC3E}">
        <p14:creationId xmlns:p14="http://schemas.microsoft.com/office/powerpoint/2010/main" val="292364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idx="12"/>
          </p:nvPr>
        </p:nvSpPr>
        <p:spPr>
          <a:xfrm>
            <a:off x="8572500" y="6572250"/>
            <a:ext cx="342900" cy="171450"/>
          </a:xfrm>
        </p:spPr>
        <p:txBody>
          <a:bodyPr lIns="0" tIns="0" rIns="0" bIns="0"/>
          <a:lstStyle>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a:pPr algn="r">
              <a:defRPr sz="1050">
                <a:solidFill>
                  <a:srgbClr val="C00000"/>
                </a:solidFill>
                <a:latin typeface="Lato"/>
                <a:ea typeface="Lato"/>
                <a:cs typeface="Lato"/>
              </a:defRPr>
            </a:pPr>
            <a:fld id="{BA58DA2A-B818-18A9-29C1-B697728D5BCE}" type="slidenum">
              <a:rPr sz="1050">
                <a:solidFill>
                  <a:srgbClr val="C00000"/>
                </a:solidFill>
                <a:latin typeface="Lato"/>
                <a:ea typeface="Lato"/>
                <a:cs typeface="Lato"/>
              </a:rPr>
              <a:t>10</a:t>
            </a:fld>
            <a:endParaRPr/>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266700" y="85725"/>
            <a:ext cx="8572500" cy="495300"/>
          </a:xfrm>
        </p:spPr>
        <p:txBody>
          <a:bodyPr lIns="0" tIns="0" rIns="0" bIns="0" anchor="ctr">
            <a:noAutofit/>
          </a:bodyPr>
          <a:lstStyle>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a:pPr>
              <a:defRPr sz="2700" b="1">
                <a:solidFill>
                  <a:srgbClr val="FFFFFF"/>
                </a:solidFill>
                <a:latin typeface="Lato"/>
                <a:ea typeface="Lato"/>
                <a:cs typeface="Lato"/>
              </a:defRPr>
            </a:pPr>
            <a:r>
              <a:rPr sz="2700" b="1">
                <a:solidFill>
                  <a:srgbClr val="FFFFFF"/>
                </a:solidFill>
                <a:latin typeface="Lato"/>
                <a:ea typeface="Lato"/>
                <a:cs typeface="Lato"/>
              </a:rPr>
              <a:t>Mức dữ liệu tối thiểu và trạng thái α</a:t>
            </a:r>
            <a:endParaRPr/>
          </a:p>
        </p:txBody>
      </p:sp>
      <p:sp>
        <p:nvSpPr>
          <p:cNvPr id="5" name="min-units">
            <a:extLst>
              <a:ext uri="{FF2B5EF4-FFF2-40B4-BE49-F238E27FC236}">
                <a16:creationId xmlns:a16="http://schemas.microsoft.com/office/drawing/2014/main" id="{75079B18-ADED-4FBD-9CC5-7380191E10A5}"/>
              </a:ext>
            </a:extLst>
          </p:cNvPr>
          <p:cNvSpPr>
            <a:spLocks noGrp="1"/>
          </p:cNvSpPr>
          <p:nvPr/>
        </p:nvSpPr>
        <p:spPr>
          <a:xfrm>
            <a:off x="533400" y="1000125"/>
            <a:ext cx="8077200" cy="342900"/>
          </a:xfrm>
          <a:prstGeom prst="rect">
            <a:avLst/>
          </a:prstGeom>
          <a:noFill/>
          <a:ln w="0">
            <a:noFill/>
          </a:ln>
        </p:spPr>
        <p:txBody>
          <a:bodyPr wrap="square" lIns="0" tIns="0" rIns="0" bIns="0" anchor="t">
            <a:noAutofit/>
          </a:bodyPr>
          <a:lstStyle>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a:pPr algn="l">
              <a:defRPr sz="1875">
                <a:solidFill>
                  <a:srgbClr val="222222"/>
                </a:solidFill>
                <a:latin typeface="Lato"/>
                <a:ea typeface="Lato"/>
                <a:cs typeface="Lato"/>
              </a:defRPr>
            </a:pPr>
            <a:r>
              <a:rPr sz="1875">
                <a:solidFill>
                  <a:srgbClr val="222222"/>
                </a:solidFill>
                <a:latin typeface="Lato"/>
                <a:ea typeface="Lato"/>
                <a:cs typeface="Lato"/>
              </a:rPr>
              <a:t>minₖ Dₖ, đơn vị Mbit/user, cùng </a:t>
            </a:r>
            <a:r>
              <a:rPr lang="en-US" sz="1875">
                <a:solidFill>
                  <a:srgbClr val="222222"/>
                </a:solidFill>
                <a:latin typeface="Lato"/>
                <a:ea typeface="Lato"/>
                <a:cs typeface="Lato"/>
              </a:rPr>
              <a:t>các cấu hình L khác nhau</a:t>
            </a:r>
            <a:endParaRPr sz="1875">
              <a:solidFill>
                <a:srgbClr val="222222"/>
              </a:solidFill>
              <a:latin typeface="Lato"/>
              <a:ea typeface="Lato"/>
              <a:cs typeface="Lato"/>
            </a:endParaRPr>
          </a:p>
        </p:txBody>
      </p:sp>
      <p:graphicFrame>
        <p:nvGraphicFramePr>
          <p:cNvPr id="6" name="Minimum_data_summary">
            <a:extLst>
              <a:ext uri="{FF2B5EF4-FFF2-40B4-BE49-F238E27FC236}">
                <a16:creationId xmlns:a16="http://schemas.microsoft.com/office/drawing/2014/main" id="{6BB34351-7511-4846-BA3D-6AF90F9BB7D1}"/>
              </a:ext>
            </a:extLst>
          </p:cNvPr>
          <p:cNvGraphicFramePr/>
          <p:nvPr/>
        </p:nvGraphicFramePr>
        <p:xfrm>
          <a:off x="533400" y="1514475"/>
          <a:ext cx="8077200" cy="3303270"/>
        </p:xfrm>
        <a:graphic>
          <a:graphicData uri="http://schemas.openxmlformats.org/drawingml/2006/table">
            <a:tbl>
              <a:tblPr/>
              <a:tblGrid>
                <a:gridCol w="15049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447675">
                <a:tc>
                  <a:txBody>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a:lstStyle/>
                    <a:p>
                      <a:pPr algn="ctr"/>
                      <a:r>
                        <a:rPr sz="1725" b="1">
                          <a:solidFill>
                            <a:srgbClr val="FFFFFF"/>
                          </a:solidFill>
                          <a:latin typeface="Lato"/>
                          <a:ea typeface="Lato"/>
                          <a:cs typeface="Lato"/>
                        </a:rPr>
                        <a:t>Joint PSO</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a:lstStyle/>
                    <a:p>
                      <a:pPr algn="ctr"/>
                      <a:r>
                        <a:rPr sz="1725" b="1">
                          <a:solidFill>
                            <a:srgbClr val="FFFFFF"/>
                          </a:solidFill>
                          <a:latin typeface="Lato"/>
                          <a:ea typeface="Lato"/>
                          <a:cs typeface="Lato"/>
                        </a:rPr>
                        <a:t>Full PSO</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a:lstStyle/>
                    <a:p>
                      <a:pPr algn="ctr"/>
                      <a:r>
                        <a:rPr sz="1725" b="1">
                          <a:solidFill>
                            <a:srgbClr val="FFFFFF"/>
                          </a:solidFill>
                          <a:latin typeface="Lato"/>
                          <a:ea typeface="Lato"/>
                          <a:cs typeface="Lato"/>
                        </a:rPr>
                        <a:t>Full IPSO</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extLst>
                  <a:ext uri="{0D108BD9-81ED-4DB2-BD59-A6C34878D82A}">
                    <a16:rowId xmlns:a16="http://schemas.microsoft.com/office/drawing/2014/main" val="10000"/>
                  </a:ext>
                </a:extLst>
              </a:tr>
              <a:tr h="447675">
                <a:tc>
                  <a:txBody>
                    <a:bodyPr/>
                    <a:lstStyle/>
                    <a:p>
                      <a:pPr algn="ctr"/>
                      <a:r>
                        <a:rPr sz="1875" b="0">
                          <a:solidFill>
                            <a:srgbClr val="222222"/>
                          </a:solidFill>
                          <a:latin typeface="Lato"/>
                          <a:ea typeface="Lato"/>
                          <a:cs typeface="Lato"/>
                        </a:rPr>
                        <a:t>1</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1,2542</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1,1629</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1,0000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extLst>
                  <a:ext uri="{0D108BD9-81ED-4DB2-BD59-A6C34878D82A}">
                    <a16:rowId xmlns:a16="http://schemas.microsoft.com/office/drawing/2014/main" val="10001"/>
                  </a:ext>
                </a:extLst>
              </a:tr>
              <a:tr h="447675">
                <a:tc>
                  <a:txBody>
                    <a:bodyPr/>
                    <a:lstStyle/>
                    <a:p>
                      <a:pPr algn="ctr"/>
                      <a:r>
                        <a:rPr sz="1875" b="0">
                          <a:solidFill>
                            <a:srgbClr val="222222"/>
                          </a:solidFill>
                          <a:latin typeface="Lato"/>
                          <a:ea typeface="Lato"/>
                          <a:cs typeface="Lato"/>
                        </a:rPr>
                        <a:t>1,5</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1,5000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1,5000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1,6786</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extLst>
                  <a:ext uri="{0D108BD9-81ED-4DB2-BD59-A6C34878D82A}">
                    <a16:rowId xmlns:a16="http://schemas.microsoft.com/office/drawing/2014/main" val="10002"/>
                  </a:ext>
                </a:extLst>
              </a:tr>
              <a:tr h="447675">
                <a:tc>
                  <a:txBody>
                    <a:bodyPr/>
                    <a:lstStyle/>
                    <a:p>
                      <a:pPr algn="ctr"/>
                      <a:r>
                        <a:rPr sz="1875" b="0">
                          <a:solidFill>
                            <a:srgbClr val="222222"/>
                          </a:solidFill>
                          <a:latin typeface="Lato"/>
                          <a:ea typeface="Lato"/>
                          <a:cs typeface="Lato"/>
                        </a:rPr>
                        <a:t>2</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2,0028</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2,0000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2,0000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extLst>
                  <a:ext uri="{0D108BD9-81ED-4DB2-BD59-A6C34878D82A}">
                    <a16:rowId xmlns:a16="http://schemas.microsoft.com/office/drawing/2014/main" val="10003"/>
                  </a:ext>
                </a:extLst>
              </a:tr>
              <a:tr h="447675">
                <a:tc>
                  <a:txBody>
                    <a:bodyPr/>
                    <a:lstStyle/>
                    <a:p>
                      <a:pPr algn="ctr"/>
                      <a:r>
                        <a:rPr sz="1875" b="0">
                          <a:solidFill>
                            <a:srgbClr val="222222"/>
                          </a:solidFill>
                          <a:latin typeface="Lato"/>
                          <a:ea typeface="Lato"/>
                          <a:cs typeface="Lato"/>
                        </a:rPr>
                        <a:t>3</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888888"/>
                          </a:solidFill>
                          <a:latin typeface="Lato"/>
                          <a:ea typeface="Lato"/>
                          <a:cs typeface="Lato"/>
                        </a:rPr>
                        <a:t>2,3376 *</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3,0018</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3,0000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extLst>
                  <a:ext uri="{0D108BD9-81ED-4DB2-BD59-A6C34878D82A}">
                    <a16:rowId xmlns:a16="http://schemas.microsoft.com/office/drawing/2014/main" val="10004"/>
                  </a:ext>
                </a:extLst>
              </a:tr>
              <a:tr h="447675">
                <a:tc>
                  <a:txBody>
                    <a:bodyPr/>
                    <a:lstStyle/>
                    <a:p>
                      <a:pPr algn="ctr"/>
                      <a:r>
                        <a:rPr sz="1875" b="0">
                          <a:solidFill>
                            <a:srgbClr val="222222"/>
                          </a:solidFill>
                          <a:latin typeface="Lato"/>
                          <a:ea typeface="Lato"/>
                          <a:cs typeface="Lato"/>
                        </a:rPr>
                        <a:t>4</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888888"/>
                          </a:solidFill>
                          <a:latin typeface="Lato"/>
                          <a:ea typeface="Lato"/>
                          <a:cs typeface="Lato"/>
                        </a:rPr>
                        <a:t>2,1544 *</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4,0000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tc>
                  <a:txBody>
                    <a:bodyPr/>
                    <a:lstStyle/>
                    <a:p>
                      <a:pPr algn="ctr"/>
                      <a:r>
                        <a:rPr sz="1875" b="0">
                          <a:solidFill>
                            <a:srgbClr val="222222"/>
                          </a:solidFill>
                          <a:latin typeface="Lato"/>
                          <a:ea typeface="Lato"/>
                          <a:cs typeface="Lato"/>
                        </a:rPr>
                        <a:t>4,0000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FFFFF"/>
                    </a:solidFill>
                  </a:tcPr>
                </a:tc>
                <a:extLst>
                  <a:ext uri="{0D108BD9-81ED-4DB2-BD59-A6C34878D82A}">
                    <a16:rowId xmlns:a16="http://schemas.microsoft.com/office/drawing/2014/main" val="10005"/>
                  </a:ext>
                </a:extLst>
              </a:tr>
              <a:tr h="447675">
                <a:tc>
                  <a:txBody>
                    <a:bodyPr/>
                    <a:lstStyle/>
                    <a:p>
                      <a:pPr algn="ctr"/>
                      <a:r>
                        <a:rPr sz="1875" b="0">
                          <a:solidFill>
                            <a:srgbClr val="222222"/>
                          </a:solidFill>
                          <a:latin typeface="Lato"/>
                          <a:ea typeface="Lato"/>
                          <a:cs typeface="Lato"/>
                        </a:rPr>
                        <a:t>4,2</a:t>
                      </a:r>
                    </a:p>
                  </a:txBody>
                  <a:tcPr anchor="ctr">
                    <a:lnL w="5715">
                      <a:solidFill>
                        <a:srgbClr val="D8D8D8"/>
                      </a:solidFill>
                      <a:prstDash val="soli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888888"/>
                          </a:solidFill>
                          <a:latin typeface="Lato"/>
                          <a:ea typeface="Lato"/>
                          <a:cs typeface="Lato"/>
                        </a:rPr>
                        <a:t>2,5234 *</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4,2000</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tc>
                  <a:txBody>
                    <a:bodyPr/>
                    <a:lstStyle/>
                    <a:p>
                      <a:pPr algn="ctr"/>
                      <a:r>
                        <a:rPr sz="1875" b="0">
                          <a:solidFill>
                            <a:srgbClr val="222222"/>
                          </a:solidFill>
                          <a:latin typeface="Lato"/>
                          <a:ea typeface="Lato"/>
                          <a:cs typeface="Lato"/>
                        </a:rPr>
                        <a:t>4,2001</a:t>
                      </a:r>
                    </a:p>
                  </a:txBody>
                  <a:tcPr anchor="ctr">
                    <a:lnL w="5715" cap="flat" cmpd="sng" algn="ctr">
                      <a:solidFill>
                        <a:srgbClr val="D8D8D8"/>
                      </a:solidFill>
                      <a:prstDash val="solid"/>
                      <a:round/>
                      <a:headEnd type="none" w="med" len="med"/>
                      <a:tailEnd type="none" w="med" len="med"/>
                    </a:lnL>
                    <a:lnR w="5715">
                      <a:solidFill>
                        <a:srgbClr val="D8D8D8"/>
                      </a:solidFill>
                      <a:prstDash val="solid"/>
                    </a:lnR>
                    <a:lnT w="5715" cap="flat" cmpd="sng" algn="ctr">
                      <a:solidFill>
                        <a:srgbClr val="D8D8D8"/>
                      </a:solidFill>
                      <a:prstDash val="solid"/>
                      <a:round/>
                      <a:headEnd type="none" w="med" len="med"/>
                      <a:tailEnd type="none" w="med" len="med"/>
                    </a:lnT>
                    <a:lnB w="5715">
                      <a:solidFill>
                        <a:srgbClr val="D8D8D8"/>
                      </a:solidFill>
                      <a:prstDash val="solid"/>
                    </a:lnB>
                    <a:solidFill>
                      <a:srgbClr val="F8F3F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2364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9B9E71-1FA7-189D-E92B-F5C80A35357F}"/>
              </a:ext>
            </a:extLst>
          </p:cNvPr>
          <p:cNvSpPr>
            <a:spLocks noGrp="1"/>
          </p:cNvSpPr>
          <p:nvPr>
            <p:ph type="sldNum" idx="12"/>
          </p:nvPr>
        </p:nvSpPr>
        <p:spPr/>
        <p:txBody>
          <a:bodyPr/>
          <a:lstStyle/>
          <a:p>
            <a:fld id="{9EA0BE3B-158A-4EDF-80DC-E394A0D1600F}" type="slidenum">
              <a:rPr lang="en-VN"/>
              <a:t>11</a:t>
            </a:fld>
            <a:endParaRPr lang="en-VN"/>
          </a:p>
        </p:txBody>
      </p:sp>
      <p:sp>
        <p:nvSpPr>
          <p:cNvPr id="3" name="Title 2">
            <a:extLst>
              <a:ext uri="{FF2B5EF4-FFF2-40B4-BE49-F238E27FC236}">
                <a16:creationId xmlns:a16="http://schemas.microsoft.com/office/drawing/2014/main" id="{EC2D878B-9F55-E179-F5ED-75BA6F22271E}"/>
              </a:ext>
            </a:extLst>
          </p:cNvPr>
          <p:cNvSpPr>
            <a:spLocks noGrp="1"/>
          </p:cNvSpPr>
          <p:nvPr>
            <p:ph type="title"/>
          </p:nvPr>
        </p:nvSpPr>
        <p:spPr/>
        <p:txBody>
          <a:bodyPr/>
          <a:lstStyle/>
          <a:p>
            <a:r>
              <a:rPr lang="en-VN"/>
              <a:t>Các kết quả với L = 1Mbit</a:t>
            </a:r>
          </a:p>
        </p:txBody>
      </p:sp>
      <p:pic>
        <p:nvPicPr>
          <p:cNvPr id="6" name="Content Placeholder 5">
            <a:extLst>
              <a:ext uri="{FF2B5EF4-FFF2-40B4-BE49-F238E27FC236}">
                <a16:creationId xmlns:a16="http://schemas.microsoft.com/office/drawing/2014/main" id="{B578039B-B3AA-6821-1BD1-54379A0D8456}"/>
              </a:ext>
            </a:extLst>
          </p:cNvPr>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389189" y="855751"/>
            <a:ext cx="7963702" cy="5453848"/>
          </a:xfrm>
          <a:prstGeom prst="rect">
            <a:avLst/>
          </a:prstGeom>
        </p:spPr>
      </p:pic>
    </p:spTree>
    <p:extLst>
      <p:ext uri="{BB962C8B-B14F-4D97-AF65-F5344CB8AC3E}">
        <p14:creationId xmlns:p14="http://schemas.microsoft.com/office/powerpoint/2010/main" val="2376055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5D134-2A58-8620-AC2A-7A6328A3763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4C647D-AD76-EE09-11AC-CFADFDB8C89D}"/>
              </a:ext>
            </a:extLst>
          </p:cNvPr>
          <p:cNvSpPr>
            <a:spLocks noGrp="1"/>
          </p:cNvSpPr>
          <p:nvPr>
            <p:ph type="sldNum" idx="12"/>
          </p:nvPr>
        </p:nvSpPr>
        <p:spPr/>
        <p:txBody>
          <a:bodyPr/>
          <a:lstStyle/>
          <a:p>
            <a:fld id="{9EA0BE3B-158A-4EDF-80DC-E394A0D1600F}" type="slidenum">
              <a:rPr lang="en-VN"/>
              <a:t>12</a:t>
            </a:fld>
            <a:endParaRPr lang="en-VN"/>
          </a:p>
        </p:txBody>
      </p:sp>
      <p:sp>
        <p:nvSpPr>
          <p:cNvPr id="3" name="Title 2">
            <a:extLst>
              <a:ext uri="{FF2B5EF4-FFF2-40B4-BE49-F238E27FC236}">
                <a16:creationId xmlns:a16="http://schemas.microsoft.com/office/drawing/2014/main" id="{C6994995-29DB-8A22-C4A9-AAB4624514D2}"/>
              </a:ext>
            </a:extLst>
          </p:cNvPr>
          <p:cNvSpPr>
            <a:spLocks noGrp="1"/>
          </p:cNvSpPr>
          <p:nvPr>
            <p:ph type="title"/>
          </p:nvPr>
        </p:nvSpPr>
        <p:spPr/>
        <p:txBody>
          <a:bodyPr/>
          <a:lstStyle/>
          <a:p>
            <a:r>
              <a:rPr lang="en-VN"/>
              <a:t>Các kết quả với L = 1Mbit</a:t>
            </a:r>
          </a:p>
        </p:txBody>
      </p:sp>
      <p:pic>
        <p:nvPicPr>
          <p:cNvPr id="8" name="Content Placeholder 7">
            <a:extLst>
              <a:ext uri="{FF2B5EF4-FFF2-40B4-BE49-F238E27FC236}">
                <a16:creationId xmlns:a16="http://schemas.microsoft.com/office/drawing/2014/main" id="{1BFD0CCA-4814-0033-3AD8-AFB4A61942A3}"/>
              </a:ext>
            </a:extLst>
          </p:cNvPr>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793750" y="1073944"/>
            <a:ext cx="7556500" cy="4838700"/>
          </a:xfrm>
          <a:prstGeom prst="rect">
            <a:avLst/>
          </a:prstGeom>
        </p:spPr>
      </p:pic>
    </p:spTree>
    <p:extLst>
      <p:ext uri="{BB962C8B-B14F-4D97-AF65-F5344CB8AC3E}">
        <p14:creationId xmlns:p14="http://schemas.microsoft.com/office/powerpoint/2010/main" val="3674476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E8B44-03D9-E3C2-5068-4FAAED749F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03B657-7AB1-C3A3-7545-7914DFC39AF2}"/>
              </a:ext>
            </a:extLst>
          </p:cNvPr>
          <p:cNvSpPr>
            <a:spLocks noGrp="1"/>
          </p:cNvSpPr>
          <p:nvPr>
            <p:ph type="sldNum" idx="12"/>
          </p:nvPr>
        </p:nvSpPr>
        <p:spPr/>
        <p:txBody>
          <a:bodyPr/>
          <a:lstStyle/>
          <a:p>
            <a:fld id="{9EA0BE3B-158A-4EDF-80DC-E394A0D1600F}" type="slidenum">
              <a:rPr lang="en-VN"/>
              <a:t>13</a:t>
            </a:fld>
            <a:endParaRPr lang="en-VN"/>
          </a:p>
        </p:txBody>
      </p:sp>
      <p:sp>
        <p:nvSpPr>
          <p:cNvPr id="3" name="Title 2">
            <a:extLst>
              <a:ext uri="{FF2B5EF4-FFF2-40B4-BE49-F238E27FC236}">
                <a16:creationId xmlns:a16="http://schemas.microsoft.com/office/drawing/2014/main" id="{0E565D0D-C5EB-F5F9-FFBA-6D2E85F5A412}"/>
              </a:ext>
            </a:extLst>
          </p:cNvPr>
          <p:cNvSpPr>
            <a:spLocks noGrp="1"/>
          </p:cNvSpPr>
          <p:nvPr>
            <p:ph type="title"/>
          </p:nvPr>
        </p:nvSpPr>
        <p:spPr/>
        <p:txBody>
          <a:bodyPr/>
          <a:lstStyle/>
          <a:p>
            <a:r>
              <a:rPr lang="en-VN"/>
              <a:t>Các kết quả với L = 1.5Mbit</a:t>
            </a:r>
          </a:p>
        </p:txBody>
      </p:sp>
      <p:pic>
        <p:nvPicPr>
          <p:cNvPr id="4" name="Content Placeholder 3">
            <a:extLst>
              <a:ext uri="{FF2B5EF4-FFF2-40B4-BE49-F238E27FC236}">
                <a16:creationId xmlns:a16="http://schemas.microsoft.com/office/drawing/2014/main" id="{86F934EB-BE46-79B2-255D-766E1B4BEEFD}"/>
              </a:ext>
            </a:extLst>
          </p:cNvPr>
          <p:cNvPicPr>
            <a:picLocks noGrp="1" noChangeAspect="1"/>
          </p:cNvPicPr>
          <p:nvPr>
            <p:ph idx="13"/>
          </p:nvPr>
        </p:nvPicPr>
        <p:blipFill>
          <a:blip r:embed="rId2"/>
          <a:stretch>
            <a:fillRect/>
          </a:stretch>
        </p:blipFill>
        <p:spPr>
          <a:xfrm>
            <a:off x="701589" y="841375"/>
            <a:ext cx="7740821" cy="5303838"/>
          </a:xfrm>
          <a:prstGeom prst="rect">
            <a:avLst/>
          </a:prstGeom>
        </p:spPr>
      </p:pic>
    </p:spTree>
    <p:extLst>
      <p:ext uri="{BB962C8B-B14F-4D97-AF65-F5344CB8AC3E}">
        <p14:creationId xmlns:p14="http://schemas.microsoft.com/office/powerpoint/2010/main" val="3576835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CF25B-56C0-2F36-D8B3-143675946E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FADCCB-7032-0227-2464-E11B377A215C}"/>
              </a:ext>
            </a:extLst>
          </p:cNvPr>
          <p:cNvSpPr>
            <a:spLocks noGrp="1"/>
          </p:cNvSpPr>
          <p:nvPr>
            <p:ph type="sldNum" idx="12"/>
          </p:nvPr>
        </p:nvSpPr>
        <p:spPr/>
        <p:txBody>
          <a:bodyPr/>
          <a:lstStyle/>
          <a:p>
            <a:fld id="{9EA0BE3B-158A-4EDF-80DC-E394A0D1600F}" type="slidenum">
              <a:rPr lang="en-VN"/>
              <a:t>14</a:t>
            </a:fld>
            <a:endParaRPr lang="en-VN"/>
          </a:p>
        </p:txBody>
      </p:sp>
      <p:sp>
        <p:nvSpPr>
          <p:cNvPr id="3" name="Title 2">
            <a:extLst>
              <a:ext uri="{FF2B5EF4-FFF2-40B4-BE49-F238E27FC236}">
                <a16:creationId xmlns:a16="http://schemas.microsoft.com/office/drawing/2014/main" id="{F1E640C5-4DFA-8580-B0A0-9870D3740CDE}"/>
              </a:ext>
            </a:extLst>
          </p:cNvPr>
          <p:cNvSpPr>
            <a:spLocks noGrp="1"/>
          </p:cNvSpPr>
          <p:nvPr>
            <p:ph type="title"/>
          </p:nvPr>
        </p:nvSpPr>
        <p:spPr/>
        <p:txBody>
          <a:bodyPr/>
          <a:lstStyle/>
          <a:p>
            <a:r>
              <a:rPr lang="en-VN"/>
              <a:t>Các kết quả với L = 2Mbit</a:t>
            </a:r>
          </a:p>
        </p:txBody>
      </p:sp>
      <p:pic>
        <p:nvPicPr>
          <p:cNvPr id="7" name="Content Placeholder 6">
            <a:extLst>
              <a:ext uri="{FF2B5EF4-FFF2-40B4-BE49-F238E27FC236}">
                <a16:creationId xmlns:a16="http://schemas.microsoft.com/office/drawing/2014/main" id="{717458FA-AEA5-7718-F098-F03604F99909}"/>
              </a:ext>
            </a:extLst>
          </p:cNvPr>
          <p:cNvPicPr>
            <a:picLocks noGrp="1" noChangeAspect="1"/>
          </p:cNvPicPr>
          <p:nvPr>
            <p:ph idx="13"/>
          </p:nvPr>
        </p:nvPicPr>
        <p:blipFill>
          <a:blip r:embed="rId2"/>
          <a:stretch>
            <a:fillRect/>
          </a:stretch>
        </p:blipFill>
        <p:spPr>
          <a:xfrm>
            <a:off x="234950" y="879681"/>
            <a:ext cx="8674100" cy="5227225"/>
          </a:xfrm>
          <a:prstGeom prst="rect">
            <a:avLst/>
          </a:prstGeom>
        </p:spPr>
      </p:pic>
    </p:spTree>
    <p:extLst>
      <p:ext uri="{BB962C8B-B14F-4D97-AF65-F5344CB8AC3E}">
        <p14:creationId xmlns:p14="http://schemas.microsoft.com/office/powerpoint/2010/main" val="3375675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C9D79-A99C-CB58-4064-4207B4D9E2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78F689-86AE-B76E-6E09-601A3104D478}"/>
              </a:ext>
            </a:extLst>
          </p:cNvPr>
          <p:cNvSpPr>
            <a:spLocks noGrp="1"/>
          </p:cNvSpPr>
          <p:nvPr>
            <p:ph type="sldNum" idx="12"/>
          </p:nvPr>
        </p:nvSpPr>
        <p:spPr/>
        <p:txBody>
          <a:bodyPr/>
          <a:lstStyle/>
          <a:p>
            <a:fld id="{9EA0BE3B-158A-4EDF-80DC-E394A0D1600F}" type="slidenum">
              <a:rPr lang="en-VN"/>
              <a:t>15</a:t>
            </a:fld>
            <a:endParaRPr lang="en-VN"/>
          </a:p>
        </p:txBody>
      </p:sp>
      <p:sp>
        <p:nvSpPr>
          <p:cNvPr id="3" name="Title 2">
            <a:extLst>
              <a:ext uri="{FF2B5EF4-FFF2-40B4-BE49-F238E27FC236}">
                <a16:creationId xmlns:a16="http://schemas.microsoft.com/office/drawing/2014/main" id="{C92BD815-02E0-A8EA-91F3-992568246A0C}"/>
              </a:ext>
            </a:extLst>
          </p:cNvPr>
          <p:cNvSpPr>
            <a:spLocks noGrp="1"/>
          </p:cNvSpPr>
          <p:nvPr>
            <p:ph type="title"/>
          </p:nvPr>
        </p:nvSpPr>
        <p:spPr/>
        <p:txBody>
          <a:bodyPr/>
          <a:lstStyle/>
          <a:p>
            <a:r>
              <a:rPr lang="en-VN"/>
              <a:t>Các kết quả với L = 2Mbit</a:t>
            </a:r>
          </a:p>
        </p:txBody>
      </p:sp>
      <p:pic>
        <p:nvPicPr>
          <p:cNvPr id="7" name="Content Placeholder 6">
            <a:extLst>
              <a:ext uri="{FF2B5EF4-FFF2-40B4-BE49-F238E27FC236}">
                <a16:creationId xmlns:a16="http://schemas.microsoft.com/office/drawing/2014/main" id="{0296C19D-370C-1887-B222-D01AA30A6DA3}"/>
              </a:ext>
            </a:extLst>
          </p:cNvPr>
          <p:cNvPicPr>
            <a:picLocks noGrp="1" noChangeAspect="1"/>
          </p:cNvPicPr>
          <p:nvPr>
            <p:ph idx="13"/>
          </p:nvPr>
        </p:nvPicPr>
        <p:blipFill>
          <a:blip r:embed="rId2"/>
          <a:stretch>
            <a:fillRect/>
          </a:stretch>
        </p:blipFill>
        <p:spPr>
          <a:xfrm>
            <a:off x="234950" y="879681"/>
            <a:ext cx="8674100" cy="5227225"/>
          </a:xfrm>
          <a:prstGeom prst="rect">
            <a:avLst/>
          </a:prstGeom>
        </p:spPr>
      </p:pic>
    </p:spTree>
    <p:extLst>
      <p:ext uri="{BB962C8B-B14F-4D97-AF65-F5344CB8AC3E}">
        <p14:creationId xmlns:p14="http://schemas.microsoft.com/office/powerpoint/2010/main" val="1787901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DA3CB-4420-BC58-4C17-41D26A1D98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439A1C-5917-F4C3-28B5-A84C91FE008B}"/>
              </a:ext>
            </a:extLst>
          </p:cNvPr>
          <p:cNvSpPr>
            <a:spLocks noGrp="1"/>
          </p:cNvSpPr>
          <p:nvPr>
            <p:ph type="sldNum" idx="12"/>
          </p:nvPr>
        </p:nvSpPr>
        <p:spPr/>
        <p:txBody>
          <a:bodyPr/>
          <a:lstStyle/>
          <a:p>
            <a:fld id="{9EA0BE3B-158A-4EDF-80DC-E394A0D1600F}" type="slidenum">
              <a:rPr lang="en-VN"/>
              <a:t>16</a:t>
            </a:fld>
            <a:endParaRPr lang="en-VN"/>
          </a:p>
        </p:txBody>
      </p:sp>
      <p:sp>
        <p:nvSpPr>
          <p:cNvPr id="3" name="Title 2">
            <a:extLst>
              <a:ext uri="{FF2B5EF4-FFF2-40B4-BE49-F238E27FC236}">
                <a16:creationId xmlns:a16="http://schemas.microsoft.com/office/drawing/2014/main" id="{F7A8C38C-5029-703C-0481-BC4E220CEB61}"/>
              </a:ext>
            </a:extLst>
          </p:cNvPr>
          <p:cNvSpPr>
            <a:spLocks noGrp="1"/>
          </p:cNvSpPr>
          <p:nvPr>
            <p:ph type="title"/>
          </p:nvPr>
        </p:nvSpPr>
        <p:spPr/>
        <p:txBody>
          <a:bodyPr/>
          <a:lstStyle/>
          <a:p>
            <a:r>
              <a:rPr lang="en-VN"/>
              <a:t>Các kết quả với L = 3Mbit</a:t>
            </a:r>
          </a:p>
        </p:txBody>
      </p:sp>
      <p:pic>
        <p:nvPicPr>
          <p:cNvPr id="6" name="Content Placeholder 5">
            <a:extLst>
              <a:ext uri="{FF2B5EF4-FFF2-40B4-BE49-F238E27FC236}">
                <a16:creationId xmlns:a16="http://schemas.microsoft.com/office/drawing/2014/main" id="{70E73B27-E9ED-E525-3FBF-3C954B41967B}"/>
              </a:ext>
            </a:extLst>
          </p:cNvPr>
          <p:cNvPicPr>
            <a:picLocks noGrp="1" noChangeAspect="1"/>
          </p:cNvPicPr>
          <p:nvPr>
            <p:ph idx="13"/>
          </p:nvPr>
        </p:nvPicPr>
        <p:blipFill>
          <a:blip r:embed="rId2"/>
          <a:stretch>
            <a:fillRect/>
          </a:stretch>
        </p:blipFill>
        <p:spPr>
          <a:xfrm>
            <a:off x="-191533" y="937140"/>
            <a:ext cx="9004689" cy="5473880"/>
          </a:xfrm>
          <a:prstGeom prst="rect">
            <a:avLst/>
          </a:prstGeom>
        </p:spPr>
      </p:pic>
    </p:spTree>
    <p:extLst>
      <p:ext uri="{BB962C8B-B14F-4D97-AF65-F5344CB8AC3E}">
        <p14:creationId xmlns:p14="http://schemas.microsoft.com/office/powerpoint/2010/main" val="1381286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C743-9212-AD12-380A-8546CDC487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875709-683B-FE60-FD2D-91AC25F3C141}"/>
              </a:ext>
            </a:extLst>
          </p:cNvPr>
          <p:cNvSpPr>
            <a:spLocks noGrp="1"/>
          </p:cNvSpPr>
          <p:nvPr>
            <p:ph type="sldNum" idx="12"/>
          </p:nvPr>
        </p:nvSpPr>
        <p:spPr/>
        <p:txBody>
          <a:bodyPr/>
          <a:lstStyle/>
          <a:p>
            <a:fld id="{9EA0BE3B-158A-4EDF-80DC-E394A0D1600F}" type="slidenum">
              <a:rPr lang="en-VN"/>
              <a:t>17</a:t>
            </a:fld>
            <a:endParaRPr lang="en-VN"/>
          </a:p>
        </p:txBody>
      </p:sp>
      <p:sp>
        <p:nvSpPr>
          <p:cNvPr id="3" name="Title 2">
            <a:extLst>
              <a:ext uri="{FF2B5EF4-FFF2-40B4-BE49-F238E27FC236}">
                <a16:creationId xmlns:a16="http://schemas.microsoft.com/office/drawing/2014/main" id="{7F7E3E5E-DCF9-0A49-068B-44D71109BC17}"/>
              </a:ext>
            </a:extLst>
          </p:cNvPr>
          <p:cNvSpPr>
            <a:spLocks noGrp="1"/>
          </p:cNvSpPr>
          <p:nvPr>
            <p:ph type="title"/>
          </p:nvPr>
        </p:nvSpPr>
        <p:spPr/>
        <p:txBody>
          <a:bodyPr/>
          <a:lstStyle/>
          <a:p>
            <a:r>
              <a:rPr lang="en-VN"/>
              <a:t>Các kết quả với L = 3Mbit</a:t>
            </a:r>
          </a:p>
        </p:txBody>
      </p:sp>
      <p:pic>
        <p:nvPicPr>
          <p:cNvPr id="4" name="Content Placeholder 3">
            <a:extLst>
              <a:ext uri="{FF2B5EF4-FFF2-40B4-BE49-F238E27FC236}">
                <a16:creationId xmlns:a16="http://schemas.microsoft.com/office/drawing/2014/main" id="{278D667A-FF8C-C3B1-A3E7-64BB9B0190B6}"/>
              </a:ext>
            </a:extLst>
          </p:cNvPr>
          <p:cNvPicPr>
            <a:picLocks noGrp="1" noChangeAspect="1"/>
          </p:cNvPicPr>
          <p:nvPr>
            <p:ph idx="13"/>
          </p:nvPr>
        </p:nvPicPr>
        <p:blipFill>
          <a:blip r:embed="rId2"/>
          <a:stretch>
            <a:fillRect/>
          </a:stretch>
        </p:blipFill>
        <p:spPr>
          <a:xfrm>
            <a:off x="234950" y="879681"/>
            <a:ext cx="8674100" cy="5227225"/>
          </a:xfrm>
          <a:prstGeom prst="rect">
            <a:avLst/>
          </a:prstGeom>
        </p:spPr>
      </p:pic>
    </p:spTree>
    <p:extLst>
      <p:ext uri="{BB962C8B-B14F-4D97-AF65-F5344CB8AC3E}">
        <p14:creationId xmlns:p14="http://schemas.microsoft.com/office/powerpoint/2010/main" val="189313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4E74E-C235-EB37-FFD2-023027D2709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46824E-F31B-0D26-8907-D6D2C07836ED}"/>
              </a:ext>
            </a:extLst>
          </p:cNvPr>
          <p:cNvSpPr>
            <a:spLocks noGrp="1"/>
          </p:cNvSpPr>
          <p:nvPr>
            <p:ph type="sldNum" idx="12"/>
          </p:nvPr>
        </p:nvSpPr>
        <p:spPr/>
        <p:txBody>
          <a:bodyPr/>
          <a:lstStyle/>
          <a:p>
            <a:fld id="{9EA0BE3B-158A-4EDF-80DC-E394A0D1600F}" type="slidenum">
              <a:rPr lang="en-VN"/>
              <a:t>18</a:t>
            </a:fld>
            <a:endParaRPr lang="en-VN"/>
          </a:p>
        </p:txBody>
      </p:sp>
      <p:sp>
        <p:nvSpPr>
          <p:cNvPr id="3" name="Title 2">
            <a:extLst>
              <a:ext uri="{FF2B5EF4-FFF2-40B4-BE49-F238E27FC236}">
                <a16:creationId xmlns:a16="http://schemas.microsoft.com/office/drawing/2014/main" id="{C0BCA9E1-FE52-AE52-0DB1-171FCE80F126}"/>
              </a:ext>
            </a:extLst>
          </p:cNvPr>
          <p:cNvSpPr>
            <a:spLocks noGrp="1"/>
          </p:cNvSpPr>
          <p:nvPr>
            <p:ph type="title"/>
          </p:nvPr>
        </p:nvSpPr>
        <p:spPr/>
        <p:txBody>
          <a:bodyPr/>
          <a:lstStyle/>
          <a:p>
            <a:r>
              <a:rPr lang="en-VN"/>
              <a:t>Các kết quả với L = 3Mbit</a:t>
            </a:r>
          </a:p>
        </p:txBody>
      </p:sp>
      <p:pic>
        <p:nvPicPr>
          <p:cNvPr id="7" name="Picture 6">
            <a:extLst>
              <a:ext uri="{FF2B5EF4-FFF2-40B4-BE49-F238E27FC236}">
                <a16:creationId xmlns:a16="http://schemas.microsoft.com/office/drawing/2014/main" id="{9D4AC7DD-0E01-8B7A-B484-669BE65F31CD}"/>
              </a:ext>
            </a:extLst>
          </p:cNvPr>
          <p:cNvPicPr>
            <a:picLocks noChangeAspect="1"/>
          </p:cNvPicPr>
          <p:nvPr/>
        </p:nvPicPr>
        <p:blipFill>
          <a:blip r:embed="rId2"/>
          <a:stretch>
            <a:fillRect/>
          </a:stretch>
        </p:blipFill>
        <p:spPr>
          <a:xfrm>
            <a:off x="110557" y="877345"/>
            <a:ext cx="8468473" cy="5103309"/>
          </a:xfrm>
          <a:prstGeom prst="rect">
            <a:avLst/>
          </a:prstGeom>
        </p:spPr>
      </p:pic>
    </p:spTree>
    <p:extLst>
      <p:ext uri="{BB962C8B-B14F-4D97-AF65-F5344CB8AC3E}">
        <p14:creationId xmlns:p14="http://schemas.microsoft.com/office/powerpoint/2010/main" val="1739986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5E81A-C04A-1F38-30DA-8D54B23C1F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C053A7-E021-DBFB-6E98-9F6156046468}"/>
              </a:ext>
            </a:extLst>
          </p:cNvPr>
          <p:cNvSpPr>
            <a:spLocks noGrp="1"/>
          </p:cNvSpPr>
          <p:nvPr>
            <p:ph type="sldNum" idx="12"/>
          </p:nvPr>
        </p:nvSpPr>
        <p:spPr/>
        <p:txBody>
          <a:bodyPr/>
          <a:lstStyle/>
          <a:p>
            <a:fld id="{9EA0BE3B-158A-4EDF-80DC-E394A0D1600F}" type="slidenum">
              <a:rPr lang="en-VN"/>
              <a:t>19</a:t>
            </a:fld>
            <a:endParaRPr lang="en-VN"/>
          </a:p>
        </p:txBody>
      </p:sp>
      <p:sp>
        <p:nvSpPr>
          <p:cNvPr id="3" name="Title 2">
            <a:extLst>
              <a:ext uri="{FF2B5EF4-FFF2-40B4-BE49-F238E27FC236}">
                <a16:creationId xmlns:a16="http://schemas.microsoft.com/office/drawing/2014/main" id="{0513CCA1-A61E-DEB6-3DD4-9CB1DF3A378D}"/>
              </a:ext>
            </a:extLst>
          </p:cNvPr>
          <p:cNvSpPr>
            <a:spLocks noGrp="1"/>
          </p:cNvSpPr>
          <p:nvPr>
            <p:ph type="title"/>
          </p:nvPr>
        </p:nvSpPr>
        <p:spPr/>
        <p:txBody>
          <a:bodyPr/>
          <a:lstStyle/>
          <a:p>
            <a:r>
              <a:rPr lang="en-VN"/>
              <a:t>Các kết quả với L = 3Mbit</a:t>
            </a:r>
          </a:p>
        </p:txBody>
      </p:sp>
      <p:pic>
        <p:nvPicPr>
          <p:cNvPr id="7" name="Content Placeholder 6">
            <a:extLst>
              <a:ext uri="{FF2B5EF4-FFF2-40B4-BE49-F238E27FC236}">
                <a16:creationId xmlns:a16="http://schemas.microsoft.com/office/drawing/2014/main" id="{1CA4CE1F-5290-2D4B-8EA4-A444ADA882A2}"/>
              </a:ext>
            </a:extLst>
          </p:cNvPr>
          <p:cNvPicPr>
            <a:picLocks noGrp="1" noChangeAspect="1"/>
          </p:cNvPicPr>
          <p:nvPr>
            <p:ph idx="13"/>
          </p:nvPr>
        </p:nvPicPr>
        <p:blipFill>
          <a:blip r:embed="rId2"/>
          <a:stretch>
            <a:fillRect/>
          </a:stretch>
        </p:blipFill>
        <p:spPr>
          <a:xfrm>
            <a:off x="234950" y="879681"/>
            <a:ext cx="8674100" cy="5227225"/>
          </a:xfrm>
          <a:prstGeom prst="rect">
            <a:avLst/>
          </a:prstGeom>
        </p:spPr>
      </p:pic>
    </p:spTree>
    <p:extLst>
      <p:ext uri="{BB962C8B-B14F-4D97-AF65-F5344CB8AC3E}">
        <p14:creationId xmlns:p14="http://schemas.microsoft.com/office/powerpoint/2010/main" val="823107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E3E7A-A396-3976-48C3-9441BF445E8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4C88F7-FF5E-10AC-2126-C7CDE7ABF439}"/>
              </a:ext>
            </a:extLst>
          </p:cNvPr>
          <p:cNvSpPr>
            <a:spLocks noGrp="1"/>
          </p:cNvSpPr>
          <p:nvPr>
            <p:ph type="sldNum" idx="12"/>
          </p:nvPr>
        </p:nvSpPr>
        <p:spPr/>
        <p:txBody>
          <a:bodyPr/>
          <a:lstStyle/>
          <a:p>
            <a:fld id="{9EA0BE3B-158A-4EDF-80DC-E394A0D1600F}" type="slidenum">
              <a:rPr lang="en-VN"/>
              <a:t>20</a:t>
            </a:fld>
            <a:endParaRPr lang="en-VN"/>
          </a:p>
        </p:txBody>
      </p:sp>
      <p:sp>
        <p:nvSpPr>
          <p:cNvPr id="3" name="Title 2">
            <a:extLst>
              <a:ext uri="{FF2B5EF4-FFF2-40B4-BE49-F238E27FC236}">
                <a16:creationId xmlns:a16="http://schemas.microsoft.com/office/drawing/2014/main" id="{A1C7357F-84D2-E078-1458-D5411CB3C2A2}"/>
              </a:ext>
            </a:extLst>
          </p:cNvPr>
          <p:cNvSpPr>
            <a:spLocks noGrp="1"/>
          </p:cNvSpPr>
          <p:nvPr>
            <p:ph type="title"/>
          </p:nvPr>
        </p:nvSpPr>
        <p:spPr/>
        <p:txBody>
          <a:bodyPr/>
          <a:lstStyle/>
          <a:p>
            <a:r>
              <a:rPr lang="en-VN"/>
              <a:t>Các kết quả với L = 4Mbit</a:t>
            </a:r>
          </a:p>
        </p:txBody>
      </p:sp>
      <p:pic>
        <p:nvPicPr>
          <p:cNvPr id="7" name="Content Placeholder 6">
            <a:extLst>
              <a:ext uri="{FF2B5EF4-FFF2-40B4-BE49-F238E27FC236}">
                <a16:creationId xmlns:a16="http://schemas.microsoft.com/office/drawing/2014/main" id="{B8FE0EF5-D692-8F8D-2645-EE1303DCE5F1}"/>
              </a:ext>
            </a:extLst>
          </p:cNvPr>
          <p:cNvPicPr>
            <a:picLocks noGrp="1" noChangeAspect="1"/>
          </p:cNvPicPr>
          <p:nvPr>
            <p:ph idx="13"/>
          </p:nvPr>
        </p:nvPicPr>
        <p:blipFill>
          <a:blip r:embed="rId2"/>
          <a:stretch>
            <a:fillRect/>
          </a:stretch>
        </p:blipFill>
        <p:spPr>
          <a:xfrm>
            <a:off x="234950" y="879681"/>
            <a:ext cx="8674100" cy="5227225"/>
          </a:xfrm>
          <a:prstGeom prst="rect">
            <a:avLst/>
          </a:prstGeom>
        </p:spPr>
      </p:pic>
      <p:pic>
        <p:nvPicPr>
          <p:cNvPr id="4" name="Picture 3">
            <a:extLst>
              <a:ext uri="{FF2B5EF4-FFF2-40B4-BE49-F238E27FC236}">
                <a16:creationId xmlns:a16="http://schemas.microsoft.com/office/drawing/2014/main" id="{F306C378-D794-B3C8-5ADA-C877B3CD3F8F}"/>
              </a:ext>
            </a:extLst>
          </p:cNvPr>
          <p:cNvPicPr>
            <a:picLocks noChangeAspect="1"/>
          </p:cNvPicPr>
          <p:nvPr/>
        </p:nvPicPr>
        <p:blipFill>
          <a:blip r:embed="rId3"/>
          <a:stretch>
            <a:fillRect/>
          </a:stretch>
        </p:blipFill>
        <p:spPr>
          <a:xfrm>
            <a:off x="-370012" y="751094"/>
            <a:ext cx="9378350" cy="5651622"/>
          </a:xfrm>
          <a:prstGeom prst="rect">
            <a:avLst/>
          </a:prstGeom>
        </p:spPr>
      </p:pic>
    </p:spTree>
    <p:extLst>
      <p:ext uri="{BB962C8B-B14F-4D97-AF65-F5344CB8AC3E}">
        <p14:creationId xmlns:p14="http://schemas.microsoft.com/office/powerpoint/2010/main" val="1721653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39A87-C1EB-83A2-93C5-0C0ACF9E27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90D96B-FF5A-CCF7-51A7-02D16C42D6B9}"/>
              </a:ext>
            </a:extLst>
          </p:cNvPr>
          <p:cNvSpPr>
            <a:spLocks noGrp="1"/>
          </p:cNvSpPr>
          <p:nvPr>
            <p:ph type="sldNum" idx="12"/>
          </p:nvPr>
        </p:nvSpPr>
        <p:spPr/>
        <p:txBody>
          <a:bodyPr/>
          <a:lstStyle/>
          <a:p>
            <a:fld id="{9EA0BE3B-158A-4EDF-80DC-E394A0D1600F}" type="slidenum">
              <a:rPr lang="en-VN"/>
              <a:t>21</a:t>
            </a:fld>
            <a:endParaRPr lang="en-VN"/>
          </a:p>
        </p:txBody>
      </p:sp>
      <p:sp>
        <p:nvSpPr>
          <p:cNvPr id="3" name="Title 2">
            <a:extLst>
              <a:ext uri="{FF2B5EF4-FFF2-40B4-BE49-F238E27FC236}">
                <a16:creationId xmlns:a16="http://schemas.microsoft.com/office/drawing/2014/main" id="{3CAD0098-CBE1-7CF1-B61A-6C0C326A4FCF}"/>
              </a:ext>
            </a:extLst>
          </p:cNvPr>
          <p:cNvSpPr>
            <a:spLocks noGrp="1"/>
          </p:cNvSpPr>
          <p:nvPr>
            <p:ph type="title"/>
          </p:nvPr>
        </p:nvSpPr>
        <p:spPr/>
        <p:txBody>
          <a:bodyPr/>
          <a:lstStyle/>
          <a:p>
            <a:r>
              <a:rPr lang="en-VN"/>
              <a:t>Các kết quả với L = 4Mbit</a:t>
            </a:r>
          </a:p>
        </p:txBody>
      </p:sp>
      <p:sp>
        <p:nvSpPr>
          <p:cNvPr id="6" name="Content Placeholder 5">
            <a:extLst>
              <a:ext uri="{FF2B5EF4-FFF2-40B4-BE49-F238E27FC236}">
                <a16:creationId xmlns:a16="http://schemas.microsoft.com/office/drawing/2014/main" id="{2B7C8435-4573-F56A-18E7-AFA739DE1522}"/>
              </a:ext>
            </a:extLst>
          </p:cNvPr>
          <p:cNvSpPr>
            <a:spLocks noGrp="1"/>
          </p:cNvSpPr>
          <p:nvPr>
            <p:ph idx="13"/>
          </p:nvPr>
        </p:nvSpPr>
        <p:spPr/>
        <p:txBody>
          <a:bodyPr/>
          <a:lstStyle/>
          <a:p>
            <a:endParaRPr lang="en-VN"/>
          </a:p>
        </p:txBody>
      </p:sp>
      <p:pic>
        <p:nvPicPr>
          <p:cNvPr id="8" name="Picture 7">
            <a:extLst>
              <a:ext uri="{FF2B5EF4-FFF2-40B4-BE49-F238E27FC236}">
                <a16:creationId xmlns:a16="http://schemas.microsoft.com/office/drawing/2014/main" id="{348B9F00-C49D-D11C-75D1-20A29DDC5FF6}"/>
              </a:ext>
            </a:extLst>
          </p:cNvPr>
          <p:cNvPicPr>
            <a:picLocks noChangeAspect="1"/>
          </p:cNvPicPr>
          <p:nvPr/>
        </p:nvPicPr>
        <p:blipFill>
          <a:blip r:embed="rId2"/>
          <a:stretch>
            <a:fillRect/>
          </a:stretch>
        </p:blipFill>
        <p:spPr>
          <a:xfrm>
            <a:off x="0" y="713359"/>
            <a:ext cx="9041258" cy="5448483"/>
          </a:xfrm>
          <a:prstGeom prst="rect">
            <a:avLst/>
          </a:prstGeom>
        </p:spPr>
      </p:pic>
    </p:spTree>
    <p:extLst>
      <p:ext uri="{BB962C8B-B14F-4D97-AF65-F5344CB8AC3E}">
        <p14:creationId xmlns:p14="http://schemas.microsoft.com/office/powerpoint/2010/main" val="378914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FA74F-F9AB-5CA7-1292-FE50F16ED7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6BBA21-C5FB-EE22-944A-90E4F5B2D5E1}"/>
              </a:ext>
            </a:extLst>
          </p:cNvPr>
          <p:cNvSpPr>
            <a:spLocks noGrp="1"/>
          </p:cNvSpPr>
          <p:nvPr>
            <p:ph type="sldNum" idx="12"/>
          </p:nvPr>
        </p:nvSpPr>
        <p:spPr/>
        <p:txBody>
          <a:bodyPr/>
          <a:lstStyle/>
          <a:p>
            <a:fld id="{9EA0BE3B-158A-4EDF-80DC-E394A0D1600F}" type="slidenum">
              <a:rPr lang="en-VN"/>
              <a:t>22</a:t>
            </a:fld>
            <a:endParaRPr lang="en-VN"/>
          </a:p>
        </p:txBody>
      </p:sp>
      <p:sp>
        <p:nvSpPr>
          <p:cNvPr id="3" name="Title 2">
            <a:extLst>
              <a:ext uri="{FF2B5EF4-FFF2-40B4-BE49-F238E27FC236}">
                <a16:creationId xmlns:a16="http://schemas.microsoft.com/office/drawing/2014/main" id="{1FEBD5F7-57AC-FF00-5AA1-F7B3B58677D2}"/>
              </a:ext>
            </a:extLst>
          </p:cNvPr>
          <p:cNvSpPr>
            <a:spLocks noGrp="1"/>
          </p:cNvSpPr>
          <p:nvPr>
            <p:ph type="title"/>
          </p:nvPr>
        </p:nvSpPr>
        <p:spPr/>
        <p:txBody>
          <a:bodyPr/>
          <a:lstStyle/>
          <a:p>
            <a:r>
              <a:rPr lang="en-VN"/>
              <a:t>Các kết quả với L = 4Mbit</a:t>
            </a:r>
          </a:p>
        </p:txBody>
      </p:sp>
      <p:sp>
        <p:nvSpPr>
          <p:cNvPr id="6" name="Content Placeholder 5">
            <a:extLst>
              <a:ext uri="{FF2B5EF4-FFF2-40B4-BE49-F238E27FC236}">
                <a16:creationId xmlns:a16="http://schemas.microsoft.com/office/drawing/2014/main" id="{4067A071-FD6D-BCC6-A690-BF945A845F4B}"/>
              </a:ext>
            </a:extLst>
          </p:cNvPr>
          <p:cNvSpPr>
            <a:spLocks noGrp="1"/>
          </p:cNvSpPr>
          <p:nvPr>
            <p:ph idx="13"/>
          </p:nvPr>
        </p:nvSpPr>
        <p:spPr/>
        <p:txBody>
          <a:bodyPr/>
          <a:lstStyle/>
          <a:p>
            <a:endParaRPr lang="en-VN"/>
          </a:p>
        </p:txBody>
      </p:sp>
      <p:pic>
        <p:nvPicPr>
          <p:cNvPr id="4" name="Picture 3">
            <a:extLst>
              <a:ext uri="{FF2B5EF4-FFF2-40B4-BE49-F238E27FC236}">
                <a16:creationId xmlns:a16="http://schemas.microsoft.com/office/drawing/2014/main" id="{5F22D71A-BDF5-D667-8958-B4F08C74562F}"/>
              </a:ext>
            </a:extLst>
          </p:cNvPr>
          <p:cNvPicPr>
            <a:picLocks noChangeAspect="1"/>
          </p:cNvPicPr>
          <p:nvPr/>
        </p:nvPicPr>
        <p:blipFill>
          <a:blip r:embed="rId2"/>
          <a:stretch>
            <a:fillRect/>
          </a:stretch>
        </p:blipFill>
        <p:spPr>
          <a:xfrm>
            <a:off x="73918" y="595446"/>
            <a:ext cx="8996163" cy="5421307"/>
          </a:xfrm>
          <a:prstGeom prst="rect">
            <a:avLst/>
          </a:prstGeom>
        </p:spPr>
      </p:pic>
    </p:spTree>
    <p:extLst>
      <p:ext uri="{BB962C8B-B14F-4D97-AF65-F5344CB8AC3E}">
        <p14:creationId xmlns:p14="http://schemas.microsoft.com/office/powerpoint/2010/main" val="1666999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8B843-FE35-A609-F465-8564DDEC37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1114D4-64D2-D9ED-100F-26D3D1DD568E}"/>
              </a:ext>
            </a:extLst>
          </p:cNvPr>
          <p:cNvSpPr>
            <a:spLocks noGrp="1"/>
          </p:cNvSpPr>
          <p:nvPr>
            <p:ph type="sldNum" idx="12"/>
          </p:nvPr>
        </p:nvSpPr>
        <p:spPr/>
        <p:txBody>
          <a:bodyPr/>
          <a:lstStyle/>
          <a:p>
            <a:fld id="{9EA0BE3B-158A-4EDF-80DC-E394A0D1600F}" type="slidenum">
              <a:rPr lang="en-VN"/>
              <a:t>23</a:t>
            </a:fld>
            <a:endParaRPr lang="en-VN"/>
          </a:p>
        </p:txBody>
      </p:sp>
      <p:sp>
        <p:nvSpPr>
          <p:cNvPr id="3" name="Title 2">
            <a:extLst>
              <a:ext uri="{FF2B5EF4-FFF2-40B4-BE49-F238E27FC236}">
                <a16:creationId xmlns:a16="http://schemas.microsoft.com/office/drawing/2014/main" id="{A8DE3646-4AC8-4396-0F32-5ECC7077E28F}"/>
              </a:ext>
            </a:extLst>
          </p:cNvPr>
          <p:cNvSpPr>
            <a:spLocks noGrp="1"/>
          </p:cNvSpPr>
          <p:nvPr>
            <p:ph type="title"/>
          </p:nvPr>
        </p:nvSpPr>
        <p:spPr/>
        <p:txBody>
          <a:bodyPr/>
          <a:lstStyle/>
          <a:p>
            <a:r>
              <a:rPr lang="en-VN"/>
              <a:t>Các kết quả với L = 4Mbit</a:t>
            </a:r>
          </a:p>
        </p:txBody>
      </p:sp>
      <p:pic>
        <p:nvPicPr>
          <p:cNvPr id="7" name="Content Placeholder 6">
            <a:extLst>
              <a:ext uri="{FF2B5EF4-FFF2-40B4-BE49-F238E27FC236}">
                <a16:creationId xmlns:a16="http://schemas.microsoft.com/office/drawing/2014/main" id="{0219929F-29B6-007C-35B1-11AE0AC5C083}"/>
              </a:ext>
            </a:extLst>
          </p:cNvPr>
          <p:cNvPicPr>
            <a:picLocks noGrp="1" noChangeAspect="1"/>
          </p:cNvPicPr>
          <p:nvPr>
            <p:ph idx="13"/>
          </p:nvPr>
        </p:nvPicPr>
        <p:blipFill>
          <a:blip r:embed="rId2"/>
          <a:stretch>
            <a:fillRect/>
          </a:stretch>
        </p:blipFill>
        <p:spPr>
          <a:xfrm>
            <a:off x="234950" y="879681"/>
            <a:ext cx="8674100" cy="5227225"/>
          </a:xfrm>
          <a:prstGeom prst="rect">
            <a:avLst/>
          </a:prstGeom>
        </p:spPr>
      </p:pic>
    </p:spTree>
    <p:extLst>
      <p:ext uri="{BB962C8B-B14F-4D97-AF65-F5344CB8AC3E}">
        <p14:creationId xmlns:p14="http://schemas.microsoft.com/office/powerpoint/2010/main" val="36066247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TotalTime>
  <Words>2409</Words>
  <Application>Microsoft Macintosh PowerPoint</Application>
  <DocSecurity>0</DocSecurity>
  <PresentationFormat>On-screen Show (4:3)</PresentationFormat>
  <Paragraphs>170</Paragraphs>
  <Slides>23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Cambria Math</vt:lpstr>
      <vt:lpstr>Lato</vt:lpstr>
      <vt:lpstr>Wingdings</vt:lpstr>
      <vt:lpstr>Office Theme</vt:lpstr>
      <vt:lpstr>PowerPoint Presentation</vt:lpstr>
      <vt:lpstr>Bối cảnh bài toán EE RF</vt:lpstr>
      <vt:lpstr>Phân tích toán học</vt:lpstr>
      <vt:lpstr>Phân tích toán học</vt:lpstr>
      <vt:lpstr>Phân tích toán học</vt:lpstr>
      <vt:lpstr>Phân tích toán học</vt:lpstr>
      <vt:lpstr>Đồ thị α trước khi thêm L</vt:lpstr>
      <vt:lpstr>Giới hạn dữ liệu L bit/user</vt:lpstr>
      <vt:lpstr>Kết quả theo L: hiệu quả năng lượng</vt:lpstr>
      <vt:lpstr>Mức dữ liệu tối thiểu và trạng thái α</vt:lpstr>
      <vt:lpstr>Các kết quả với L = 1Mbit</vt:lpstr>
      <vt:lpstr>Các kết quả với L = 1Mbit</vt:lpstr>
      <vt:lpstr>Các kết quả với L = 1.5Mbit</vt:lpstr>
      <vt:lpstr>Các kết quả với L = 2Mbit</vt:lpstr>
      <vt:lpstr>Các kết quả với L = 2Mbit</vt:lpstr>
      <vt:lpstr>Các kết quả với L = 3Mbit</vt:lpstr>
      <vt:lpstr>Các kết quả với L = 3Mbit</vt:lpstr>
      <vt:lpstr>Các kết quả với L = 3Mbit</vt:lpstr>
      <vt:lpstr>Các kết quả với L = 3Mbit</vt:lpstr>
      <vt:lpstr>Các kết quả với L = 4Mbit</vt:lpstr>
      <vt:lpstr>Các kết quả với L = 4Mbit</vt:lpstr>
      <vt:lpstr>Các kết quả với L = 4Mbit</vt:lpstr>
      <vt:lpstr>Các kết quả với L = 4Mbit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Hoang Minh</cp:lastModifiedBy>
  <cp:revision>2</cp:revision>
  <dcterms:created xsi:type="dcterms:W3CDTF">2026-10-21T18:42:27Z</dcterms:created>
  <dcterms:modified xsi:type="dcterms:W3CDTF">2026-10-22T10:44:24Z</dcterms:modified>
</cp:coreProperties>
</file>